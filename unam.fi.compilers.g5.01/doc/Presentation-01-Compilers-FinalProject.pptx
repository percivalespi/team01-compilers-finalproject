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13"/>
  </p:notesMasterIdLst>
  <p:sldIdLst>
    <p:sldId id="256" r:id="rId2"/>
    <p:sldId id="267" r:id="rId3"/>
    <p:sldId id="257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8288000" cy="10287000"/>
  <p:notesSz cx="6858000" cy="9144000"/>
  <p:embeddedFontLst>
    <p:embeddedFont>
      <p:font typeface="Calibri" panose="020F0502020204030204" pitchFamily="34" charset="0"/>
      <p:regular r:id="rId14"/>
      <p:bold r:id="rId15"/>
      <p:italic r:id="rId16"/>
      <p:boldItalic r:id="rId17"/>
    </p:embeddedFont>
    <p:embeddedFont>
      <p:font typeface="Clear Sans Bold" panose="020B0803030202020304" pitchFamily="34" charset="0"/>
      <p:regular r:id="rId18"/>
    </p:embeddedFont>
    <p:embeddedFont>
      <p:font typeface="Helios" panose="020B0504020202020204" pitchFamily="34" charset="0"/>
      <p:regular r:id="rId19"/>
    </p:embeddedFont>
    <p:embeddedFont>
      <p:font typeface="Helios Bold" panose="020B0704020202020204" pitchFamily="34" charset="0"/>
      <p:regular r:id="rId20"/>
    </p:embeddedFont>
    <p:embeddedFont>
      <p:font typeface="Helios Italics" panose="020B0503020202090204" pitchFamily="34" charset="0"/>
      <p:regular r:id="rId21"/>
    </p:embeddedFont>
    <p:embeddedFont>
      <p:font typeface="Inter Bold" panose="02000503000000020004" pitchFamily="2" charset="0"/>
      <p:regular r:id="rId22"/>
    </p:embeddedFont>
    <p:embeddedFont>
      <p:font typeface="JetBrains Mono Bold" panose="02010809030102050004" pitchFamily="49" charset="0"/>
      <p:regular r:id="rId23"/>
    </p:embeddedFont>
    <p:embeddedFont>
      <p:font typeface="Open Sans" panose="020B0606030504020204" pitchFamily="34" charset="0"/>
      <p:regular r:id="rId24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52" d="100"/>
          <a:sy n="52" d="100"/>
        </p:scale>
        <p:origin x="850" y="6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openxmlformats.org/officeDocument/2006/relationships/font" Target="fonts/font5.fntdata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font" Target="fonts/font8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4.fntdata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font" Target="fonts/font3.fntdata"/><Relationship Id="rId20" Type="http://schemas.openxmlformats.org/officeDocument/2006/relationships/font" Target="fonts/font7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11.fntdata"/><Relationship Id="rId5" Type="http://schemas.openxmlformats.org/officeDocument/2006/relationships/slide" Target="slides/slide4.xml"/><Relationship Id="rId15" Type="http://schemas.openxmlformats.org/officeDocument/2006/relationships/font" Target="fonts/font2.fntdata"/><Relationship Id="rId23" Type="http://schemas.openxmlformats.org/officeDocument/2006/relationships/font" Target="fonts/font10.fntdata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font" Target="fonts/font6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1.fntdata"/><Relationship Id="rId22" Type="http://schemas.openxmlformats.org/officeDocument/2006/relationships/font" Target="fonts/font9.fntdata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442F01A-7533-4E44-9AF0-173FC65F86D3}" type="datetimeFigureOut">
              <a:rPr lang="en-US" smtClean="0"/>
              <a:t>5/28/26</a:t>
            </a:fld>
            <a:endParaRPr lang="en-US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CCC5558-CB8A-4F6C-9531-FFDE67C25D14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436876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CC5558-CB8A-4F6C-9531-FFDE67C25D14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478609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5/28/26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sv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sv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sv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sv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sv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emini.google.com/u/2/app/1da77ab928e1cacd?hl=es&amp;pageId=none" TargetMode="Externa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6226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747432" y="1028700"/>
            <a:ext cx="14793137" cy="8229600"/>
          </a:xfrm>
          <a:custGeom>
            <a:avLst/>
            <a:gdLst/>
            <a:ahLst/>
            <a:cxnLst/>
            <a:rect l="l" t="t" r="r" b="b"/>
            <a:pathLst>
              <a:path w="14793137" h="8229600">
                <a:moveTo>
                  <a:pt x="0" y="0"/>
                </a:moveTo>
                <a:lnTo>
                  <a:pt x="14793136" y="0"/>
                </a:lnTo>
                <a:lnTo>
                  <a:pt x="14793136" y="8229600"/>
                </a:lnTo>
                <a:lnTo>
                  <a:pt x="0" y="82296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2129" b="-2129"/>
            </a:stretch>
          </a:blipFill>
        </p:spPr>
        <p:txBody>
          <a:bodyPr/>
          <a:lstStyle/>
          <a:p>
            <a:endParaRPr lang="es-MX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5">
            <a:extLst>
              <a:ext uri="{FF2B5EF4-FFF2-40B4-BE49-F238E27FC236}">
                <a16:creationId xmlns:a16="http://schemas.microsoft.com/office/drawing/2014/main" id="{6967A1E1-753A-8165-E3EB-E00649A012A5}"/>
              </a:ext>
            </a:extLst>
          </p:cNvPr>
          <p:cNvGrpSpPr/>
          <p:nvPr/>
        </p:nvGrpSpPr>
        <p:grpSpPr>
          <a:xfrm>
            <a:off x="-79375" y="-666750"/>
            <a:ext cx="18446750" cy="11239500"/>
            <a:chOff x="0" y="-28575"/>
            <a:chExt cx="6812038" cy="522719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6CA5DE8A-3ECF-65B8-9415-D597AB73F568}"/>
                </a:ext>
              </a:extLst>
            </p:cNvPr>
            <p:cNvSpPr/>
            <p:nvPr/>
          </p:nvSpPr>
          <p:spPr>
            <a:xfrm>
              <a:off x="0" y="0"/>
              <a:ext cx="6812038" cy="494144"/>
            </a:xfrm>
            <a:custGeom>
              <a:avLst/>
              <a:gdLst/>
              <a:ahLst/>
              <a:cxnLst/>
              <a:rect l="l" t="t" r="r" b="b"/>
              <a:pathLst>
                <a:path w="6812038" h="494144">
                  <a:moveTo>
                    <a:pt x="0" y="0"/>
                  </a:moveTo>
                  <a:lnTo>
                    <a:pt x="6812038" y="0"/>
                  </a:lnTo>
                  <a:lnTo>
                    <a:pt x="6812038" y="494144"/>
                  </a:lnTo>
                  <a:lnTo>
                    <a:pt x="0" y="494144"/>
                  </a:lnTo>
                  <a:close/>
                </a:path>
              </a:pathLst>
            </a:custGeom>
            <a:solidFill>
              <a:srgbClr val="262262"/>
            </a:solidFill>
          </p:spPr>
          <p:txBody>
            <a:bodyPr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s-MX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FDE595DA-2919-6F48-5BBB-B79669EC3C26}"/>
                </a:ext>
              </a:extLst>
            </p:cNvPr>
            <p:cNvSpPr txBox="1"/>
            <p:nvPr/>
          </p:nvSpPr>
          <p:spPr>
            <a:xfrm>
              <a:off x="0" y="-28575"/>
              <a:ext cx="6812038" cy="522719"/>
            </a:xfrm>
            <a:prstGeom prst="rect">
              <a:avLst/>
            </a:prstGeom>
          </p:spPr>
          <p:txBody>
            <a:bodyPr lIns="48876" tIns="48876" rIns="48876" bIns="48876"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lnSpc>
                  <a:spcPts val="2344"/>
                </a:lnSpc>
              </a:pPr>
              <a:endParaRPr/>
            </a:p>
          </p:txBody>
        </p:sp>
      </p:grpSp>
      <p:sp>
        <p:nvSpPr>
          <p:cNvPr id="13" name="Freeform 6">
            <a:extLst>
              <a:ext uri="{FF2B5EF4-FFF2-40B4-BE49-F238E27FC236}">
                <a16:creationId xmlns:a16="http://schemas.microsoft.com/office/drawing/2014/main" id="{E8DE4E20-A335-1513-18B0-0E1C5CD57E41}"/>
              </a:ext>
            </a:extLst>
          </p:cNvPr>
          <p:cNvSpPr/>
          <p:nvPr/>
        </p:nvSpPr>
        <p:spPr>
          <a:xfrm>
            <a:off x="47625" y="1173571"/>
            <a:ext cx="8810625" cy="8357014"/>
          </a:xfrm>
          <a:custGeom>
            <a:avLst/>
            <a:gdLst/>
            <a:ahLst/>
            <a:cxnLst/>
            <a:rect l="l" t="t" r="r" b="b"/>
            <a:pathLst>
              <a:path w="3406019" h="3831772">
                <a:moveTo>
                  <a:pt x="0" y="0"/>
                </a:moveTo>
                <a:lnTo>
                  <a:pt x="3406019" y="0"/>
                </a:lnTo>
                <a:lnTo>
                  <a:pt x="3406019" y="3831772"/>
                </a:lnTo>
                <a:lnTo>
                  <a:pt x="0" y="3831772"/>
                </a:lnTo>
                <a:close/>
              </a:path>
            </a:pathLst>
          </a:custGeom>
          <a:solidFill>
            <a:srgbClr val="97E6FF"/>
          </a:solidFill>
        </p:spPr>
        <p:txBody>
          <a:bodyPr/>
          <a:lstStyle/>
          <a:p>
            <a:endParaRPr lang="es-MX"/>
          </a:p>
        </p:txBody>
      </p:sp>
      <p:grpSp>
        <p:nvGrpSpPr>
          <p:cNvPr id="17" name="Group 2">
            <a:extLst>
              <a:ext uri="{FF2B5EF4-FFF2-40B4-BE49-F238E27FC236}">
                <a16:creationId xmlns:a16="http://schemas.microsoft.com/office/drawing/2014/main" id="{A8856C17-6D41-357A-87FE-D6C94FD04C39}"/>
              </a:ext>
            </a:extLst>
          </p:cNvPr>
          <p:cNvGrpSpPr/>
          <p:nvPr/>
        </p:nvGrpSpPr>
        <p:grpSpPr>
          <a:xfrm>
            <a:off x="8858250" y="1111251"/>
            <a:ext cx="9128126" cy="8419334"/>
            <a:chOff x="0" y="-28575"/>
            <a:chExt cx="3406019" cy="3860347"/>
          </a:xfrm>
        </p:grpSpPr>
        <p:sp>
          <p:nvSpPr>
            <p:cNvPr id="15" name="Freeform 3">
              <a:extLst>
                <a:ext uri="{FF2B5EF4-FFF2-40B4-BE49-F238E27FC236}">
                  <a16:creationId xmlns:a16="http://schemas.microsoft.com/office/drawing/2014/main" id="{3DBE7C55-633F-5D2D-E9F3-CEFFE34D7CD1}"/>
                </a:ext>
              </a:extLst>
            </p:cNvPr>
            <p:cNvSpPr/>
            <p:nvPr/>
          </p:nvSpPr>
          <p:spPr>
            <a:xfrm>
              <a:off x="0" y="0"/>
              <a:ext cx="3406019" cy="3831772"/>
            </a:xfrm>
            <a:custGeom>
              <a:avLst/>
              <a:gdLst/>
              <a:ahLst/>
              <a:cxnLst/>
              <a:rect l="l" t="t" r="r" b="b"/>
              <a:pathLst>
                <a:path w="3406019" h="3831772">
                  <a:moveTo>
                    <a:pt x="0" y="0"/>
                  </a:moveTo>
                  <a:lnTo>
                    <a:pt x="3406019" y="0"/>
                  </a:lnTo>
                  <a:lnTo>
                    <a:pt x="3406019" y="3831772"/>
                  </a:lnTo>
                  <a:lnTo>
                    <a:pt x="0" y="3831772"/>
                  </a:lnTo>
                  <a:close/>
                </a:path>
              </a:pathLst>
            </a:custGeom>
            <a:solidFill>
              <a:srgbClr val="0094FF"/>
            </a:solidFill>
          </p:spPr>
          <p:txBody>
            <a:bodyPr/>
            <a:lstStyle/>
            <a:p>
              <a:endParaRPr lang="es-MX"/>
            </a:p>
          </p:txBody>
        </p:sp>
        <p:sp>
          <p:nvSpPr>
            <p:cNvPr id="16" name="TextBox 4">
              <a:extLst>
                <a:ext uri="{FF2B5EF4-FFF2-40B4-BE49-F238E27FC236}">
                  <a16:creationId xmlns:a16="http://schemas.microsoft.com/office/drawing/2014/main" id="{6F80B844-0BC0-AE4F-E560-7FC906529BB1}"/>
                </a:ext>
              </a:extLst>
            </p:cNvPr>
            <p:cNvSpPr txBox="1"/>
            <p:nvPr/>
          </p:nvSpPr>
          <p:spPr>
            <a:xfrm>
              <a:off x="0" y="-28575"/>
              <a:ext cx="3406019" cy="3860346"/>
            </a:xfrm>
            <a:prstGeom prst="rect">
              <a:avLst/>
            </a:prstGeom>
          </p:spPr>
          <p:txBody>
            <a:bodyPr lIns="48876" tIns="48876" rIns="48876" bIns="48876" rtlCol="0" anchor="ctr"/>
            <a:lstStyle/>
            <a:p>
              <a:pPr algn="ctr">
                <a:lnSpc>
                  <a:spcPts val="2344"/>
                </a:lnSpc>
              </a:pPr>
              <a:endParaRPr/>
            </a:p>
          </p:txBody>
        </p:sp>
      </p:grpSp>
      <p:pic>
        <p:nvPicPr>
          <p:cNvPr id="11" name="Imagen 10">
            <a:extLst>
              <a:ext uri="{FF2B5EF4-FFF2-40B4-BE49-F238E27FC236}">
                <a16:creationId xmlns:a16="http://schemas.microsoft.com/office/drawing/2014/main" id="{2C0C3412-57F7-2A89-2EA5-5A4CE6E58D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34250" y="3736209"/>
            <a:ext cx="3048000" cy="3048000"/>
          </a:xfrm>
          <a:prstGeom prst="rect">
            <a:avLst/>
          </a:prstGeom>
        </p:spPr>
      </p:pic>
      <p:sp>
        <p:nvSpPr>
          <p:cNvPr id="22" name="TextBox 36">
            <a:extLst>
              <a:ext uri="{FF2B5EF4-FFF2-40B4-BE49-F238E27FC236}">
                <a16:creationId xmlns:a16="http://schemas.microsoft.com/office/drawing/2014/main" id="{1A0DD542-02F5-3F65-D9A0-8E1B3F6A01C3}"/>
              </a:ext>
            </a:extLst>
          </p:cNvPr>
          <p:cNvSpPr txBox="1"/>
          <p:nvPr/>
        </p:nvSpPr>
        <p:spPr>
          <a:xfrm>
            <a:off x="944562" y="43879"/>
            <a:ext cx="16398876" cy="1025922"/>
          </a:xfrm>
          <a:prstGeom prst="rect">
            <a:avLst/>
          </a:prstGeom>
          <a:solidFill>
            <a:schemeClr val="accent5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000"/>
              </a:lnSpc>
            </a:pPr>
            <a:r>
              <a:rPr lang="en-US" sz="8000" b="1" spc="416" dirty="0">
                <a:solidFill>
                  <a:schemeClr val="bg1"/>
                </a:solidFill>
                <a:latin typeface="Inter Bold"/>
                <a:ea typeface="Inter Bold"/>
                <a:cs typeface="Inter Bold"/>
                <a:sym typeface="Inter Bold"/>
              </a:rPr>
              <a:t>The past</a:t>
            </a:r>
            <a:r>
              <a:rPr lang="es-MX" sz="8000" b="1" spc="416" dirty="0">
                <a:solidFill>
                  <a:schemeClr val="bg1"/>
                </a:solidFill>
                <a:latin typeface="Inter Bold"/>
                <a:ea typeface="Inter Bold"/>
                <a:cs typeface="Inter Bold"/>
                <a:sym typeface="Inter Bold"/>
              </a:rPr>
              <a:t> and </a:t>
            </a:r>
            <a:r>
              <a:rPr lang="es-MX" sz="8000" b="1" spc="416" dirty="0" err="1">
                <a:solidFill>
                  <a:schemeClr val="bg1"/>
                </a:solidFill>
                <a:latin typeface="Inter Bold"/>
                <a:ea typeface="Inter Bold"/>
                <a:cs typeface="Inter Bold"/>
                <a:sym typeface="Inter Bold"/>
              </a:rPr>
              <a:t>present</a:t>
            </a:r>
            <a:r>
              <a:rPr lang="es-MX" sz="8000" b="1" spc="416" dirty="0">
                <a:solidFill>
                  <a:schemeClr val="bg1"/>
                </a:solidFill>
                <a:latin typeface="Inter Bold"/>
                <a:ea typeface="Inter Bold"/>
                <a:cs typeface="Inter Bold"/>
                <a:sym typeface="Inter Bold"/>
              </a:rPr>
              <a:t>.</a:t>
            </a:r>
            <a:endParaRPr lang="en-US" sz="8000" b="1" spc="416" dirty="0">
              <a:solidFill>
                <a:schemeClr val="bg1"/>
              </a:solidFill>
              <a:latin typeface="Inter Bold"/>
              <a:ea typeface="Inter Bold"/>
              <a:cs typeface="Inter Bold"/>
              <a:sym typeface="Inter Bold"/>
            </a:endParaRPr>
          </a:p>
        </p:txBody>
      </p:sp>
      <p:sp>
        <p:nvSpPr>
          <p:cNvPr id="25" name="TextBox 15">
            <a:extLst>
              <a:ext uri="{FF2B5EF4-FFF2-40B4-BE49-F238E27FC236}">
                <a16:creationId xmlns:a16="http://schemas.microsoft.com/office/drawing/2014/main" id="{46834BF3-6519-E7CB-7C48-4BD2D429D30B}"/>
              </a:ext>
            </a:extLst>
          </p:cNvPr>
          <p:cNvSpPr txBox="1"/>
          <p:nvPr/>
        </p:nvSpPr>
        <p:spPr>
          <a:xfrm>
            <a:off x="9839593" y="1316094"/>
            <a:ext cx="7165440" cy="130824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indent="0" algn="ctr">
              <a:lnSpc>
                <a:spcPts val="11409"/>
              </a:lnSpc>
              <a:spcBef>
                <a:spcPct val="0"/>
              </a:spcBef>
            </a:pPr>
            <a:r>
              <a:rPr lang="es-MX" sz="6999" b="1" u="none" strike="noStrike" dirty="0" err="1">
                <a:solidFill>
                  <a:srgbClr val="9FE4FF"/>
                </a:solidFill>
                <a:latin typeface="Helios Bold"/>
                <a:ea typeface="Helios Bold"/>
                <a:cs typeface="Helios Bold"/>
                <a:sym typeface="Helios Bold"/>
              </a:rPr>
              <a:t>C-Reload</a:t>
            </a:r>
            <a:endParaRPr lang="en-US" sz="6999" b="1" u="none" strike="noStrike" dirty="0">
              <a:solidFill>
                <a:srgbClr val="9FE4FF"/>
              </a:solidFill>
              <a:latin typeface="Helios Bold"/>
              <a:ea typeface="Helios Bold"/>
              <a:cs typeface="Helios Bold"/>
              <a:sym typeface="Helios Bold"/>
            </a:endParaRPr>
          </a:p>
        </p:txBody>
      </p:sp>
      <p:sp>
        <p:nvSpPr>
          <p:cNvPr id="27" name="TextBox 14">
            <a:extLst>
              <a:ext uri="{FF2B5EF4-FFF2-40B4-BE49-F238E27FC236}">
                <a16:creationId xmlns:a16="http://schemas.microsoft.com/office/drawing/2014/main" id="{3E98ECEC-F205-A32C-841C-1DEF12FB707F}"/>
              </a:ext>
            </a:extLst>
          </p:cNvPr>
          <p:cNvSpPr txBox="1"/>
          <p:nvPr/>
        </p:nvSpPr>
        <p:spPr>
          <a:xfrm>
            <a:off x="1870164" y="1477637"/>
            <a:ext cx="4532684" cy="130824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1409"/>
              </a:lnSpc>
            </a:pPr>
            <a:r>
              <a:rPr lang="es-MX" sz="6999" b="1" dirty="0" err="1">
                <a:solidFill>
                  <a:srgbClr val="4263EB"/>
                </a:solidFill>
                <a:latin typeface="Helios Bold"/>
                <a:ea typeface="Helios Bold"/>
                <a:cs typeface="Helios Bold"/>
                <a:sym typeface="Helios Bold"/>
              </a:rPr>
              <a:t>Others</a:t>
            </a:r>
            <a:endParaRPr lang="en-US" sz="6999" b="1" dirty="0">
              <a:solidFill>
                <a:srgbClr val="4263EB"/>
              </a:solidFill>
              <a:latin typeface="Helios Bold"/>
              <a:ea typeface="Helios Bold"/>
              <a:cs typeface="Helios Bold"/>
              <a:sym typeface="Helios Bold"/>
            </a:endParaRPr>
          </a:p>
        </p:txBody>
      </p:sp>
      <p:sp>
        <p:nvSpPr>
          <p:cNvPr id="30" name="TextBox 12">
            <a:extLst>
              <a:ext uri="{FF2B5EF4-FFF2-40B4-BE49-F238E27FC236}">
                <a16:creationId xmlns:a16="http://schemas.microsoft.com/office/drawing/2014/main" id="{0072DE59-7D95-A35B-74F9-4B0B9CF1C723}"/>
              </a:ext>
            </a:extLst>
          </p:cNvPr>
          <p:cNvSpPr txBox="1"/>
          <p:nvPr/>
        </p:nvSpPr>
        <p:spPr>
          <a:xfrm>
            <a:off x="1599609" y="3736209"/>
            <a:ext cx="4972641" cy="405508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561341" lvl="1" indent="-280670" algn="just">
              <a:lnSpc>
                <a:spcPts val="5382"/>
              </a:lnSpc>
              <a:buFont typeface="Arial"/>
              <a:buChar char="•"/>
            </a:pPr>
            <a:r>
              <a:rPr lang="en-US" sz="2600" u="none" strike="noStrike" dirty="0">
                <a:solidFill>
                  <a:srgbClr val="000000"/>
                </a:solidFill>
                <a:latin typeface="Helios"/>
                <a:ea typeface="Helios"/>
                <a:cs typeface="Helios"/>
                <a:sym typeface="Helios"/>
              </a:rPr>
              <a:t>Integration of virtual machinery.</a:t>
            </a:r>
          </a:p>
          <a:p>
            <a:pPr marL="561341" lvl="1" indent="-280670" algn="just">
              <a:lnSpc>
                <a:spcPts val="5382"/>
              </a:lnSpc>
              <a:buFont typeface="Arial"/>
              <a:buChar char="•"/>
            </a:pPr>
            <a:r>
              <a:rPr lang="en-US" sz="2600" u="none" strike="noStrike" dirty="0">
                <a:solidFill>
                  <a:srgbClr val="000000"/>
                </a:solidFill>
                <a:latin typeface="Helios"/>
                <a:ea typeface="Helios"/>
                <a:cs typeface="Helios"/>
                <a:sym typeface="Helios"/>
              </a:rPr>
              <a:t>User interface without personality.</a:t>
            </a:r>
          </a:p>
          <a:p>
            <a:pPr marL="561341" lvl="1" indent="-280670" algn="just">
              <a:lnSpc>
                <a:spcPts val="5382"/>
              </a:lnSpc>
              <a:buFont typeface="Arial"/>
              <a:buChar char="•"/>
            </a:pPr>
            <a:r>
              <a:rPr lang="en-US" sz="2600" u="none" strike="noStrike" dirty="0">
                <a:solidFill>
                  <a:srgbClr val="000000"/>
                </a:solidFill>
                <a:latin typeface="Helios"/>
                <a:ea typeface="Helios"/>
                <a:cs typeface="Helios"/>
                <a:sym typeface="Helios"/>
              </a:rPr>
              <a:t>Total ecosystem closure.</a:t>
            </a:r>
            <a:endParaRPr lang="es-MX" sz="2600" u="none" strike="noStrike" dirty="0">
              <a:solidFill>
                <a:srgbClr val="000000"/>
              </a:solidFill>
              <a:latin typeface="Helios"/>
              <a:ea typeface="Helios"/>
              <a:cs typeface="Helios"/>
              <a:sym typeface="Helios"/>
            </a:endParaRPr>
          </a:p>
          <a:p>
            <a:pPr marL="561341" lvl="1" indent="-280670" algn="just">
              <a:lnSpc>
                <a:spcPts val="5382"/>
              </a:lnSpc>
              <a:buFont typeface="Arial"/>
              <a:buChar char="•"/>
            </a:pPr>
            <a:r>
              <a:rPr lang="es-MX" sz="2600" dirty="0" err="1">
                <a:solidFill>
                  <a:srgbClr val="000000"/>
                </a:solidFill>
                <a:latin typeface="Helios"/>
                <a:ea typeface="Helios"/>
                <a:cs typeface="Helios"/>
                <a:sym typeface="Helios"/>
              </a:rPr>
              <a:t>Compiler</a:t>
            </a:r>
            <a:r>
              <a:rPr lang="es-MX" sz="2600" dirty="0">
                <a:solidFill>
                  <a:srgbClr val="000000"/>
                </a:solidFill>
                <a:latin typeface="Helios"/>
                <a:ea typeface="Helios"/>
                <a:cs typeface="Helios"/>
                <a:sym typeface="Helios"/>
              </a:rPr>
              <a:t>.</a:t>
            </a:r>
            <a:endParaRPr lang="en-US" sz="2600" u="none" strike="noStrike" dirty="0">
              <a:solidFill>
                <a:srgbClr val="000000"/>
              </a:solidFill>
              <a:latin typeface="Helios"/>
              <a:ea typeface="Helios"/>
              <a:cs typeface="Helios"/>
              <a:sym typeface="Helios"/>
            </a:endParaRPr>
          </a:p>
        </p:txBody>
      </p:sp>
      <p:sp>
        <p:nvSpPr>
          <p:cNvPr id="33" name="TextBox 13">
            <a:extLst>
              <a:ext uri="{FF2B5EF4-FFF2-40B4-BE49-F238E27FC236}">
                <a16:creationId xmlns:a16="http://schemas.microsoft.com/office/drawing/2014/main" id="{0753DEB4-B6ED-5CF6-03C6-88DCE883B160}"/>
              </a:ext>
            </a:extLst>
          </p:cNvPr>
          <p:cNvSpPr txBox="1"/>
          <p:nvPr/>
        </p:nvSpPr>
        <p:spPr>
          <a:xfrm>
            <a:off x="10378484" y="3996199"/>
            <a:ext cx="5759984" cy="29971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561341" lvl="1" indent="-280670" algn="just">
              <a:lnSpc>
                <a:spcPts val="4758"/>
              </a:lnSpc>
              <a:buFont typeface="Arial"/>
              <a:buChar char="•"/>
            </a:pPr>
            <a:r>
              <a:rPr lang="en-US" sz="2600" dirty="0">
                <a:solidFill>
                  <a:srgbClr val="FFFFFF"/>
                </a:solidFill>
                <a:latin typeface="Helios"/>
                <a:ea typeface="Helios"/>
                <a:cs typeface="Helios"/>
                <a:sym typeface="Helios"/>
              </a:rPr>
              <a:t>Full and customizable front end</a:t>
            </a:r>
            <a:r>
              <a:rPr lang="es-MX" sz="2600" dirty="0">
                <a:solidFill>
                  <a:srgbClr val="FFFFFF"/>
                </a:solidFill>
                <a:latin typeface="Helios"/>
                <a:ea typeface="Helios"/>
                <a:cs typeface="Helios"/>
                <a:sym typeface="Helios"/>
              </a:rPr>
              <a:t>.</a:t>
            </a:r>
            <a:endParaRPr lang="en-US" sz="2600" dirty="0">
              <a:solidFill>
                <a:srgbClr val="FFFFFF"/>
              </a:solidFill>
              <a:latin typeface="Helios"/>
              <a:ea typeface="Helios"/>
              <a:cs typeface="Helios"/>
              <a:sym typeface="Helios"/>
            </a:endParaRPr>
          </a:p>
          <a:p>
            <a:pPr marL="561341" lvl="1" indent="-280670" algn="just">
              <a:lnSpc>
                <a:spcPts val="4758"/>
              </a:lnSpc>
              <a:buFont typeface="Arial"/>
              <a:buChar char="•"/>
            </a:pPr>
            <a:r>
              <a:rPr lang="en-US" sz="2600" dirty="0">
                <a:solidFill>
                  <a:srgbClr val="FFFFFF"/>
                </a:solidFill>
                <a:latin typeface="Helios"/>
                <a:ea typeface="Helios"/>
                <a:cs typeface="Helios"/>
                <a:sym typeface="Helios"/>
              </a:rPr>
              <a:t>Full compatibility with any device</a:t>
            </a:r>
            <a:r>
              <a:rPr lang="es-MX" sz="2600" dirty="0">
                <a:solidFill>
                  <a:srgbClr val="FFFFFF"/>
                </a:solidFill>
                <a:latin typeface="Helios"/>
                <a:ea typeface="Helios"/>
                <a:cs typeface="Helios"/>
                <a:sym typeface="Helios"/>
              </a:rPr>
              <a:t>.</a:t>
            </a:r>
            <a:endParaRPr lang="en-US" sz="2600" dirty="0">
              <a:solidFill>
                <a:srgbClr val="FFFFFF"/>
              </a:solidFill>
              <a:latin typeface="Helios"/>
              <a:ea typeface="Helios"/>
              <a:cs typeface="Helios"/>
              <a:sym typeface="Helios"/>
            </a:endParaRPr>
          </a:p>
          <a:p>
            <a:pPr marL="561341" lvl="1" indent="-280670" algn="just">
              <a:lnSpc>
                <a:spcPts val="4758"/>
              </a:lnSpc>
              <a:buFont typeface="Arial"/>
              <a:buChar char="•"/>
            </a:pPr>
            <a:r>
              <a:rPr lang="en-US" sz="2600" dirty="0">
                <a:solidFill>
                  <a:srgbClr val="FFFFFF"/>
                </a:solidFill>
                <a:latin typeface="Helios"/>
                <a:ea typeface="Helios"/>
                <a:cs typeface="Helios"/>
                <a:sym typeface="Helios"/>
              </a:rPr>
              <a:t>Sampling of precise errors, by means of syntactic analyzer and lexical</a:t>
            </a:r>
          </a:p>
        </p:txBody>
      </p:sp>
    </p:spTree>
    <p:extLst>
      <p:ext uri="{BB962C8B-B14F-4D97-AF65-F5344CB8AC3E}">
        <p14:creationId xmlns:p14="http://schemas.microsoft.com/office/powerpoint/2010/main" val="83905539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B8EB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8594059"/>
            <a:ext cx="16684593" cy="1692941"/>
            <a:chOff x="0" y="0"/>
            <a:chExt cx="6214790" cy="630598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6214790" cy="630598"/>
            </a:xfrm>
            <a:custGeom>
              <a:avLst/>
              <a:gdLst/>
              <a:ahLst/>
              <a:cxnLst/>
              <a:rect l="l" t="t" r="r" b="b"/>
              <a:pathLst>
                <a:path w="6214790" h="630598">
                  <a:moveTo>
                    <a:pt x="0" y="0"/>
                  </a:moveTo>
                  <a:lnTo>
                    <a:pt x="6214790" y="0"/>
                  </a:lnTo>
                  <a:lnTo>
                    <a:pt x="6214790" y="630598"/>
                  </a:lnTo>
                  <a:lnTo>
                    <a:pt x="0" y="630598"/>
                  </a:lnTo>
                  <a:close/>
                </a:path>
              </a:pathLst>
            </a:custGeom>
            <a:solidFill>
              <a:srgbClr val="262262"/>
            </a:solidFill>
          </p:spPr>
          <p:txBody>
            <a:bodyPr/>
            <a:lstStyle/>
            <a:p>
              <a:endParaRPr lang="es-MX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28575"/>
              <a:ext cx="6214790" cy="659173"/>
            </a:xfrm>
            <a:prstGeom prst="rect">
              <a:avLst/>
            </a:prstGeom>
          </p:spPr>
          <p:txBody>
            <a:bodyPr lIns="48876" tIns="48876" rIns="48876" bIns="48876" rtlCol="0" anchor="ctr"/>
            <a:lstStyle/>
            <a:p>
              <a:pPr algn="ctr">
                <a:lnSpc>
                  <a:spcPts val="2344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0" y="0"/>
            <a:ext cx="18288000" cy="1326609"/>
            <a:chOff x="0" y="0"/>
            <a:chExt cx="6812038" cy="494144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6812038" cy="494144"/>
            </a:xfrm>
            <a:custGeom>
              <a:avLst/>
              <a:gdLst/>
              <a:ahLst/>
              <a:cxnLst/>
              <a:rect l="l" t="t" r="r" b="b"/>
              <a:pathLst>
                <a:path w="6812038" h="494144">
                  <a:moveTo>
                    <a:pt x="0" y="0"/>
                  </a:moveTo>
                  <a:lnTo>
                    <a:pt x="6812038" y="0"/>
                  </a:lnTo>
                  <a:lnTo>
                    <a:pt x="6812038" y="494144"/>
                  </a:lnTo>
                  <a:lnTo>
                    <a:pt x="0" y="494144"/>
                  </a:lnTo>
                  <a:close/>
                </a:path>
              </a:pathLst>
            </a:custGeom>
            <a:solidFill>
              <a:srgbClr val="262262"/>
            </a:solidFill>
          </p:spPr>
          <p:txBody>
            <a:bodyPr/>
            <a:lstStyle/>
            <a:p>
              <a:endParaRPr lang="es-MX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28575"/>
              <a:ext cx="6812038" cy="522719"/>
            </a:xfrm>
            <a:prstGeom prst="rect">
              <a:avLst/>
            </a:prstGeom>
          </p:spPr>
          <p:txBody>
            <a:bodyPr lIns="48876" tIns="48876" rIns="48876" bIns="48876" rtlCol="0" anchor="ctr"/>
            <a:lstStyle/>
            <a:p>
              <a:pPr algn="ctr">
                <a:lnSpc>
                  <a:spcPts val="2344"/>
                </a:lnSpc>
              </a:pPr>
              <a:endParaRPr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1140694" y="1421734"/>
            <a:ext cx="16006612" cy="255524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0870"/>
              </a:lnSpc>
              <a:spcBef>
                <a:spcPct val="0"/>
              </a:spcBef>
            </a:pPr>
            <a:r>
              <a:rPr lang="en-US" sz="14907" b="1" dirty="0">
                <a:ln w="12700" cmpd="sng">
                  <a:solidFill>
                    <a:schemeClr val="accent4"/>
                  </a:solidFill>
                  <a:prstDash val="solid"/>
                </a:ln>
                <a:gradFill>
                  <a:gsLst>
                    <a:gs pos="0">
                      <a:schemeClr val="accent4"/>
                    </a:gs>
                    <a:gs pos="4000">
                      <a:schemeClr val="accent4">
                        <a:lumMod val="60000"/>
                        <a:lumOff val="40000"/>
                      </a:schemeClr>
                    </a:gs>
                    <a:gs pos="87000">
                      <a:schemeClr val="accent4">
                        <a:lumMod val="20000"/>
                        <a:lumOff val="80000"/>
                      </a:schemeClr>
                    </a:gs>
                  </a:gsLst>
                  <a:lin ang="5400000"/>
                </a:gradFill>
                <a:latin typeface="Clear Sans Bold"/>
                <a:ea typeface="Clear Sans Bold"/>
                <a:cs typeface="Clear Sans Bold"/>
                <a:sym typeface="Clear Sans Bold"/>
              </a:rPr>
              <a:t>C-OVERCHARGED</a:t>
            </a:r>
            <a:endParaRPr lang="en-US" sz="14907" b="1" dirty="0">
              <a:solidFill>
                <a:srgbClr val="4263EB"/>
              </a:solidFill>
              <a:latin typeface="Clear Sans Bold"/>
              <a:ea typeface="Clear Sans Bold"/>
              <a:cs typeface="Clear Sans Bold"/>
              <a:sym typeface="Clear Sans Bold"/>
            </a:endParaRPr>
          </a:p>
        </p:txBody>
      </p:sp>
      <p:sp>
        <p:nvSpPr>
          <p:cNvPr id="9" name="Freeform 9"/>
          <p:cNvSpPr/>
          <p:nvPr/>
        </p:nvSpPr>
        <p:spPr>
          <a:xfrm rot="-10800000" flipV="1">
            <a:off x="13003179" y="2386703"/>
            <a:ext cx="6444000" cy="8204166"/>
          </a:xfrm>
          <a:custGeom>
            <a:avLst/>
            <a:gdLst/>
            <a:ahLst/>
            <a:cxnLst/>
            <a:rect l="l" t="t" r="r" b="b"/>
            <a:pathLst>
              <a:path w="6444000" h="8204166">
                <a:moveTo>
                  <a:pt x="0" y="8204167"/>
                </a:moveTo>
                <a:lnTo>
                  <a:pt x="6444000" y="8204167"/>
                </a:lnTo>
                <a:lnTo>
                  <a:pt x="6444000" y="0"/>
                </a:lnTo>
                <a:lnTo>
                  <a:pt x="0" y="0"/>
                </a:lnTo>
                <a:lnTo>
                  <a:pt x="0" y="8204167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MX"/>
          </a:p>
        </p:txBody>
      </p:sp>
      <p:sp>
        <p:nvSpPr>
          <p:cNvPr id="10" name="Freeform 10"/>
          <p:cNvSpPr/>
          <p:nvPr/>
        </p:nvSpPr>
        <p:spPr>
          <a:xfrm>
            <a:off x="7461250" y="8517345"/>
            <a:ext cx="2349500" cy="1769655"/>
          </a:xfrm>
          <a:custGeom>
            <a:avLst/>
            <a:gdLst/>
            <a:ahLst/>
            <a:cxnLst/>
            <a:rect l="l" t="t" r="r" b="b"/>
            <a:pathLst>
              <a:path w="3128888" h="2719472">
                <a:moveTo>
                  <a:pt x="0" y="0"/>
                </a:moveTo>
                <a:lnTo>
                  <a:pt x="3128888" y="0"/>
                </a:lnTo>
                <a:lnTo>
                  <a:pt x="3128888" y="2719472"/>
                </a:lnTo>
                <a:lnTo>
                  <a:pt x="0" y="271947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47596" r="-50728" b="-46647"/>
            </a:stretch>
          </a:blipFill>
        </p:spPr>
        <p:txBody>
          <a:bodyPr/>
          <a:lstStyle/>
          <a:p>
            <a:endParaRPr lang="es-MX"/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8385AB13-FFC8-3098-30D8-0F5756E77A0F}"/>
              </a:ext>
            </a:extLst>
          </p:cNvPr>
          <p:cNvSpPr txBox="1"/>
          <p:nvPr/>
        </p:nvSpPr>
        <p:spPr>
          <a:xfrm>
            <a:off x="632694" y="-51200"/>
            <a:ext cx="16006612" cy="21979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ts val="20870"/>
              </a:lnSpc>
              <a:spcBef>
                <a:spcPct val="0"/>
              </a:spcBef>
            </a:pPr>
            <a:r>
              <a:rPr lang="en-US" sz="6000" b="1" dirty="0">
                <a:solidFill>
                  <a:schemeClr val="tx2">
                    <a:lumMod val="50000"/>
                  </a:schemeClr>
                </a:solidFill>
                <a:latin typeface="Clear Sans Bold"/>
                <a:ea typeface="Clear Sans Bold"/>
                <a:cs typeface="Clear Sans Bold"/>
                <a:sym typeface="Clear Sans Bold"/>
              </a:rPr>
              <a:t>WE PRESENT ITS EVOLUTION</a:t>
            </a:r>
          </a:p>
        </p:txBody>
      </p:sp>
      <p:sp>
        <p:nvSpPr>
          <p:cNvPr id="16" name="TextBox 18">
            <a:extLst>
              <a:ext uri="{FF2B5EF4-FFF2-40B4-BE49-F238E27FC236}">
                <a16:creationId xmlns:a16="http://schemas.microsoft.com/office/drawing/2014/main" id="{B10B62A5-55AD-0596-DA2D-643371F92B1F}"/>
              </a:ext>
            </a:extLst>
          </p:cNvPr>
          <p:cNvSpPr txBox="1"/>
          <p:nvPr/>
        </p:nvSpPr>
        <p:spPr>
          <a:xfrm>
            <a:off x="1807444" y="4216977"/>
            <a:ext cx="6146997" cy="20473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>
              <a:lnSpc>
                <a:spcPts val="4074"/>
              </a:lnSpc>
              <a:buFont typeface="Wingdings" pitchFamily="2" charset="2"/>
              <a:buChar char="Ø"/>
            </a:pPr>
            <a:r>
              <a:rPr lang="es-MX" sz="2499" b="1" dirty="0">
                <a:latin typeface="Helios Bold"/>
                <a:ea typeface="Helios Bold"/>
                <a:cs typeface="Helios Bold"/>
                <a:sym typeface="Helios Bold"/>
              </a:rPr>
              <a:t>A</a:t>
            </a:r>
            <a:r>
              <a:rPr lang="en-US" sz="2499" b="1" dirty="0">
                <a:latin typeface="Helios Bold"/>
                <a:ea typeface="Helios Bold"/>
                <a:cs typeface="Helios Bold"/>
                <a:sym typeface="Helios Bold"/>
              </a:rPr>
              <a:t>ST Optimization</a:t>
            </a:r>
            <a:endParaRPr lang="es-MX" sz="2499" b="1" dirty="0">
              <a:latin typeface="Helios Bold"/>
              <a:ea typeface="Helios Bold"/>
              <a:cs typeface="Helios Bold"/>
              <a:sym typeface="Helios Bold"/>
            </a:endParaRPr>
          </a:p>
          <a:p>
            <a:pPr marL="342900" indent="-342900">
              <a:lnSpc>
                <a:spcPts val="4074"/>
              </a:lnSpc>
              <a:buFont typeface="Wingdings" pitchFamily="2" charset="2"/>
              <a:buChar char="Ø"/>
            </a:pPr>
            <a:endParaRPr lang="es-MX" sz="2499" b="1" dirty="0">
              <a:latin typeface="Helios Bold"/>
              <a:ea typeface="Helios Bold"/>
              <a:cs typeface="Helios Bold"/>
              <a:sym typeface="Helios Bold"/>
            </a:endParaRPr>
          </a:p>
          <a:p>
            <a:pPr marL="342900" indent="-342900">
              <a:lnSpc>
                <a:spcPts val="4074"/>
              </a:lnSpc>
              <a:buFont typeface="Wingdings" pitchFamily="2" charset="2"/>
              <a:buChar char="Ø"/>
            </a:pPr>
            <a:endParaRPr lang="es-MX" sz="2499" b="1" dirty="0">
              <a:latin typeface="Helios Bold"/>
              <a:ea typeface="Helios Bold"/>
              <a:cs typeface="Helios Bold"/>
              <a:sym typeface="Helios Bold"/>
            </a:endParaRPr>
          </a:p>
          <a:p>
            <a:pPr marL="342900" indent="-342900">
              <a:lnSpc>
                <a:spcPts val="4074"/>
              </a:lnSpc>
              <a:buFont typeface="Wingdings" pitchFamily="2" charset="2"/>
              <a:buChar char="Ø"/>
            </a:pPr>
            <a:r>
              <a:rPr lang="en-US" sz="2499" b="1" dirty="0">
                <a:latin typeface="Helios Bold"/>
                <a:ea typeface="Helios Bold"/>
                <a:cs typeface="Helios Bold"/>
                <a:sym typeface="Helios Bold"/>
              </a:rPr>
              <a:t>Native Code x86_64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9ACC642-E7D0-7C9B-CE2C-A6887718070A}"/>
              </a:ext>
            </a:extLst>
          </p:cNvPr>
          <p:cNvSpPr txBox="1"/>
          <p:nvPr/>
        </p:nvSpPr>
        <p:spPr>
          <a:xfrm>
            <a:off x="11146870" y="4216977"/>
            <a:ext cx="6146997" cy="20473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>
              <a:lnSpc>
                <a:spcPts val="4074"/>
              </a:lnSpc>
              <a:buFont typeface="Wingdings" pitchFamily="2" charset="2"/>
              <a:buChar char="Ø"/>
            </a:pPr>
            <a:r>
              <a:rPr lang="es-MX" sz="2499" b="1" dirty="0" err="1">
                <a:latin typeface="Helios Bold"/>
                <a:ea typeface="Helios Bold"/>
                <a:cs typeface="Helios Bold"/>
                <a:sym typeface="Helios Bold"/>
              </a:rPr>
              <a:t>Intermediate</a:t>
            </a:r>
            <a:r>
              <a:rPr lang="es-MX" sz="2499" b="1" dirty="0">
                <a:latin typeface="Helios Bold"/>
                <a:ea typeface="Helios Bold"/>
                <a:cs typeface="Helios Bold"/>
                <a:sym typeface="Helios Bold"/>
              </a:rPr>
              <a:t> Code (TAC)</a:t>
            </a:r>
          </a:p>
          <a:p>
            <a:pPr marL="342900" indent="-342900">
              <a:lnSpc>
                <a:spcPts val="4074"/>
              </a:lnSpc>
              <a:buFont typeface="Wingdings" pitchFamily="2" charset="2"/>
              <a:buChar char="Ø"/>
            </a:pPr>
            <a:endParaRPr lang="es-MX" sz="2499" b="1" dirty="0">
              <a:latin typeface="Helios Bold"/>
              <a:ea typeface="Helios Bold"/>
              <a:cs typeface="Helios Bold"/>
              <a:sym typeface="Helios Bold"/>
            </a:endParaRPr>
          </a:p>
          <a:p>
            <a:pPr marL="342900" indent="-342900">
              <a:lnSpc>
                <a:spcPts val="4074"/>
              </a:lnSpc>
              <a:buFont typeface="Wingdings" pitchFamily="2" charset="2"/>
              <a:buChar char="Ø"/>
            </a:pPr>
            <a:endParaRPr lang="es-MX" sz="2499" b="1" dirty="0">
              <a:latin typeface="Helios Bold"/>
              <a:ea typeface="Helios Bold"/>
              <a:cs typeface="Helios Bold"/>
              <a:sym typeface="Helios Bold"/>
            </a:endParaRPr>
          </a:p>
          <a:p>
            <a:pPr marL="342900" indent="-342900">
              <a:lnSpc>
                <a:spcPts val="4074"/>
              </a:lnSpc>
              <a:buFont typeface="Wingdings" pitchFamily="2" charset="2"/>
              <a:buChar char="Ø"/>
            </a:pPr>
            <a:r>
              <a:rPr lang="es-MX" sz="2499" b="1" dirty="0">
                <a:latin typeface="Helios Bold"/>
                <a:ea typeface="Helios Bold"/>
                <a:cs typeface="Helios Bold"/>
                <a:sym typeface="Helios Bold"/>
              </a:rPr>
              <a:t>Super fast Linux </a:t>
            </a:r>
            <a:r>
              <a:rPr lang="es-MX" sz="2499" b="1" dirty="0" err="1">
                <a:latin typeface="Helios Bold"/>
                <a:ea typeface="Helios Bold"/>
                <a:cs typeface="Helios Bold"/>
                <a:sym typeface="Helios Bold"/>
              </a:rPr>
              <a:t>linker</a:t>
            </a:r>
            <a:r>
              <a:rPr lang="es-MX" sz="2499" b="1" dirty="0">
                <a:latin typeface="Helios Bold"/>
                <a:ea typeface="Helios Bold"/>
                <a:cs typeface="Helios Bold"/>
                <a:sym typeface="Helios Bold"/>
              </a:rPr>
              <a:t>.</a:t>
            </a:r>
            <a:endParaRPr lang="en-US" sz="2499" b="1" dirty="0">
              <a:latin typeface="Helios Bold"/>
              <a:ea typeface="Helios Bold"/>
              <a:cs typeface="Helios Bold"/>
              <a:sym typeface="Helios Bold"/>
            </a:endParaRPr>
          </a:p>
        </p:txBody>
      </p:sp>
      <p:sp>
        <p:nvSpPr>
          <p:cNvPr id="14" name="TextBox 18">
            <a:extLst>
              <a:ext uri="{FF2B5EF4-FFF2-40B4-BE49-F238E27FC236}">
                <a16:creationId xmlns:a16="http://schemas.microsoft.com/office/drawing/2014/main" id="{BDDF7B69-BAE6-770D-709C-47A6306113CB}"/>
              </a:ext>
            </a:extLst>
          </p:cNvPr>
          <p:cNvSpPr txBox="1"/>
          <p:nvPr/>
        </p:nvSpPr>
        <p:spPr>
          <a:xfrm>
            <a:off x="5091063" y="7034132"/>
            <a:ext cx="8105874" cy="152157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>
              <a:lnSpc>
                <a:spcPts val="4074"/>
              </a:lnSpc>
              <a:buFont typeface="Wingdings" pitchFamily="2" charset="2"/>
              <a:buChar char="Ø"/>
            </a:pPr>
            <a:r>
              <a:rPr lang="es-MX" sz="2499" b="1" dirty="0">
                <a:latin typeface="Helios Bold"/>
                <a:ea typeface="Helios Bold"/>
                <a:cs typeface="Helios Bold"/>
                <a:sym typeface="Helios Bold"/>
              </a:rPr>
              <a:t>Full </a:t>
            </a:r>
            <a:r>
              <a:rPr lang="es-MX" sz="2499" b="1" dirty="0" err="1">
                <a:latin typeface="Helios Bold"/>
                <a:ea typeface="Helios Bold"/>
                <a:cs typeface="Helios Bold"/>
                <a:sym typeface="Helios Bold"/>
              </a:rPr>
              <a:t>compatibility</a:t>
            </a:r>
            <a:r>
              <a:rPr lang="es-MX" sz="2499" b="1" dirty="0">
                <a:latin typeface="Helios Bold"/>
                <a:ea typeface="Helios Bold"/>
                <a:cs typeface="Helios Bold"/>
                <a:sym typeface="Helios Bold"/>
              </a:rPr>
              <a:t> with </a:t>
            </a:r>
            <a:r>
              <a:rPr lang="es-MX" sz="2499" b="1" dirty="0" err="1">
                <a:latin typeface="Helios Bold"/>
                <a:ea typeface="Helios Bold"/>
                <a:cs typeface="Helios Bold"/>
                <a:sym typeface="Helios Bold"/>
              </a:rPr>
              <a:t>any</a:t>
            </a:r>
            <a:r>
              <a:rPr lang="es-MX" sz="2499" b="1" dirty="0">
                <a:latin typeface="Helios Bold"/>
                <a:ea typeface="Helios Bold"/>
                <a:cs typeface="Helios Bold"/>
                <a:sym typeface="Helios Bold"/>
              </a:rPr>
              <a:t> </a:t>
            </a:r>
            <a:r>
              <a:rPr lang="es-MX" sz="2499" b="1" dirty="0" err="1">
                <a:latin typeface="Helios Bold"/>
                <a:ea typeface="Helios Bold"/>
                <a:cs typeface="Helios Bold"/>
                <a:sym typeface="Helios Bold"/>
              </a:rPr>
              <a:t>device</a:t>
            </a:r>
            <a:r>
              <a:rPr lang="es-MX" sz="2499" b="1" dirty="0">
                <a:latin typeface="Helios Bold"/>
                <a:ea typeface="Helios Bold"/>
                <a:cs typeface="Helios Bold"/>
                <a:sym typeface="Helios Bold"/>
              </a:rPr>
              <a:t>.</a:t>
            </a:r>
          </a:p>
          <a:p>
            <a:pPr marL="342900" indent="-342900">
              <a:lnSpc>
                <a:spcPts val="4074"/>
              </a:lnSpc>
              <a:buFont typeface="Wingdings" pitchFamily="2" charset="2"/>
              <a:buChar char="Ø"/>
            </a:pPr>
            <a:r>
              <a:rPr lang="en-US" sz="2499" b="1" dirty="0">
                <a:latin typeface="Helios Bold"/>
                <a:ea typeface="Helios Bold"/>
                <a:cs typeface="Helios Bold"/>
                <a:sym typeface="Helios Bold"/>
              </a:rPr>
              <a:t>Interactive Execution (Dynamic inputs and outputs with printf and </a:t>
            </a:r>
            <a:r>
              <a:rPr lang="en-US" sz="2499" b="1" dirty="0" err="1">
                <a:latin typeface="Helios Bold"/>
                <a:ea typeface="Helios Bold"/>
                <a:cs typeface="Helios Bold"/>
                <a:sym typeface="Helios Bold"/>
              </a:rPr>
              <a:t>scanf</a:t>
            </a:r>
            <a:r>
              <a:rPr lang="en-US" sz="2499" b="1" dirty="0">
                <a:latin typeface="Helios Bold"/>
                <a:ea typeface="Helios Bold"/>
                <a:cs typeface="Helios Bold"/>
                <a:sym typeface="Helios Bold"/>
              </a:rPr>
              <a:t>).</a:t>
            </a:r>
          </a:p>
        </p:txBody>
      </p:sp>
      <p:grpSp>
        <p:nvGrpSpPr>
          <p:cNvPr id="21" name="Group 55">
            <a:extLst>
              <a:ext uri="{FF2B5EF4-FFF2-40B4-BE49-F238E27FC236}">
                <a16:creationId xmlns:a16="http://schemas.microsoft.com/office/drawing/2014/main" id="{D427AC96-9B3A-E710-CE71-4B59D4584398}"/>
              </a:ext>
            </a:extLst>
          </p:cNvPr>
          <p:cNvGrpSpPr/>
          <p:nvPr/>
        </p:nvGrpSpPr>
        <p:grpSpPr>
          <a:xfrm rot="-5400000">
            <a:off x="-293724" y="-155315"/>
            <a:ext cx="4202335" cy="3789742"/>
            <a:chOff x="0" y="0"/>
            <a:chExt cx="5603113" cy="5052990"/>
          </a:xfrm>
        </p:grpSpPr>
        <p:sp>
          <p:nvSpPr>
            <p:cNvPr id="17" name="Freeform 56">
              <a:extLst>
                <a:ext uri="{FF2B5EF4-FFF2-40B4-BE49-F238E27FC236}">
                  <a16:creationId xmlns:a16="http://schemas.microsoft.com/office/drawing/2014/main" id="{7BF68124-822C-1778-079F-1271C6BD639C}"/>
                </a:ext>
              </a:extLst>
            </p:cNvPr>
            <p:cNvSpPr/>
            <p:nvPr/>
          </p:nvSpPr>
          <p:spPr>
            <a:xfrm rot="-10800000">
              <a:off x="0" y="0"/>
              <a:ext cx="5603113" cy="5052990"/>
            </a:xfrm>
            <a:custGeom>
              <a:avLst/>
              <a:gdLst/>
              <a:ahLst/>
              <a:cxnLst/>
              <a:rect l="l" t="t" r="r" b="b"/>
              <a:pathLst>
                <a:path w="5603113" h="5052990">
                  <a:moveTo>
                    <a:pt x="0" y="0"/>
                  </a:moveTo>
                  <a:lnTo>
                    <a:pt x="5603113" y="0"/>
                  </a:lnTo>
                  <a:lnTo>
                    <a:pt x="5603113" y="5052990"/>
                  </a:lnTo>
                  <a:lnTo>
                    <a:pt x="0" y="505299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MX"/>
            </a:p>
          </p:txBody>
        </p:sp>
        <p:sp>
          <p:nvSpPr>
            <p:cNvPr id="18" name="AutoShape 57">
              <a:extLst>
                <a:ext uri="{FF2B5EF4-FFF2-40B4-BE49-F238E27FC236}">
                  <a16:creationId xmlns:a16="http://schemas.microsoft.com/office/drawing/2014/main" id="{AEC6DE5A-7D18-499D-0E5B-3E2350739873}"/>
                </a:ext>
              </a:extLst>
            </p:cNvPr>
            <p:cNvSpPr/>
            <p:nvPr/>
          </p:nvSpPr>
          <p:spPr>
            <a:xfrm>
              <a:off x="2044058" y="105097"/>
              <a:ext cx="2683460" cy="2683460"/>
            </a:xfrm>
            <a:prstGeom prst="line">
              <a:avLst/>
            </a:prstGeom>
            <a:ln w="50729" cap="flat">
              <a:solidFill>
                <a:srgbClr val="F4F5F6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s-MX"/>
            </a:p>
          </p:txBody>
        </p:sp>
        <p:sp>
          <p:nvSpPr>
            <p:cNvPr id="20" name="AutoShape 58">
              <a:extLst>
                <a:ext uri="{FF2B5EF4-FFF2-40B4-BE49-F238E27FC236}">
                  <a16:creationId xmlns:a16="http://schemas.microsoft.com/office/drawing/2014/main" id="{ACABEA58-72B8-75DE-E487-D192BCCA72E3}"/>
                </a:ext>
              </a:extLst>
            </p:cNvPr>
            <p:cNvSpPr/>
            <p:nvPr/>
          </p:nvSpPr>
          <p:spPr>
            <a:xfrm>
              <a:off x="675896" y="105097"/>
              <a:ext cx="1374458" cy="1374458"/>
            </a:xfrm>
            <a:prstGeom prst="line">
              <a:avLst/>
            </a:prstGeom>
            <a:ln w="50729" cap="flat">
              <a:solidFill>
                <a:srgbClr val="F4F5F6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s-MX"/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5400000" flipV="1">
            <a:off x="13623287" y="-2180583"/>
            <a:ext cx="6444000" cy="8204166"/>
          </a:xfrm>
          <a:custGeom>
            <a:avLst/>
            <a:gdLst/>
            <a:ahLst/>
            <a:cxnLst/>
            <a:rect l="l" t="t" r="r" b="b"/>
            <a:pathLst>
              <a:path w="6444000" h="8204166">
                <a:moveTo>
                  <a:pt x="0" y="8204166"/>
                </a:moveTo>
                <a:lnTo>
                  <a:pt x="6444000" y="8204166"/>
                </a:lnTo>
                <a:lnTo>
                  <a:pt x="6444000" y="0"/>
                </a:lnTo>
                <a:lnTo>
                  <a:pt x="0" y="0"/>
                </a:lnTo>
                <a:lnTo>
                  <a:pt x="0" y="8204166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MX"/>
          </a:p>
        </p:txBody>
      </p:sp>
      <p:grpSp>
        <p:nvGrpSpPr>
          <p:cNvPr id="3" name="Group 3"/>
          <p:cNvGrpSpPr/>
          <p:nvPr/>
        </p:nvGrpSpPr>
        <p:grpSpPr>
          <a:xfrm>
            <a:off x="0" y="0"/>
            <a:ext cx="18288000" cy="727364"/>
            <a:chOff x="0" y="0"/>
            <a:chExt cx="6812038" cy="270933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6812038" cy="270933"/>
            </a:xfrm>
            <a:custGeom>
              <a:avLst/>
              <a:gdLst/>
              <a:ahLst/>
              <a:cxnLst/>
              <a:rect l="l" t="t" r="r" b="b"/>
              <a:pathLst>
                <a:path w="6812038" h="270933">
                  <a:moveTo>
                    <a:pt x="0" y="0"/>
                  </a:moveTo>
                  <a:lnTo>
                    <a:pt x="6812038" y="0"/>
                  </a:lnTo>
                  <a:lnTo>
                    <a:pt x="6812038" y="270933"/>
                  </a:lnTo>
                  <a:lnTo>
                    <a:pt x="0" y="270933"/>
                  </a:lnTo>
                  <a:close/>
                </a:path>
              </a:pathLst>
            </a:custGeom>
            <a:solidFill>
              <a:srgbClr val="262262"/>
            </a:solidFill>
          </p:spPr>
          <p:txBody>
            <a:bodyPr/>
            <a:lstStyle/>
            <a:p>
              <a:endParaRPr lang="es-MX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28575"/>
              <a:ext cx="6812038" cy="299508"/>
            </a:xfrm>
            <a:prstGeom prst="rect">
              <a:avLst/>
            </a:prstGeom>
          </p:spPr>
          <p:txBody>
            <a:bodyPr lIns="48876" tIns="48876" rIns="48876" bIns="48876" rtlCol="0" anchor="ctr"/>
            <a:lstStyle/>
            <a:p>
              <a:pPr algn="ctr">
                <a:lnSpc>
                  <a:spcPts val="2344"/>
                </a:lnSpc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880687" y="4176337"/>
            <a:ext cx="2964123" cy="1230688"/>
            <a:chOff x="0" y="0"/>
            <a:chExt cx="780674" cy="324132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780674" cy="324132"/>
            </a:xfrm>
            <a:custGeom>
              <a:avLst/>
              <a:gdLst/>
              <a:ahLst/>
              <a:cxnLst/>
              <a:rect l="l" t="t" r="r" b="b"/>
              <a:pathLst>
                <a:path w="780674" h="324132">
                  <a:moveTo>
                    <a:pt x="78356" y="0"/>
                  </a:moveTo>
                  <a:lnTo>
                    <a:pt x="702318" y="0"/>
                  </a:lnTo>
                  <a:cubicBezTo>
                    <a:pt x="723100" y="0"/>
                    <a:pt x="743030" y="8255"/>
                    <a:pt x="757724" y="22950"/>
                  </a:cubicBezTo>
                  <a:cubicBezTo>
                    <a:pt x="772419" y="37645"/>
                    <a:pt x="780674" y="57575"/>
                    <a:pt x="780674" y="78356"/>
                  </a:cubicBezTo>
                  <a:lnTo>
                    <a:pt x="780674" y="245776"/>
                  </a:lnTo>
                  <a:cubicBezTo>
                    <a:pt x="780674" y="289051"/>
                    <a:pt x="745593" y="324132"/>
                    <a:pt x="702318" y="324132"/>
                  </a:cubicBezTo>
                  <a:lnTo>
                    <a:pt x="78356" y="324132"/>
                  </a:lnTo>
                  <a:cubicBezTo>
                    <a:pt x="57575" y="324132"/>
                    <a:pt x="37645" y="315876"/>
                    <a:pt x="22950" y="301182"/>
                  </a:cubicBezTo>
                  <a:cubicBezTo>
                    <a:pt x="8255" y="286487"/>
                    <a:pt x="0" y="266557"/>
                    <a:pt x="0" y="245776"/>
                  </a:cubicBezTo>
                  <a:lnTo>
                    <a:pt x="0" y="78356"/>
                  </a:lnTo>
                  <a:cubicBezTo>
                    <a:pt x="0" y="35081"/>
                    <a:pt x="35081" y="0"/>
                    <a:pt x="78356" y="0"/>
                  </a:cubicBezTo>
                  <a:close/>
                </a:path>
              </a:pathLst>
            </a:custGeom>
            <a:solidFill>
              <a:srgbClr val="262262"/>
            </a:solidFill>
          </p:spPr>
          <p:txBody>
            <a:bodyPr/>
            <a:lstStyle/>
            <a:p>
              <a:endParaRPr lang="es-MX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28575"/>
              <a:ext cx="780674" cy="35270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44"/>
                </a:lnSpc>
              </a:pPr>
              <a:endParaRPr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4834584" y="4176337"/>
            <a:ext cx="2271293" cy="1230688"/>
            <a:chOff x="0" y="0"/>
            <a:chExt cx="598201" cy="324132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598201" cy="324132"/>
            </a:xfrm>
            <a:custGeom>
              <a:avLst/>
              <a:gdLst/>
              <a:ahLst/>
              <a:cxnLst/>
              <a:rect l="l" t="t" r="r" b="b"/>
              <a:pathLst>
                <a:path w="598201" h="324132">
                  <a:moveTo>
                    <a:pt x="102258" y="0"/>
                  </a:moveTo>
                  <a:lnTo>
                    <a:pt x="495943" y="0"/>
                  </a:lnTo>
                  <a:cubicBezTo>
                    <a:pt x="552418" y="0"/>
                    <a:pt x="598201" y="45782"/>
                    <a:pt x="598201" y="102258"/>
                  </a:cubicBezTo>
                  <a:lnTo>
                    <a:pt x="598201" y="221874"/>
                  </a:lnTo>
                  <a:cubicBezTo>
                    <a:pt x="598201" y="278349"/>
                    <a:pt x="552418" y="324132"/>
                    <a:pt x="495943" y="324132"/>
                  </a:cubicBezTo>
                  <a:lnTo>
                    <a:pt x="102258" y="324132"/>
                  </a:lnTo>
                  <a:cubicBezTo>
                    <a:pt x="45782" y="324132"/>
                    <a:pt x="0" y="278349"/>
                    <a:pt x="0" y="221874"/>
                  </a:cubicBezTo>
                  <a:lnTo>
                    <a:pt x="0" y="102258"/>
                  </a:lnTo>
                  <a:cubicBezTo>
                    <a:pt x="0" y="45782"/>
                    <a:pt x="45782" y="0"/>
                    <a:pt x="102258" y="0"/>
                  </a:cubicBezTo>
                  <a:close/>
                </a:path>
              </a:pathLst>
            </a:custGeom>
            <a:solidFill>
              <a:srgbClr val="262262"/>
            </a:solidFill>
          </p:spPr>
          <p:txBody>
            <a:bodyPr/>
            <a:lstStyle/>
            <a:p>
              <a:endParaRPr lang="es-MX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0" y="-28575"/>
              <a:ext cx="598201" cy="35270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44"/>
                </a:lnSpc>
              </a:pPr>
              <a:endParaRPr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8095650" y="4176337"/>
            <a:ext cx="3656954" cy="1230688"/>
            <a:chOff x="0" y="0"/>
            <a:chExt cx="963148" cy="324132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963148" cy="324132"/>
            </a:xfrm>
            <a:custGeom>
              <a:avLst/>
              <a:gdLst/>
              <a:ahLst/>
              <a:cxnLst/>
              <a:rect l="l" t="t" r="r" b="b"/>
              <a:pathLst>
                <a:path w="963148" h="324132">
                  <a:moveTo>
                    <a:pt x="63511" y="0"/>
                  </a:moveTo>
                  <a:lnTo>
                    <a:pt x="899637" y="0"/>
                  </a:lnTo>
                  <a:cubicBezTo>
                    <a:pt x="916481" y="0"/>
                    <a:pt x="932636" y="6691"/>
                    <a:pt x="944546" y="18602"/>
                  </a:cubicBezTo>
                  <a:cubicBezTo>
                    <a:pt x="956457" y="30513"/>
                    <a:pt x="963148" y="46667"/>
                    <a:pt x="963148" y="63511"/>
                  </a:cubicBezTo>
                  <a:lnTo>
                    <a:pt x="963148" y="260621"/>
                  </a:lnTo>
                  <a:cubicBezTo>
                    <a:pt x="963148" y="295697"/>
                    <a:pt x="934713" y="324132"/>
                    <a:pt x="899637" y="324132"/>
                  </a:cubicBezTo>
                  <a:lnTo>
                    <a:pt x="63511" y="324132"/>
                  </a:lnTo>
                  <a:cubicBezTo>
                    <a:pt x="46667" y="324132"/>
                    <a:pt x="30513" y="317440"/>
                    <a:pt x="18602" y="305530"/>
                  </a:cubicBezTo>
                  <a:cubicBezTo>
                    <a:pt x="6691" y="293619"/>
                    <a:pt x="0" y="277465"/>
                    <a:pt x="0" y="260621"/>
                  </a:cubicBezTo>
                  <a:lnTo>
                    <a:pt x="0" y="63511"/>
                  </a:lnTo>
                  <a:cubicBezTo>
                    <a:pt x="0" y="46667"/>
                    <a:pt x="6691" y="30513"/>
                    <a:pt x="18602" y="18602"/>
                  </a:cubicBezTo>
                  <a:cubicBezTo>
                    <a:pt x="30513" y="6691"/>
                    <a:pt x="46667" y="0"/>
                    <a:pt x="63511" y="0"/>
                  </a:cubicBezTo>
                  <a:close/>
                </a:path>
              </a:pathLst>
            </a:custGeom>
            <a:solidFill>
              <a:srgbClr val="262262"/>
            </a:solidFill>
          </p:spPr>
          <p:txBody>
            <a:bodyPr/>
            <a:lstStyle/>
            <a:p>
              <a:endParaRPr lang="es-MX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-28575"/>
              <a:ext cx="963148" cy="35270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44"/>
                </a:lnSpc>
              </a:pPr>
              <a:endParaRPr/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12743204" y="4176337"/>
            <a:ext cx="4963434" cy="1230688"/>
            <a:chOff x="0" y="0"/>
            <a:chExt cx="1307242" cy="324132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1307242" cy="324132"/>
            </a:xfrm>
            <a:custGeom>
              <a:avLst/>
              <a:gdLst/>
              <a:ahLst/>
              <a:cxnLst/>
              <a:rect l="l" t="t" r="r" b="b"/>
              <a:pathLst>
                <a:path w="1307242" h="324132">
                  <a:moveTo>
                    <a:pt x="46794" y="0"/>
                  </a:moveTo>
                  <a:lnTo>
                    <a:pt x="1260448" y="0"/>
                  </a:lnTo>
                  <a:cubicBezTo>
                    <a:pt x="1286292" y="0"/>
                    <a:pt x="1307242" y="20950"/>
                    <a:pt x="1307242" y="46794"/>
                  </a:cubicBezTo>
                  <a:lnTo>
                    <a:pt x="1307242" y="277338"/>
                  </a:lnTo>
                  <a:cubicBezTo>
                    <a:pt x="1307242" y="303182"/>
                    <a:pt x="1286292" y="324132"/>
                    <a:pt x="1260448" y="324132"/>
                  </a:cubicBezTo>
                  <a:lnTo>
                    <a:pt x="46794" y="324132"/>
                  </a:lnTo>
                  <a:cubicBezTo>
                    <a:pt x="34383" y="324132"/>
                    <a:pt x="22481" y="319202"/>
                    <a:pt x="13706" y="310426"/>
                  </a:cubicBezTo>
                  <a:cubicBezTo>
                    <a:pt x="4930" y="301651"/>
                    <a:pt x="0" y="289749"/>
                    <a:pt x="0" y="277338"/>
                  </a:cubicBezTo>
                  <a:lnTo>
                    <a:pt x="0" y="46794"/>
                  </a:lnTo>
                  <a:cubicBezTo>
                    <a:pt x="0" y="34383"/>
                    <a:pt x="4930" y="22481"/>
                    <a:pt x="13706" y="13706"/>
                  </a:cubicBezTo>
                  <a:cubicBezTo>
                    <a:pt x="22481" y="4930"/>
                    <a:pt x="34383" y="0"/>
                    <a:pt x="46794" y="0"/>
                  </a:cubicBezTo>
                  <a:close/>
                </a:path>
              </a:pathLst>
            </a:custGeom>
            <a:solidFill>
              <a:srgbClr val="262262"/>
            </a:solidFill>
          </p:spPr>
          <p:txBody>
            <a:bodyPr/>
            <a:lstStyle/>
            <a:p>
              <a:endParaRPr lang="es-MX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-28575"/>
              <a:ext cx="1307242" cy="35270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44"/>
                </a:lnSpc>
              </a:pPr>
              <a:endParaRPr/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9638887" y="6061168"/>
            <a:ext cx="5628486" cy="1230688"/>
            <a:chOff x="0" y="0"/>
            <a:chExt cx="1482400" cy="324132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1482400" cy="324132"/>
            </a:xfrm>
            <a:custGeom>
              <a:avLst/>
              <a:gdLst/>
              <a:ahLst/>
              <a:cxnLst/>
              <a:rect l="l" t="t" r="r" b="b"/>
              <a:pathLst>
                <a:path w="1482400" h="324132">
                  <a:moveTo>
                    <a:pt x="41265" y="0"/>
                  </a:moveTo>
                  <a:lnTo>
                    <a:pt x="1441135" y="0"/>
                  </a:lnTo>
                  <a:cubicBezTo>
                    <a:pt x="1463925" y="0"/>
                    <a:pt x="1482400" y="18475"/>
                    <a:pt x="1482400" y="41265"/>
                  </a:cubicBezTo>
                  <a:lnTo>
                    <a:pt x="1482400" y="282867"/>
                  </a:lnTo>
                  <a:cubicBezTo>
                    <a:pt x="1482400" y="305657"/>
                    <a:pt x="1463925" y="324132"/>
                    <a:pt x="1441135" y="324132"/>
                  </a:cubicBezTo>
                  <a:lnTo>
                    <a:pt x="41265" y="324132"/>
                  </a:lnTo>
                  <a:cubicBezTo>
                    <a:pt x="18475" y="324132"/>
                    <a:pt x="0" y="305657"/>
                    <a:pt x="0" y="282867"/>
                  </a:cubicBezTo>
                  <a:lnTo>
                    <a:pt x="0" y="41265"/>
                  </a:lnTo>
                  <a:cubicBezTo>
                    <a:pt x="0" y="18475"/>
                    <a:pt x="18475" y="0"/>
                    <a:pt x="41265" y="0"/>
                  </a:cubicBezTo>
                  <a:close/>
                </a:path>
              </a:pathLst>
            </a:custGeom>
            <a:solidFill>
              <a:srgbClr val="262262"/>
            </a:solidFill>
          </p:spPr>
          <p:txBody>
            <a:bodyPr/>
            <a:lstStyle/>
            <a:p>
              <a:endParaRPr lang="es-MX"/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0" y="-28575"/>
              <a:ext cx="1482400" cy="35270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44"/>
                </a:lnSpc>
              </a:pPr>
              <a:endParaRPr/>
            </a:p>
          </p:txBody>
        </p:sp>
      </p:grpSp>
      <p:grpSp>
        <p:nvGrpSpPr>
          <p:cNvPr id="21" name="Group 21"/>
          <p:cNvGrpSpPr/>
          <p:nvPr/>
        </p:nvGrpSpPr>
        <p:grpSpPr>
          <a:xfrm>
            <a:off x="3020628" y="6061168"/>
            <a:ext cx="5628486" cy="1230688"/>
            <a:chOff x="0" y="0"/>
            <a:chExt cx="1482400" cy="324132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1482400" cy="324132"/>
            </a:xfrm>
            <a:custGeom>
              <a:avLst/>
              <a:gdLst/>
              <a:ahLst/>
              <a:cxnLst/>
              <a:rect l="l" t="t" r="r" b="b"/>
              <a:pathLst>
                <a:path w="1482400" h="324132">
                  <a:moveTo>
                    <a:pt x="41265" y="0"/>
                  </a:moveTo>
                  <a:lnTo>
                    <a:pt x="1441135" y="0"/>
                  </a:lnTo>
                  <a:cubicBezTo>
                    <a:pt x="1463925" y="0"/>
                    <a:pt x="1482400" y="18475"/>
                    <a:pt x="1482400" y="41265"/>
                  </a:cubicBezTo>
                  <a:lnTo>
                    <a:pt x="1482400" y="282867"/>
                  </a:lnTo>
                  <a:cubicBezTo>
                    <a:pt x="1482400" y="305657"/>
                    <a:pt x="1463925" y="324132"/>
                    <a:pt x="1441135" y="324132"/>
                  </a:cubicBezTo>
                  <a:lnTo>
                    <a:pt x="41265" y="324132"/>
                  </a:lnTo>
                  <a:cubicBezTo>
                    <a:pt x="18475" y="324132"/>
                    <a:pt x="0" y="305657"/>
                    <a:pt x="0" y="282867"/>
                  </a:cubicBezTo>
                  <a:lnTo>
                    <a:pt x="0" y="41265"/>
                  </a:lnTo>
                  <a:cubicBezTo>
                    <a:pt x="0" y="18475"/>
                    <a:pt x="18475" y="0"/>
                    <a:pt x="41265" y="0"/>
                  </a:cubicBezTo>
                  <a:close/>
                </a:path>
              </a:pathLst>
            </a:custGeom>
            <a:solidFill>
              <a:srgbClr val="262262"/>
            </a:solidFill>
          </p:spPr>
          <p:txBody>
            <a:bodyPr/>
            <a:lstStyle/>
            <a:p>
              <a:endParaRPr lang="es-MX"/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0" y="-28575"/>
              <a:ext cx="1482400" cy="35270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44"/>
                </a:lnSpc>
              </a:pPr>
              <a:endParaRPr/>
            </a:p>
          </p:txBody>
        </p:sp>
      </p:grpSp>
      <p:grpSp>
        <p:nvGrpSpPr>
          <p:cNvPr id="24" name="Group 24"/>
          <p:cNvGrpSpPr/>
          <p:nvPr/>
        </p:nvGrpSpPr>
        <p:grpSpPr>
          <a:xfrm>
            <a:off x="2260770" y="7949081"/>
            <a:ext cx="3731390" cy="1230688"/>
            <a:chOff x="0" y="0"/>
            <a:chExt cx="982753" cy="324132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982753" cy="324132"/>
            </a:xfrm>
            <a:custGeom>
              <a:avLst/>
              <a:gdLst/>
              <a:ahLst/>
              <a:cxnLst/>
              <a:rect l="l" t="t" r="r" b="b"/>
              <a:pathLst>
                <a:path w="982753" h="324132">
                  <a:moveTo>
                    <a:pt x="62244" y="0"/>
                  </a:moveTo>
                  <a:lnTo>
                    <a:pt x="920509" y="0"/>
                  </a:lnTo>
                  <a:cubicBezTo>
                    <a:pt x="954885" y="0"/>
                    <a:pt x="982753" y="27868"/>
                    <a:pt x="982753" y="62244"/>
                  </a:cubicBezTo>
                  <a:lnTo>
                    <a:pt x="982753" y="261888"/>
                  </a:lnTo>
                  <a:cubicBezTo>
                    <a:pt x="982753" y="296264"/>
                    <a:pt x="954885" y="324132"/>
                    <a:pt x="920509" y="324132"/>
                  </a:cubicBezTo>
                  <a:lnTo>
                    <a:pt x="62244" y="324132"/>
                  </a:lnTo>
                  <a:cubicBezTo>
                    <a:pt x="27868" y="324132"/>
                    <a:pt x="0" y="296264"/>
                    <a:pt x="0" y="261888"/>
                  </a:cubicBezTo>
                  <a:lnTo>
                    <a:pt x="0" y="62244"/>
                  </a:lnTo>
                  <a:cubicBezTo>
                    <a:pt x="0" y="27868"/>
                    <a:pt x="27868" y="0"/>
                    <a:pt x="62244" y="0"/>
                  </a:cubicBezTo>
                  <a:close/>
                </a:path>
              </a:pathLst>
            </a:custGeom>
            <a:solidFill>
              <a:srgbClr val="262262"/>
            </a:solidFill>
          </p:spPr>
          <p:txBody>
            <a:bodyPr/>
            <a:lstStyle/>
            <a:p>
              <a:endParaRPr lang="es-MX"/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0" y="-28575"/>
              <a:ext cx="982753" cy="35270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44"/>
                </a:lnSpc>
              </a:pPr>
              <a:endParaRPr/>
            </a:p>
          </p:txBody>
        </p:sp>
      </p:grpSp>
      <p:grpSp>
        <p:nvGrpSpPr>
          <p:cNvPr id="27" name="Group 27"/>
          <p:cNvGrpSpPr/>
          <p:nvPr/>
        </p:nvGrpSpPr>
        <p:grpSpPr>
          <a:xfrm>
            <a:off x="6982761" y="7949081"/>
            <a:ext cx="3731390" cy="1230688"/>
            <a:chOff x="0" y="0"/>
            <a:chExt cx="982753" cy="324132"/>
          </a:xfrm>
        </p:grpSpPr>
        <p:sp>
          <p:nvSpPr>
            <p:cNvPr id="28" name="Freeform 28"/>
            <p:cNvSpPr/>
            <p:nvPr/>
          </p:nvSpPr>
          <p:spPr>
            <a:xfrm>
              <a:off x="0" y="0"/>
              <a:ext cx="982753" cy="324132"/>
            </a:xfrm>
            <a:custGeom>
              <a:avLst/>
              <a:gdLst/>
              <a:ahLst/>
              <a:cxnLst/>
              <a:rect l="l" t="t" r="r" b="b"/>
              <a:pathLst>
                <a:path w="982753" h="324132">
                  <a:moveTo>
                    <a:pt x="62244" y="0"/>
                  </a:moveTo>
                  <a:lnTo>
                    <a:pt x="920509" y="0"/>
                  </a:lnTo>
                  <a:cubicBezTo>
                    <a:pt x="954885" y="0"/>
                    <a:pt x="982753" y="27868"/>
                    <a:pt x="982753" y="62244"/>
                  </a:cubicBezTo>
                  <a:lnTo>
                    <a:pt x="982753" y="261888"/>
                  </a:lnTo>
                  <a:cubicBezTo>
                    <a:pt x="982753" y="296264"/>
                    <a:pt x="954885" y="324132"/>
                    <a:pt x="920509" y="324132"/>
                  </a:cubicBezTo>
                  <a:lnTo>
                    <a:pt x="62244" y="324132"/>
                  </a:lnTo>
                  <a:cubicBezTo>
                    <a:pt x="27868" y="324132"/>
                    <a:pt x="0" y="296264"/>
                    <a:pt x="0" y="261888"/>
                  </a:cubicBezTo>
                  <a:lnTo>
                    <a:pt x="0" y="62244"/>
                  </a:lnTo>
                  <a:cubicBezTo>
                    <a:pt x="0" y="27868"/>
                    <a:pt x="27868" y="0"/>
                    <a:pt x="62244" y="0"/>
                  </a:cubicBezTo>
                  <a:close/>
                </a:path>
              </a:pathLst>
            </a:custGeom>
            <a:solidFill>
              <a:srgbClr val="262262"/>
            </a:solidFill>
          </p:spPr>
          <p:txBody>
            <a:bodyPr/>
            <a:lstStyle/>
            <a:p>
              <a:endParaRPr lang="es-MX"/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0" y="-28575"/>
              <a:ext cx="982753" cy="35270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44"/>
                </a:lnSpc>
              </a:pPr>
              <a:endParaRPr/>
            </a:p>
          </p:txBody>
        </p:sp>
      </p:grpSp>
      <p:grpSp>
        <p:nvGrpSpPr>
          <p:cNvPr id="30" name="Group 30"/>
          <p:cNvGrpSpPr/>
          <p:nvPr/>
        </p:nvGrpSpPr>
        <p:grpSpPr>
          <a:xfrm>
            <a:off x="11703924" y="7949081"/>
            <a:ext cx="4008523" cy="1230688"/>
            <a:chOff x="0" y="0"/>
            <a:chExt cx="1055743" cy="324132"/>
          </a:xfrm>
        </p:grpSpPr>
        <p:sp>
          <p:nvSpPr>
            <p:cNvPr id="31" name="Freeform 31"/>
            <p:cNvSpPr/>
            <p:nvPr/>
          </p:nvSpPr>
          <p:spPr>
            <a:xfrm>
              <a:off x="0" y="0"/>
              <a:ext cx="1055743" cy="324132"/>
            </a:xfrm>
            <a:custGeom>
              <a:avLst/>
              <a:gdLst/>
              <a:ahLst/>
              <a:cxnLst/>
              <a:rect l="l" t="t" r="r" b="b"/>
              <a:pathLst>
                <a:path w="1055743" h="324132">
                  <a:moveTo>
                    <a:pt x="57941" y="0"/>
                  </a:moveTo>
                  <a:lnTo>
                    <a:pt x="997802" y="0"/>
                  </a:lnTo>
                  <a:cubicBezTo>
                    <a:pt x="1013168" y="0"/>
                    <a:pt x="1027906" y="6104"/>
                    <a:pt x="1038772" y="16971"/>
                  </a:cubicBezTo>
                  <a:cubicBezTo>
                    <a:pt x="1049638" y="27837"/>
                    <a:pt x="1055743" y="42574"/>
                    <a:pt x="1055743" y="57941"/>
                  </a:cubicBezTo>
                  <a:lnTo>
                    <a:pt x="1055743" y="266191"/>
                  </a:lnTo>
                  <a:cubicBezTo>
                    <a:pt x="1055743" y="281558"/>
                    <a:pt x="1049638" y="296295"/>
                    <a:pt x="1038772" y="307161"/>
                  </a:cubicBezTo>
                  <a:cubicBezTo>
                    <a:pt x="1027906" y="318027"/>
                    <a:pt x="1013168" y="324132"/>
                    <a:pt x="997802" y="324132"/>
                  </a:cubicBezTo>
                  <a:lnTo>
                    <a:pt x="57941" y="324132"/>
                  </a:lnTo>
                  <a:cubicBezTo>
                    <a:pt x="42574" y="324132"/>
                    <a:pt x="27837" y="318027"/>
                    <a:pt x="16971" y="307161"/>
                  </a:cubicBezTo>
                  <a:cubicBezTo>
                    <a:pt x="6104" y="296295"/>
                    <a:pt x="0" y="281558"/>
                    <a:pt x="0" y="266191"/>
                  </a:cubicBezTo>
                  <a:lnTo>
                    <a:pt x="0" y="57941"/>
                  </a:lnTo>
                  <a:cubicBezTo>
                    <a:pt x="0" y="42574"/>
                    <a:pt x="6104" y="27837"/>
                    <a:pt x="16971" y="16971"/>
                  </a:cubicBezTo>
                  <a:cubicBezTo>
                    <a:pt x="27837" y="6104"/>
                    <a:pt x="42574" y="0"/>
                    <a:pt x="57941" y="0"/>
                  </a:cubicBezTo>
                  <a:close/>
                </a:path>
              </a:pathLst>
            </a:custGeom>
            <a:solidFill>
              <a:srgbClr val="262262"/>
            </a:solidFill>
          </p:spPr>
          <p:txBody>
            <a:bodyPr/>
            <a:lstStyle/>
            <a:p>
              <a:endParaRPr lang="es-MX"/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0" y="-28575"/>
              <a:ext cx="1055743" cy="35270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44"/>
                </a:lnSpc>
              </a:pPr>
              <a:endParaRPr/>
            </a:p>
          </p:txBody>
        </p:sp>
      </p:grpSp>
      <p:grpSp>
        <p:nvGrpSpPr>
          <p:cNvPr id="33" name="Group 33"/>
          <p:cNvGrpSpPr/>
          <p:nvPr/>
        </p:nvGrpSpPr>
        <p:grpSpPr>
          <a:xfrm>
            <a:off x="4092347" y="4563081"/>
            <a:ext cx="494700" cy="494700"/>
            <a:chOff x="0" y="0"/>
            <a:chExt cx="812800" cy="812800"/>
          </a:xfrm>
        </p:grpSpPr>
        <p:sp>
          <p:nvSpPr>
            <p:cNvPr id="34" name="Freeform 34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812800" y="406400"/>
                  </a:moveTo>
                  <a:lnTo>
                    <a:pt x="406400" y="0"/>
                  </a:lnTo>
                  <a:lnTo>
                    <a:pt x="406400" y="203200"/>
                  </a:lnTo>
                  <a:lnTo>
                    <a:pt x="0" y="203200"/>
                  </a:lnTo>
                  <a:lnTo>
                    <a:pt x="0" y="609600"/>
                  </a:lnTo>
                  <a:lnTo>
                    <a:pt x="406400" y="609600"/>
                  </a:lnTo>
                  <a:lnTo>
                    <a:pt x="406400" y="812800"/>
                  </a:lnTo>
                  <a:lnTo>
                    <a:pt x="812800" y="406400"/>
                  </a:lnTo>
                  <a:close/>
                </a:path>
              </a:pathLst>
            </a:custGeom>
            <a:solidFill>
              <a:srgbClr val="FF5757"/>
            </a:solidFill>
          </p:spPr>
          <p:txBody>
            <a:bodyPr/>
            <a:lstStyle/>
            <a:p>
              <a:endParaRPr lang="es-MX"/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0" y="174625"/>
              <a:ext cx="711200" cy="4349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44"/>
                </a:lnSpc>
              </a:pPr>
              <a:endParaRPr/>
            </a:p>
          </p:txBody>
        </p:sp>
      </p:grpSp>
      <p:sp>
        <p:nvSpPr>
          <p:cNvPr id="36" name="TextBox 36"/>
          <p:cNvSpPr txBox="1"/>
          <p:nvPr/>
        </p:nvSpPr>
        <p:spPr>
          <a:xfrm>
            <a:off x="4805048" y="1233498"/>
            <a:ext cx="8677905" cy="207010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000"/>
              </a:lnSpc>
            </a:pPr>
            <a:r>
              <a:rPr lang="en-US" sz="8000" b="1" spc="416">
                <a:solidFill>
                  <a:srgbClr val="4263EB"/>
                </a:solidFill>
                <a:latin typeface="Inter Bold"/>
                <a:ea typeface="Inter Bold"/>
                <a:cs typeface="Inter Bold"/>
                <a:sym typeface="Inter Bold"/>
              </a:rPr>
              <a:t>Arquitecture</a:t>
            </a:r>
          </a:p>
          <a:p>
            <a:pPr algn="ctr">
              <a:lnSpc>
                <a:spcPts val="8000"/>
              </a:lnSpc>
            </a:pPr>
            <a:r>
              <a:rPr lang="en-US" sz="8000" b="1" spc="416">
                <a:solidFill>
                  <a:srgbClr val="4263EB"/>
                </a:solidFill>
                <a:latin typeface="Inter Bold"/>
                <a:ea typeface="Inter Bold"/>
                <a:cs typeface="Inter Bold"/>
                <a:sym typeface="Inter Bold"/>
              </a:rPr>
              <a:t>C-Overcharged 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1192960" y="4505931"/>
            <a:ext cx="2339578" cy="5143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200"/>
              </a:lnSpc>
            </a:pPr>
            <a:r>
              <a:rPr lang="en-US" sz="30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Source Code </a:t>
            </a:r>
          </a:p>
        </p:txBody>
      </p:sp>
      <p:sp>
        <p:nvSpPr>
          <p:cNvPr id="38" name="TextBox 38"/>
          <p:cNvSpPr txBox="1"/>
          <p:nvPr/>
        </p:nvSpPr>
        <p:spPr>
          <a:xfrm>
            <a:off x="5430460" y="4505931"/>
            <a:ext cx="1079540" cy="5143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200"/>
              </a:lnSpc>
            </a:pPr>
            <a:r>
              <a:rPr lang="en-US" sz="30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Lexer 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8686200" y="4505931"/>
            <a:ext cx="2661404" cy="5143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200"/>
              </a:lnSpc>
            </a:pPr>
            <a:r>
              <a:rPr lang="en-US" sz="30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Parser LALR(1) 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13200703" y="4505931"/>
            <a:ext cx="4154805" cy="5143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200"/>
              </a:lnSpc>
            </a:pPr>
            <a:r>
              <a:rPr lang="en-US" sz="30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Semantic Analysis (AST)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10112599" y="6390762"/>
            <a:ext cx="4681061" cy="5143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200"/>
              </a:lnSpc>
            </a:pPr>
            <a:r>
              <a:rPr lang="en-US" sz="30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Optimizer (Optimized AST)</a:t>
            </a:r>
          </a:p>
        </p:txBody>
      </p:sp>
      <p:sp>
        <p:nvSpPr>
          <p:cNvPr id="42" name="TextBox 42"/>
          <p:cNvSpPr txBox="1"/>
          <p:nvPr/>
        </p:nvSpPr>
        <p:spPr>
          <a:xfrm>
            <a:off x="3617629" y="6390762"/>
            <a:ext cx="4434483" cy="5143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200"/>
              </a:lnSpc>
            </a:pPr>
            <a:r>
              <a:rPr lang="en-US" sz="30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Intermediate Code (TAC) </a:t>
            </a:r>
          </a:p>
        </p:txBody>
      </p:sp>
      <p:sp>
        <p:nvSpPr>
          <p:cNvPr id="43" name="TextBox 43"/>
          <p:cNvSpPr txBox="1"/>
          <p:nvPr/>
        </p:nvSpPr>
        <p:spPr>
          <a:xfrm>
            <a:off x="2608776" y="8278675"/>
            <a:ext cx="3035380" cy="5143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200"/>
              </a:lnSpc>
            </a:pPr>
            <a:r>
              <a:rPr lang="en-US" sz="30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x86_64 Assembly</a:t>
            </a:r>
          </a:p>
        </p:txBody>
      </p:sp>
      <p:sp>
        <p:nvSpPr>
          <p:cNvPr id="44" name="TextBox 44"/>
          <p:cNvSpPr txBox="1"/>
          <p:nvPr/>
        </p:nvSpPr>
        <p:spPr>
          <a:xfrm>
            <a:off x="7435661" y="8278675"/>
            <a:ext cx="2825591" cy="5143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200"/>
              </a:lnSpc>
            </a:pPr>
            <a:r>
              <a:rPr lang="en-US" sz="30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Linker (GCC/SO)</a:t>
            </a:r>
          </a:p>
        </p:txBody>
      </p:sp>
      <p:sp>
        <p:nvSpPr>
          <p:cNvPr id="45" name="TextBox 45"/>
          <p:cNvSpPr txBox="1"/>
          <p:nvPr/>
        </p:nvSpPr>
        <p:spPr>
          <a:xfrm>
            <a:off x="11986267" y="8278675"/>
            <a:ext cx="3166705" cy="5143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200"/>
              </a:lnSpc>
            </a:pPr>
            <a:r>
              <a:rPr lang="en-US" sz="30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Executable (a.out)</a:t>
            </a:r>
          </a:p>
        </p:txBody>
      </p:sp>
      <p:grpSp>
        <p:nvGrpSpPr>
          <p:cNvPr id="46" name="Group 46"/>
          <p:cNvGrpSpPr/>
          <p:nvPr/>
        </p:nvGrpSpPr>
        <p:grpSpPr>
          <a:xfrm>
            <a:off x="7353527" y="4544331"/>
            <a:ext cx="494700" cy="494700"/>
            <a:chOff x="0" y="0"/>
            <a:chExt cx="812800" cy="812800"/>
          </a:xfrm>
        </p:grpSpPr>
        <p:sp>
          <p:nvSpPr>
            <p:cNvPr id="47" name="Freeform 47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812800" y="406400"/>
                  </a:moveTo>
                  <a:lnTo>
                    <a:pt x="406400" y="0"/>
                  </a:lnTo>
                  <a:lnTo>
                    <a:pt x="406400" y="203200"/>
                  </a:lnTo>
                  <a:lnTo>
                    <a:pt x="0" y="203200"/>
                  </a:lnTo>
                  <a:lnTo>
                    <a:pt x="0" y="609600"/>
                  </a:lnTo>
                  <a:lnTo>
                    <a:pt x="406400" y="609600"/>
                  </a:lnTo>
                  <a:lnTo>
                    <a:pt x="406400" y="812800"/>
                  </a:lnTo>
                  <a:lnTo>
                    <a:pt x="812800" y="406400"/>
                  </a:lnTo>
                  <a:close/>
                </a:path>
              </a:pathLst>
            </a:custGeom>
            <a:solidFill>
              <a:srgbClr val="FF5757"/>
            </a:solidFill>
          </p:spPr>
          <p:txBody>
            <a:bodyPr/>
            <a:lstStyle/>
            <a:p>
              <a:endParaRPr lang="es-MX"/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0" y="174625"/>
              <a:ext cx="711200" cy="4349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44"/>
                </a:lnSpc>
              </a:pPr>
              <a:endParaRPr/>
            </a:p>
          </p:txBody>
        </p:sp>
      </p:grpSp>
      <p:grpSp>
        <p:nvGrpSpPr>
          <p:cNvPr id="49" name="Group 49"/>
          <p:cNvGrpSpPr/>
          <p:nvPr/>
        </p:nvGrpSpPr>
        <p:grpSpPr>
          <a:xfrm>
            <a:off x="12000254" y="4544331"/>
            <a:ext cx="494700" cy="494700"/>
            <a:chOff x="0" y="0"/>
            <a:chExt cx="812800" cy="812800"/>
          </a:xfrm>
        </p:grpSpPr>
        <p:sp>
          <p:nvSpPr>
            <p:cNvPr id="50" name="Freeform 50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812800" y="406400"/>
                  </a:moveTo>
                  <a:lnTo>
                    <a:pt x="406400" y="0"/>
                  </a:lnTo>
                  <a:lnTo>
                    <a:pt x="406400" y="203200"/>
                  </a:lnTo>
                  <a:lnTo>
                    <a:pt x="0" y="203200"/>
                  </a:lnTo>
                  <a:lnTo>
                    <a:pt x="0" y="609600"/>
                  </a:lnTo>
                  <a:lnTo>
                    <a:pt x="406400" y="609600"/>
                  </a:lnTo>
                  <a:lnTo>
                    <a:pt x="406400" y="812800"/>
                  </a:lnTo>
                  <a:lnTo>
                    <a:pt x="812800" y="406400"/>
                  </a:lnTo>
                  <a:close/>
                </a:path>
              </a:pathLst>
            </a:custGeom>
            <a:solidFill>
              <a:srgbClr val="FF5757"/>
            </a:solidFill>
          </p:spPr>
          <p:txBody>
            <a:bodyPr/>
            <a:lstStyle/>
            <a:p>
              <a:endParaRPr lang="es-MX"/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0" y="174625"/>
              <a:ext cx="711200" cy="4349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44"/>
                </a:lnSpc>
              </a:pPr>
              <a:endParaRPr/>
            </a:p>
          </p:txBody>
        </p:sp>
      </p:grpSp>
      <p:grpSp>
        <p:nvGrpSpPr>
          <p:cNvPr id="52" name="Group 52"/>
          <p:cNvGrpSpPr/>
          <p:nvPr/>
        </p:nvGrpSpPr>
        <p:grpSpPr>
          <a:xfrm rot="-10800000">
            <a:off x="8896650" y="6410412"/>
            <a:ext cx="494700" cy="494700"/>
            <a:chOff x="0" y="0"/>
            <a:chExt cx="812800" cy="812800"/>
          </a:xfrm>
        </p:grpSpPr>
        <p:sp>
          <p:nvSpPr>
            <p:cNvPr id="53" name="Freeform 53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812800" y="406400"/>
                  </a:moveTo>
                  <a:lnTo>
                    <a:pt x="406400" y="0"/>
                  </a:lnTo>
                  <a:lnTo>
                    <a:pt x="406400" y="203200"/>
                  </a:lnTo>
                  <a:lnTo>
                    <a:pt x="0" y="203200"/>
                  </a:lnTo>
                  <a:lnTo>
                    <a:pt x="0" y="609600"/>
                  </a:lnTo>
                  <a:lnTo>
                    <a:pt x="406400" y="609600"/>
                  </a:lnTo>
                  <a:lnTo>
                    <a:pt x="406400" y="812800"/>
                  </a:lnTo>
                  <a:lnTo>
                    <a:pt x="812800" y="406400"/>
                  </a:lnTo>
                  <a:close/>
                </a:path>
              </a:pathLst>
            </a:custGeom>
            <a:solidFill>
              <a:srgbClr val="FF5757"/>
            </a:solidFill>
          </p:spPr>
          <p:txBody>
            <a:bodyPr/>
            <a:lstStyle/>
            <a:p>
              <a:endParaRPr lang="es-MX"/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0" y="174625"/>
              <a:ext cx="711200" cy="4349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44"/>
                </a:lnSpc>
              </a:pPr>
              <a:endParaRPr/>
            </a:p>
          </p:txBody>
        </p:sp>
      </p:grpSp>
      <p:grpSp>
        <p:nvGrpSpPr>
          <p:cNvPr id="55" name="Group 55"/>
          <p:cNvGrpSpPr/>
          <p:nvPr/>
        </p:nvGrpSpPr>
        <p:grpSpPr>
          <a:xfrm>
            <a:off x="6240111" y="8298325"/>
            <a:ext cx="494700" cy="494700"/>
            <a:chOff x="0" y="0"/>
            <a:chExt cx="812800" cy="812800"/>
          </a:xfrm>
        </p:grpSpPr>
        <p:sp>
          <p:nvSpPr>
            <p:cNvPr id="56" name="Freeform 56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812800" y="406400"/>
                  </a:moveTo>
                  <a:lnTo>
                    <a:pt x="406400" y="0"/>
                  </a:lnTo>
                  <a:lnTo>
                    <a:pt x="406400" y="203200"/>
                  </a:lnTo>
                  <a:lnTo>
                    <a:pt x="0" y="203200"/>
                  </a:lnTo>
                  <a:lnTo>
                    <a:pt x="0" y="609600"/>
                  </a:lnTo>
                  <a:lnTo>
                    <a:pt x="406400" y="609600"/>
                  </a:lnTo>
                  <a:lnTo>
                    <a:pt x="406400" y="812800"/>
                  </a:lnTo>
                  <a:lnTo>
                    <a:pt x="812800" y="406400"/>
                  </a:lnTo>
                  <a:close/>
                </a:path>
              </a:pathLst>
            </a:custGeom>
            <a:solidFill>
              <a:srgbClr val="FF5757"/>
            </a:solidFill>
          </p:spPr>
          <p:txBody>
            <a:bodyPr/>
            <a:lstStyle/>
            <a:p>
              <a:endParaRPr lang="es-MX"/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0" y="174625"/>
              <a:ext cx="711200" cy="4349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44"/>
                </a:lnSpc>
              </a:pPr>
              <a:endParaRPr/>
            </a:p>
          </p:txBody>
        </p:sp>
      </p:grpSp>
      <p:grpSp>
        <p:nvGrpSpPr>
          <p:cNvPr id="58" name="Group 58"/>
          <p:cNvGrpSpPr/>
          <p:nvPr/>
        </p:nvGrpSpPr>
        <p:grpSpPr>
          <a:xfrm>
            <a:off x="10961801" y="8335825"/>
            <a:ext cx="494700" cy="494700"/>
            <a:chOff x="0" y="0"/>
            <a:chExt cx="812800" cy="812800"/>
          </a:xfrm>
        </p:grpSpPr>
        <p:sp>
          <p:nvSpPr>
            <p:cNvPr id="59" name="Freeform 59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812800" y="406400"/>
                  </a:moveTo>
                  <a:lnTo>
                    <a:pt x="406400" y="0"/>
                  </a:lnTo>
                  <a:lnTo>
                    <a:pt x="406400" y="203200"/>
                  </a:lnTo>
                  <a:lnTo>
                    <a:pt x="0" y="203200"/>
                  </a:lnTo>
                  <a:lnTo>
                    <a:pt x="0" y="609600"/>
                  </a:lnTo>
                  <a:lnTo>
                    <a:pt x="406400" y="609600"/>
                  </a:lnTo>
                  <a:lnTo>
                    <a:pt x="406400" y="812800"/>
                  </a:lnTo>
                  <a:lnTo>
                    <a:pt x="812800" y="406400"/>
                  </a:lnTo>
                  <a:close/>
                </a:path>
              </a:pathLst>
            </a:custGeom>
            <a:solidFill>
              <a:srgbClr val="FF5757"/>
            </a:solidFill>
          </p:spPr>
          <p:txBody>
            <a:bodyPr/>
            <a:lstStyle/>
            <a:p>
              <a:endParaRPr lang="es-MX"/>
            </a:p>
          </p:txBody>
        </p:sp>
        <p:sp>
          <p:nvSpPr>
            <p:cNvPr id="60" name="TextBox 60"/>
            <p:cNvSpPr txBox="1"/>
            <p:nvPr/>
          </p:nvSpPr>
          <p:spPr>
            <a:xfrm>
              <a:off x="0" y="174625"/>
              <a:ext cx="711200" cy="4349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44"/>
                </a:lnSpc>
              </a:pPr>
              <a:endParaRPr/>
            </a:p>
          </p:txBody>
        </p:sp>
      </p:grpSp>
      <p:grpSp>
        <p:nvGrpSpPr>
          <p:cNvPr id="61" name="Group 61"/>
          <p:cNvGrpSpPr/>
          <p:nvPr/>
        </p:nvGrpSpPr>
        <p:grpSpPr>
          <a:xfrm rot="7566517">
            <a:off x="15465097" y="5695047"/>
            <a:ext cx="494700" cy="494700"/>
            <a:chOff x="0" y="0"/>
            <a:chExt cx="812800" cy="812800"/>
          </a:xfrm>
        </p:grpSpPr>
        <p:sp>
          <p:nvSpPr>
            <p:cNvPr id="62" name="Freeform 62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812800" y="406400"/>
                  </a:moveTo>
                  <a:lnTo>
                    <a:pt x="406400" y="0"/>
                  </a:lnTo>
                  <a:lnTo>
                    <a:pt x="406400" y="203200"/>
                  </a:lnTo>
                  <a:lnTo>
                    <a:pt x="0" y="203200"/>
                  </a:lnTo>
                  <a:lnTo>
                    <a:pt x="0" y="609600"/>
                  </a:lnTo>
                  <a:lnTo>
                    <a:pt x="406400" y="609600"/>
                  </a:lnTo>
                  <a:lnTo>
                    <a:pt x="406400" y="812800"/>
                  </a:lnTo>
                  <a:lnTo>
                    <a:pt x="812800" y="406400"/>
                  </a:lnTo>
                  <a:close/>
                </a:path>
              </a:pathLst>
            </a:custGeom>
            <a:solidFill>
              <a:srgbClr val="FF5757"/>
            </a:solidFill>
          </p:spPr>
          <p:txBody>
            <a:bodyPr/>
            <a:lstStyle/>
            <a:p>
              <a:endParaRPr lang="es-MX"/>
            </a:p>
          </p:txBody>
        </p:sp>
        <p:sp>
          <p:nvSpPr>
            <p:cNvPr id="63" name="TextBox 63"/>
            <p:cNvSpPr txBox="1"/>
            <p:nvPr/>
          </p:nvSpPr>
          <p:spPr>
            <a:xfrm>
              <a:off x="0" y="174625"/>
              <a:ext cx="711200" cy="4349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44"/>
                </a:lnSpc>
              </a:pPr>
              <a:endParaRPr/>
            </a:p>
          </p:txBody>
        </p:sp>
      </p:grpSp>
      <p:grpSp>
        <p:nvGrpSpPr>
          <p:cNvPr id="64" name="Group 64"/>
          <p:cNvGrpSpPr/>
          <p:nvPr/>
        </p:nvGrpSpPr>
        <p:grpSpPr>
          <a:xfrm rot="6595662">
            <a:off x="2441769" y="7212567"/>
            <a:ext cx="494700" cy="494700"/>
            <a:chOff x="0" y="0"/>
            <a:chExt cx="812800" cy="812800"/>
          </a:xfrm>
        </p:grpSpPr>
        <p:sp>
          <p:nvSpPr>
            <p:cNvPr id="65" name="Freeform 65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812800" y="406400"/>
                  </a:moveTo>
                  <a:lnTo>
                    <a:pt x="406400" y="0"/>
                  </a:lnTo>
                  <a:lnTo>
                    <a:pt x="406400" y="203200"/>
                  </a:lnTo>
                  <a:lnTo>
                    <a:pt x="0" y="203200"/>
                  </a:lnTo>
                  <a:lnTo>
                    <a:pt x="0" y="609600"/>
                  </a:lnTo>
                  <a:lnTo>
                    <a:pt x="406400" y="609600"/>
                  </a:lnTo>
                  <a:lnTo>
                    <a:pt x="406400" y="812800"/>
                  </a:lnTo>
                  <a:lnTo>
                    <a:pt x="812800" y="406400"/>
                  </a:lnTo>
                  <a:close/>
                </a:path>
              </a:pathLst>
            </a:custGeom>
            <a:solidFill>
              <a:srgbClr val="FF5757"/>
            </a:solidFill>
          </p:spPr>
          <p:txBody>
            <a:bodyPr/>
            <a:lstStyle/>
            <a:p>
              <a:endParaRPr lang="es-MX"/>
            </a:p>
          </p:txBody>
        </p:sp>
        <p:sp>
          <p:nvSpPr>
            <p:cNvPr id="66" name="TextBox 66"/>
            <p:cNvSpPr txBox="1"/>
            <p:nvPr/>
          </p:nvSpPr>
          <p:spPr>
            <a:xfrm>
              <a:off x="0" y="174625"/>
              <a:ext cx="711200" cy="4349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44"/>
                </a:lnSpc>
              </a:pPr>
              <a:endParaRPr/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9518851"/>
            <a:ext cx="18288000" cy="863904"/>
            <a:chOff x="0" y="0"/>
            <a:chExt cx="6812038" cy="321793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6812038" cy="321793"/>
            </a:xfrm>
            <a:custGeom>
              <a:avLst/>
              <a:gdLst/>
              <a:ahLst/>
              <a:cxnLst/>
              <a:rect l="l" t="t" r="r" b="b"/>
              <a:pathLst>
                <a:path w="6812038" h="321793">
                  <a:moveTo>
                    <a:pt x="0" y="0"/>
                  </a:moveTo>
                  <a:lnTo>
                    <a:pt x="6812038" y="0"/>
                  </a:lnTo>
                  <a:lnTo>
                    <a:pt x="6812038" y="321793"/>
                  </a:lnTo>
                  <a:lnTo>
                    <a:pt x="0" y="321793"/>
                  </a:lnTo>
                  <a:close/>
                </a:path>
              </a:pathLst>
            </a:custGeom>
            <a:solidFill>
              <a:srgbClr val="262262"/>
            </a:solidFill>
          </p:spPr>
          <p:txBody>
            <a:bodyPr/>
            <a:lstStyle/>
            <a:p>
              <a:endParaRPr lang="es-MX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28575"/>
              <a:ext cx="6812038" cy="350368"/>
            </a:xfrm>
            <a:prstGeom prst="rect">
              <a:avLst/>
            </a:prstGeom>
          </p:spPr>
          <p:txBody>
            <a:bodyPr lIns="48876" tIns="48876" rIns="48876" bIns="48876" rtlCol="0" anchor="ctr"/>
            <a:lstStyle/>
            <a:p>
              <a:pPr algn="ctr">
                <a:lnSpc>
                  <a:spcPts val="2344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1098594" y="3084753"/>
            <a:ext cx="4359203" cy="5266516"/>
            <a:chOff x="0" y="0"/>
            <a:chExt cx="469441" cy="56715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469441" cy="567150"/>
            </a:xfrm>
            <a:custGeom>
              <a:avLst/>
              <a:gdLst/>
              <a:ahLst/>
              <a:cxnLst/>
              <a:rect l="l" t="t" r="r" b="b"/>
              <a:pathLst>
                <a:path w="469441" h="567150">
                  <a:moveTo>
                    <a:pt x="53280" y="0"/>
                  </a:moveTo>
                  <a:lnTo>
                    <a:pt x="416161" y="0"/>
                  </a:lnTo>
                  <a:cubicBezTo>
                    <a:pt x="445587" y="0"/>
                    <a:pt x="469441" y="23854"/>
                    <a:pt x="469441" y="53280"/>
                  </a:cubicBezTo>
                  <a:lnTo>
                    <a:pt x="469441" y="513870"/>
                  </a:lnTo>
                  <a:cubicBezTo>
                    <a:pt x="469441" y="543295"/>
                    <a:pt x="445587" y="567150"/>
                    <a:pt x="416161" y="567150"/>
                  </a:cubicBezTo>
                  <a:lnTo>
                    <a:pt x="53280" y="567150"/>
                  </a:lnTo>
                  <a:cubicBezTo>
                    <a:pt x="23854" y="567150"/>
                    <a:pt x="0" y="543295"/>
                    <a:pt x="0" y="513870"/>
                  </a:cubicBezTo>
                  <a:lnTo>
                    <a:pt x="0" y="53280"/>
                  </a:lnTo>
                  <a:cubicBezTo>
                    <a:pt x="0" y="23854"/>
                    <a:pt x="23854" y="0"/>
                    <a:pt x="53280" y="0"/>
                  </a:cubicBezTo>
                  <a:close/>
                </a:path>
              </a:pathLst>
            </a:custGeom>
            <a:solidFill>
              <a:srgbClr val="DDF4FF"/>
            </a:solidFill>
          </p:spPr>
          <p:txBody>
            <a:bodyPr/>
            <a:lstStyle/>
            <a:p>
              <a:endParaRPr lang="es-MX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28575"/>
              <a:ext cx="469441" cy="5957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44"/>
                </a:lnSpc>
              </a:pPr>
              <a:endParaRPr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1098594" y="3084753"/>
            <a:ext cx="4359203" cy="1193069"/>
            <a:chOff x="0" y="0"/>
            <a:chExt cx="1089298" cy="29813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1089298" cy="298130"/>
            </a:xfrm>
            <a:custGeom>
              <a:avLst/>
              <a:gdLst/>
              <a:ahLst/>
              <a:cxnLst/>
              <a:rect l="l" t="t" r="r" b="b"/>
              <a:pathLst>
                <a:path w="1089298" h="298130">
                  <a:moveTo>
                    <a:pt x="53280" y="0"/>
                  </a:moveTo>
                  <a:lnTo>
                    <a:pt x="1036019" y="0"/>
                  </a:lnTo>
                  <a:cubicBezTo>
                    <a:pt x="1065444" y="0"/>
                    <a:pt x="1089298" y="23854"/>
                    <a:pt x="1089298" y="53280"/>
                  </a:cubicBezTo>
                  <a:lnTo>
                    <a:pt x="1089298" y="244850"/>
                  </a:lnTo>
                  <a:cubicBezTo>
                    <a:pt x="1089298" y="274276"/>
                    <a:pt x="1065444" y="298130"/>
                    <a:pt x="1036019" y="298130"/>
                  </a:cubicBezTo>
                  <a:lnTo>
                    <a:pt x="53280" y="298130"/>
                  </a:lnTo>
                  <a:cubicBezTo>
                    <a:pt x="23854" y="298130"/>
                    <a:pt x="0" y="274276"/>
                    <a:pt x="0" y="244850"/>
                  </a:cubicBezTo>
                  <a:lnTo>
                    <a:pt x="0" y="53280"/>
                  </a:lnTo>
                  <a:cubicBezTo>
                    <a:pt x="0" y="23854"/>
                    <a:pt x="23854" y="0"/>
                    <a:pt x="53280" y="0"/>
                  </a:cubicBezTo>
                  <a:close/>
                </a:path>
              </a:pathLst>
            </a:custGeom>
            <a:solidFill>
              <a:srgbClr val="00C2FF"/>
            </a:solidFill>
          </p:spPr>
          <p:txBody>
            <a:bodyPr/>
            <a:lstStyle/>
            <a:p>
              <a:endParaRPr lang="es-MX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28575"/>
              <a:ext cx="1089298" cy="32670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just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6291836" y="3229167"/>
            <a:ext cx="4359203" cy="5266516"/>
            <a:chOff x="0" y="0"/>
            <a:chExt cx="469441" cy="56715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469441" cy="567150"/>
            </a:xfrm>
            <a:custGeom>
              <a:avLst/>
              <a:gdLst/>
              <a:ahLst/>
              <a:cxnLst/>
              <a:rect l="l" t="t" r="r" b="b"/>
              <a:pathLst>
                <a:path w="469441" h="567150">
                  <a:moveTo>
                    <a:pt x="53280" y="0"/>
                  </a:moveTo>
                  <a:lnTo>
                    <a:pt x="416161" y="0"/>
                  </a:lnTo>
                  <a:cubicBezTo>
                    <a:pt x="445587" y="0"/>
                    <a:pt x="469441" y="23854"/>
                    <a:pt x="469441" y="53280"/>
                  </a:cubicBezTo>
                  <a:lnTo>
                    <a:pt x="469441" y="513870"/>
                  </a:lnTo>
                  <a:cubicBezTo>
                    <a:pt x="469441" y="543295"/>
                    <a:pt x="445587" y="567150"/>
                    <a:pt x="416161" y="567150"/>
                  </a:cubicBezTo>
                  <a:lnTo>
                    <a:pt x="53280" y="567150"/>
                  </a:lnTo>
                  <a:cubicBezTo>
                    <a:pt x="23854" y="567150"/>
                    <a:pt x="0" y="543295"/>
                    <a:pt x="0" y="513870"/>
                  </a:cubicBezTo>
                  <a:lnTo>
                    <a:pt x="0" y="53280"/>
                  </a:lnTo>
                  <a:cubicBezTo>
                    <a:pt x="0" y="23854"/>
                    <a:pt x="23854" y="0"/>
                    <a:pt x="53280" y="0"/>
                  </a:cubicBezTo>
                  <a:close/>
                </a:path>
              </a:pathLst>
            </a:custGeom>
            <a:solidFill>
              <a:srgbClr val="DDF4FF"/>
            </a:solidFill>
          </p:spPr>
          <p:txBody>
            <a:bodyPr/>
            <a:lstStyle/>
            <a:p>
              <a:endParaRPr lang="es-MX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-28575"/>
              <a:ext cx="469441" cy="5957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44"/>
                </a:lnSpc>
              </a:pPr>
              <a:endParaRPr/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6290890" y="3084753"/>
            <a:ext cx="4359203" cy="1193069"/>
            <a:chOff x="0" y="0"/>
            <a:chExt cx="1089298" cy="298130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1089298" cy="298130"/>
            </a:xfrm>
            <a:custGeom>
              <a:avLst/>
              <a:gdLst/>
              <a:ahLst/>
              <a:cxnLst/>
              <a:rect l="l" t="t" r="r" b="b"/>
              <a:pathLst>
                <a:path w="1089298" h="298130">
                  <a:moveTo>
                    <a:pt x="53280" y="0"/>
                  </a:moveTo>
                  <a:lnTo>
                    <a:pt x="1036019" y="0"/>
                  </a:lnTo>
                  <a:cubicBezTo>
                    <a:pt x="1065444" y="0"/>
                    <a:pt x="1089298" y="23854"/>
                    <a:pt x="1089298" y="53280"/>
                  </a:cubicBezTo>
                  <a:lnTo>
                    <a:pt x="1089298" y="244850"/>
                  </a:lnTo>
                  <a:cubicBezTo>
                    <a:pt x="1089298" y="274276"/>
                    <a:pt x="1065444" y="298130"/>
                    <a:pt x="1036019" y="298130"/>
                  </a:cubicBezTo>
                  <a:lnTo>
                    <a:pt x="53280" y="298130"/>
                  </a:lnTo>
                  <a:cubicBezTo>
                    <a:pt x="23854" y="298130"/>
                    <a:pt x="0" y="274276"/>
                    <a:pt x="0" y="244850"/>
                  </a:cubicBezTo>
                  <a:lnTo>
                    <a:pt x="0" y="53280"/>
                  </a:lnTo>
                  <a:cubicBezTo>
                    <a:pt x="0" y="23854"/>
                    <a:pt x="23854" y="0"/>
                    <a:pt x="53280" y="0"/>
                  </a:cubicBezTo>
                  <a:close/>
                </a:path>
              </a:pathLst>
            </a:custGeom>
            <a:solidFill>
              <a:srgbClr val="00C2FF"/>
            </a:solidFill>
          </p:spPr>
          <p:txBody>
            <a:bodyPr/>
            <a:lstStyle/>
            <a:p>
              <a:endParaRPr lang="es-MX"/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0" y="-28575"/>
              <a:ext cx="1089298" cy="32670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just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11484133" y="3167647"/>
            <a:ext cx="5705273" cy="5266516"/>
            <a:chOff x="0" y="0"/>
            <a:chExt cx="614399" cy="567150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614399" cy="567150"/>
            </a:xfrm>
            <a:custGeom>
              <a:avLst/>
              <a:gdLst/>
              <a:ahLst/>
              <a:cxnLst/>
              <a:rect l="l" t="t" r="r" b="b"/>
              <a:pathLst>
                <a:path w="614399" h="567150">
                  <a:moveTo>
                    <a:pt x="40709" y="0"/>
                  </a:moveTo>
                  <a:lnTo>
                    <a:pt x="573690" y="0"/>
                  </a:lnTo>
                  <a:cubicBezTo>
                    <a:pt x="584487" y="0"/>
                    <a:pt x="594841" y="4289"/>
                    <a:pt x="602476" y="11923"/>
                  </a:cubicBezTo>
                  <a:cubicBezTo>
                    <a:pt x="610110" y="19558"/>
                    <a:pt x="614399" y="29913"/>
                    <a:pt x="614399" y="40709"/>
                  </a:cubicBezTo>
                  <a:lnTo>
                    <a:pt x="614399" y="526440"/>
                  </a:lnTo>
                  <a:cubicBezTo>
                    <a:pt x="614399" y="537237"/>
                    <a:pt x="610110" y="547592"/>
                    <a:pt x="602476" y="555226"/>
                  </a:cubicBezTo>
                  <a:cubicBezTo>
                    <a:pt x="594841" y="562861"/>
                    <a:pt x="584487" y="567150"/>
                    <a:pt x="573690" y="567150"/>
                  </a:cubicBezTo>
                  <a:lnTo>
                    <a:pt x="40709" y="567150"/>
                  </a:lnTo>
                  <a:cubicBezTo>
                    <a:pt x="29913" y="567150"/>
                    <a:pt x="19558" y="562861"/>
                    <a:pt x="11923" y="555226"/>
                  </a:cubicBezTo>
                  <a:cubicBezTo>
                    <a:pt x="4289" y="547592"/>
                    <a:pt x="0" y="537237"/>
                    <a:pt x="0" y="526440"/>
                  </a:cubicBezTo>
                  <a:lnTo>
                    <a:pt x="0" y="40709"/>
                  </a:lnTo>
                  <a:cubicBezTo>
                    <a:pt x="0" y="29913"/>
                    <a:pt x="4289" y="19558"/>
                    <a:pt x="11923" y="11923"/>
                  </a:cubicBezTo>
                  <a:cubicBezTo>
                    <a:pt x="19558" y="4289"/>
                    <a:pt x="29913" y="0"/>
                    <a:pt x="40709" y="0"/>
                  </a:cubicBezTo>
                  <a:close/>
                </a:path>
              </a:pathLst>
            </a:custGeom>
            <a:solidFill>
              <a:srgbClr val="DDF4FF"/>
            </a:solidFill>
          </p:spPr>
          <p:txBody>
            <a:bodyPr/>
            <a:lstStyle/>
            <a:p>
              <a:endParaRPr lang="es-MX"/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0" y="-28575"/>
              <a:ext cx="614399" cy="5957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44"/>
                </a:lnSpc>
              </a:pPr>
              <a:endParaRPr/>
            </a:p>
          </p:txBody>
        </p:sp>
      </p:grpSp>
      <p:grpSp>
        <p:nvGrpSpPr>
          <p:cNvPr id="20" name="Group 20"/>
          <p:cNvGrpSpPr/>
          <p:nvPr/>
        </p:nvGrpSpPr>
        <p:grpSpPr>
          <a:xfrm>
            <a:off x="11484133" y="3012546"/>
            <a:ext cx="5705273" cy="1011825"/>
            <a:chOff x="0" y="0"/>
            <a:chExt cx="1425661" cy="252840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1425661" cy="252840"/>
            </a:xfrm>
            <a:custGeom>
              <a:avLst/>
              <a:gdLst/>
              <a:ahLst/>
              <a:cxnLst/>
              <a:rect l="l" t="t" r="r" b="b"/>
              <a:pathLst>
                <a:path w="1425661" h="252840">
                  <a:moveTo>
                    <a:pt x="40709" y="0"/>
                  </a:moveTo>
                  <a:lnTo>
                    <a:pt x="1384952" y="0"/>
                  </a:lnTo>
                  <a:cubicBezTo>
                    <a:pt x="1407435" y="0"/>
                    <a:pt x="1425661" y="18226"/>
                    <a:pt x="1425661" y="40709"/>
                  </a:cubicBezTo>
                  <a:lnTo>
                    <a:pt x="1425661" y="212130"/>
                  </a:lnTo>
                  <a:cubicBezTo>
                    <a:pt x="1425661" y="222927"/>
                    <a:pt x="1421372" y="233282"/>
                    <a:pt x="1413737" y="240916"/>
                  </a:cubicBezTo>
                  <a:cubicBezTo>
                    <a:pt x="1406103" y="248551"/>
                    <a:pt x="1395748" y="252840"/>
                    <a:pt x="1384952" y="252840"/>
                  </a:cubicBezTo>
                  <a:lnTo>
                    <a:pt x="40709" y="252840"/>
                  </a:lnTo>
                  <a:cubicBezTo>
                    <a:pt x="29913" y="252840"/>
                    <a:pt x="19558" y="248551"/>
                    <a:pt x="11923" y="240916"/>
                  </a:cubicBezTo>
                  <a:cubicBezTo>
                    <a:pt x="4289" y="233282"/>
                    <a:pt x="0" y="222927"/>
                    <a:pt x="0" y="212130"/>
                  </a:cubicBezTo>
                  <a:lnTo>
                    <a:pt x="0" y="40709"/>
                  </a:lnTo>
                  <a:cubicBezTo>
                    <a:pt x="0" y="29913"/>
                    <a:pt x="4289" y="19558"/>
                    <a:pt x="11923" y="11923"/>
                  </a:cubicBezTo>
                  <a:cubicBezTo>
                    <a:pt x="19558" y="4289"/>
                    <a:pt x="29913" y="0"/>
                    <a:pt x="40709" y="0"/>
                  </a:cubicBezTo>
                  <a:close/>
                </a:path>
              </a:pathLst>
            </a:custGeom>
            <a:solidFill>
              <a:srgbClr val="00C2FF"/>
            </a:solidFill>
          </p:spPr>
          <p:txBody>
            <a:bodyPr/>
            <a:lstStyle/>
            <a:p>
              <a:endParaRPr lang="es-MX"/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0" y="-28575"/>
              <a:ext cx="1425661" cy="28141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just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23" name="Group 23"/>
          <p:cNvGrpSpPr/>
          <p:nvPr/>
        </p:nvGrpSpPr>
        <p:grpSpPr>
          <a:xfrm rot="5400000">
            <a:off x="3056472" y="6522052"/>
            <a:ext cx="443447" cy="443447"/>
            <a:chOff x="0" y="0"/>
            <a:chExt cx="812800" cy="812800"/>
          </a:xfrm>
        </p:grpSpPr>
        <p:sp>
          <p:nvSpPr>
            <p:cNvPr id="24" name="Freeform 24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812800" y="406400"/>
                  </a:moveTo>
                  <a:lnTo>
                    <a:pt x="406400" y="0"/>
                  </a:lnTo>
                  <a:lnTo>
                    <a:pt x="406400" y="203200"/>
                  </a:lnTo>
                  <a:lnTo>
                    <a:pt x="0" y="203200"/>
                  </a:lnTo>
                  <a:lnTo>
                    <a:pt x="0" y="609600"/>
                  </a:lnTo>
                  <a:lnTo>
                    <a:pt x="406400" y="609600"/>
                  </a:lnTo>
                  <a:lnTo>
                    <a:pt x="406400" y="812800"/>
                  </a:lnTo>
                  <a:lnTo>
                    <a:pt x="812800" y="40640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es-MX"/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0" y="174625"/>
              <a:ext cx="711200" cy="4349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44"/>
                </a:lnSpc>
              </a:pPr>
              <a:endParaRPr/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3320411" y="870239"/>
            <a:ext cx="11647178" cy="11207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1" indent="0" algn="ctr">
              <a:lnSpc>
                <a:spcPts val="8499"/>
              </a:lnSpc>
              <a:spcBef>
                <a:spcPct val="0"/>
              </a:spcBef>
            </a:pPr>
            <a:r>
              <a:rPr lang="en-US" sz="8499" b="1" spc="441">
                <a:solidFill>
                  <a:srgbClr val="4263EB"/>
                </a:solidFill>
                <a:latin typeface="Inter Bold"/>
                <a:ea typeface="Inter Bold"/>
                <a:cs typeface="Inter Bold"/>
                <a:sym typeface="Inter Bold"/>
              </a:rPr>
              <a:t>O</a:t>
            </a:r>
            <a:r>
              <a:rPr lang="en-US" sz="8499" b="1" u="none" strike="noStrike" spc="441">
                <a:solidFill>
                  <a:srgbClr val="4263EB"/>
                </a:solidFill>
                <a:latin typeface="Inter Bold"/>
                <a:ea typeface="Inter Bold"/>
                <a:cs typeface="Inter Bold"/>
                <a:sym typeface="Inter Bold"/>
              </a:rPr>
              <a:t>ptimized code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611168" y="3332673"/>
            <a:ext cx="3334055" cy="7639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79"/>
              </a:lnSpc>
            </a:pPr>
            <a:r>
              <a:rPr lang="en-US" sz="3000" b="1" spc="333">
                <a:solidFill>
                  <a:srgbClr val="262262"/>
                </a:solidFill>
                <a:latin typeface="Helios Bold"/>
                <a:ea typeface="Helios Bold"/>
                <a:cs typeface="Helios Bold"/>
                <a:sym typeface="Helios Bold"/>
              </a:rPr>
              <a:t>Constant Folding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1334108" y="4639773"/>
            <a:ext cx="3869124" cy="8343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9"/>
              </a:lnSpc>
            </a:pPr>
            <a:r>
              <a:rPr lang="en-US" sz="2400">
                <a:solidFill>
                  <a:srgbClr val="262262"/>
                </a:solidFill>
                <a:latin typeface="Helios"/>
                <a:ea typeface="Helios"/>
                <a:cs typeface="Helios"/>
                <a:sym typeface="Helios"/>
              </a:rPr>
              <a:t>Mathematical precalculation at compile time.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6803464" y="3332673"/>
            <a:ext cx="3334055" cy="7639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79"/>
              </a:lnSpc>
            </a:pPr>
            <a:r>
              <a:rPr lang="en-US" sz="3000" b="1" spc="333">
                <a:solidFill>
                  <a:srgbClr val="262262"/>
                </a:solidFill>
                <a:latin typeface="Helios Bold"/>
                <a:ea typeface="Helios Bold"/>
                <a:cs typeface="Helios Bold"/>
                <a:sym typeface="Helios Bold"/>
              </a:rPr>
              <a:t>Algebraic simplification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6684393" y="4547415"/>
            <a:ext cx="3572197" cy="8343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9"/>
              </a:lnSpc>
            </a:pPr>
            <a:r>
              <a:rPr lang="en-US" sz="2400">
                <a:solidFill>
                  <a:srgbClr val="262262"/>
                </a:solidFill>
                <a:latin typeface="Helios"/>
                <a:ea typeface="Helios"/>
                <a:cs typeface="Helios"/>
                <a:sym typeface="Helios"/>
              </a:rPr>
              <a:t>Elimination of logical redundancies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12667869" y="3354629"/>
            <a:ext cx="3334055" cy="3943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79"/>
              </a:lnSpc>
            </a:pPr>
            <a:r>
              <a:rPr lang="en-US" sz="3000" b="1" spc="333">
                <a:solidFill>
                  <a:srgbClr val="262262"/>
                </a:solidFill>
                <a:latin typeface="Helios Bold"/>
                <a:ea typeface="Helios Bold"/>
                <a:cs typeface="Helios Bold"/>
                <a:sym typeface="Helios Bold"/>
              </a:rPr>
              <a:t>Loop Unrolling 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11768405" y="4189275"/>
            <a:ext cx="5136728" cy="4152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9"/>
              </a:lnSpc>
            </a:pPr>
            <a:r>
              <a:rPr lang="en-US" sz="2400">
                <a:solidFill>
                  <a:srgbClr val="262262"/>
                </a:solidFill>
                <a:latin typeface="Helios"/>
                <a:ea typeface="Helios"/>
                <a:cs typeface="Helios"/>
                <a:sym typeface="Helios"/>
              </a:rPr>
              <a:t>Cycle acceleration with fixed limits.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1492097" y="5829480"/>
            <a:ext cx="3572197" cy="4152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1" indent="0" algn="ctr">
              <a:lnSpc>
                <a:spcPts val="3359"/>
              </a:lnSpc>
              <a:spcBef>
                <a:spcPct val="0"/>
              </a:spcBef>
            </a:pPr>
            <a:r>
              <a:rPr lang="en-US" sz="2400" u="none" strike="noStrike">
                <a:solidFill>
                  <a:srgbClr val="FF0000"/>
                </a:solidFill>
                <a:latin typeface="Helios"/>
                <a:ea typeface="Helios"/>
                <a:cs typeface="Helios"/>
                <a:sym typeface="Helios"/>
              </a:rPr>
              <a:t>x = 10 * 2 + 2 + 8 + x 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1492097" y="7128481"/>
            <a:ext cx="3572197" cy="4152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1" indent="0" algn="ctr">
              <a:lnSpc>
                <a:spcPts val="3359"/>
              </a:lnSpc>
              <a:spcBef>
                <a:spcPct val="0"/>
              </a:spcBef>
            </a:pPr>
            <a:r>
              <a:rPr lang="en-US" sz="2400" u="none" strike="noStrike">
                <a:solidFill>
                  <a:srgbClr val="00753D"/>
                </a:solidFill>
                <a:latin typeface="Helios"/>
                <a:ea typeface="Helios"/>
                <a:cs typeface="Helios"/>
                <a:sym typeface="Helios"/>
              </a:rPr>
              <a:t>x = 30 + x</a:t>
            </a:r>
          </a:p>
        </p:txBody>
      </p:sp>
      <p:grpSp>
        <p:nvGrpSpPr>
          <p:cNvPr id="35" name="Group 35"/>
          <p:cNvGrpSpPr/>
          <p:nvPr/>
        </p:nvGrpSpPr>
        <p:grpSpPr>
          <a:xfrm>
            <a:off x="8403820" y="5810430"/>
            <a:ext cx="443447" cy="443447"/>
            <a:chOff x="0" y="0"/>
            <a:chExt cx="812800" cy="812800"/>
          </a:xfrm>
        </p:grpSpPr>
        <p:sp>
          <p:nvSpPr>
            <p:cNvPr id="36" name="Freeform 36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812800" y="406400"/>
                  </a:moveTo>
                  <a:lnTo>
                    <a:pt x="406400" y="0"/>
                  </a:lnTo>
                  <a:lnTo>
                    <a:pt x="406400" y="203200"/>
                  </a:lnTo>
                  <a:lnTo>
                    <a:pt x="0" y="203200"/>
                  </a:lnTo>
                  <a:lnTo>
                    <a:pt x="0" y="609600"/>
                  </a:lnTo>
                  <a:lnTo>
                    <a:pt x="406400" y="609600"/>
                  </a:lnTo>
                  <a:lnTo>
                    <a:pt x="406400" y="812800"/>
                  </a:lnTo>
                  <a:lnTo>
                    <a:pt x="812800" y="40640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es-MX"/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0" y="174625"/>
              <a:ext cx="711200" cy="4349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44"/>
                </a:lnSpc>
              </a:pPr>
              <a:endParaRPr/>
            </a:p>
          </p:txBody>
        </p:sp>
      </p:grpSp>
      <p:sp>
        <p:nvSpPr>
          <p:cNvPr id="38" name="TextBox 38"/>
          <p:cNvSpPr txBox="1"/>
          <p:nvPr/>
        </p:nvSpPr>
        <p:spPr>
          <a:xfrm>
            <a:off x="6686285" y="5753280"/>
            <a:ext cx="1564375" cy="4152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1" indent="0" algn="ctr">
              <a:lnSpc>
                <a:spcPts val="3359"/>
              </a:lnSpc>
              <a:spcBef>
                <a:spcPct val="0"/>
              </a:spcBef>
            </a:pPr>
            <a:r>
              <a:rPr lang="en-US" sz="2400" u="none" strike="noStrike">
                <a:solidFill>
                  <a:srgbClr val="FF0000"/>
                </a:solidFill>
                <a:latin typeface="Helios"/>
                <a:ea typeface="Helios"/>
                <a:cs typeface="Helios"/>
                <a:sym typeface="Helios"/>
              </a:rPr>
              <a:t>x = y * 0 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9000426" y="5753280"/>
            <a:ext cx="1256164" cy="4152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1" indent="0" algn="ctr">
              <a:lnSpc>
                <a:spcPts val="3359"/>
              </a:lnSpc>
              <a:spcBef>
                <a:spcPct val="0"/>
              </a:spcBef>
            </a:pPr>
            <a:r>
              <a:rPr lang="en-US" sz="2400" u="none" strike="noStrike">
                <a:solidFill>
                  <a:srgbClr val="00753D"/>
                </a:solidFill>
                <a:latin typeface="Helios"/>
                <a:ea typeface="Helios"/>
                <a:cs typeface="Helios"/>
                <a:sym typeface="Helios"/>
              </a:rPr>
              <a:t>x = 0 </a:t>
            </a:r>
          </a:p>
        </p:txBody>
      </p:sp>
      <p:grpSp>
        <p:nvGrpSpPr>
          <p:cNvPr id="40" name="Group 40"/>
          <p:cNvGrpSpPr/>
          <p:nvPr/>
        </p:nvGrpSpPr>
        <p:grpSpPr>
          <a:xfrm>
            <a:off x="8401928" y="6592015"/>
            <a:ext cx="443447" cy="443447"/>
            <a:chOff x="0" y="0"/>
            <a:chExt cx="812800" cy="812800"/>
          </a:xfrm>
        </p:grpSpPr>
        <p:sp>
          <p:nvSpPr>
            <p:cNvPr id="41" name="Freeform 41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812800" y="406400"/>
                  </a:moveTo>
                  <a:lnTo>
                    <a:pt x="406400" y="0"/>
                  </a:lnTo>
                  <a:lnTo>
                    <a:pt x="406400" y="203200"/>
                  </a:lnTo>
                  <a:lnTo>
                    <a:pt x="0" y="203200"/>
                  </a:lnTo>
                  <a:lnTo>
                    <a:pt x="0" y="609600"/>
                  </a:lnTo>
                  <a:lnTo>
                    <a:pt x="406400" y="609600"/>
                  </a:lnTo>
                  <a:lnTo>
                    <a:pt x="406400" y="812800"/>
                  </a:lnTo>
                  <a:lnTo>
                    <a:pt x="812800" y="40640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es-MX"/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0" y="174625"/>
              <a:ext cx="711200" cy="4349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44"/>
                </a:lnSpc>
              </a:pPr>
              <a:endParaRPr/>
            </a:p>
          </p:txBody>
        </p:sp>
      </p:grpSp>
      <p:sp>
        <p:nvSpPr>
          <p:cNvPr id="43" name="TextBox 43"/>
          <p:cNvSpPr txBox="1"/>
          <p:nvPr/>
        </p:nvSpPr>
        <p:spPr>
          <a:xfrm>
            <a:off x="6684393" y="6534865"/>
            <a:ext cx="1564375" cy="4152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1" indent="0" algn="ctr">
              <a:lnSpc>
                <a:spcPts val="3359"/>
              </a:lnSpc>
              <a:spcBef>
                <a:spcPct val="0"/>
              </a:spcBef>
            </a:pPr>
            <a:r>
              <a:rPr lang="en-US" sz="2400" u="none" strike="noStrike">
                <a:solidFill>
                  <a:srgbClr val="FF0000"/>
                </a:solidFill>
                <a:latin typeface="Helios"/>
                <a:ea typeface="Helios"/>
                <a:cs typeface="Helios"/>
                <a:sym typeface="Helios"/>
              </a:rPr>
              <a:t>x = y + 0 </a:t>
            </a:r>
          </a:p>
        </p:txBody>
      </p:sp>
      <p:sp>
        <p:nvSpPr>
          <p:cNvPr id="44" name="TextBox 44"/>
          <p:cNvSpPr txBox="1"/>
          <p:nvPr/>
        </p:nvSpPr>
        <p:spPr>
          <a:xfrm>
            <a:off x="8998535" y="6534865"/>
            <a:ext cx="1256164" cy="4152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1" indent="0" algn="ctr">
              <a:lnSpc>
                <a:spcPts val="3359"/>
              </a:lnSpc>
              <a:spcBef>
                <a:spcPct val="0"/>
              </a:spcBef>
            </a:pPr>
            <a:r>
              <a:rPr lang="en-US" sz="2400" u="none" strike="noStrike">
                <a:solidFill>
                  <a:srgbClr val="00753D"/>
                </a:solidFill>
                <a:latin typeface="Helios"/>
                <a:ea typeface="Helios"/>
                <a:cs typeface="Helios"/>
                <a:sym typeface="Helios"/>
              </a:rPr>
              <a:t>x = y</a:t>
            </a:r>
          </a:p>
        </p:txBody>
      </p:sp>
      <p:grpSp>
        <p:nvGrpSpPr>
          <p:cNvPr id="45" name="Group 45"/>
          <p:cNvGrpSpPr/>
          <p:nvPr/>
        </p:nvGrpSpPr>
        <p:grpSpPr>
          <a:xfrm>
            <a:off x="8401928" y="7373599"/>
            <a:ext cx="443447" cy="443447"/>
            <a:chOff x="0" y="0"/>
            <a:chExt cx="812800" cy="812800"/>
          </a:xfrm>
        </p:grpSpPr>
        <p:sp>
          <p:nvSpPr>
            <p:cNvPr id="46" name="Freeform 46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812800" y="406400"/>
                  </a:moveTo>
                  <a:lnTo>
                    <a:pt x="406400" y="0"/>
                  </a:lnTo>
                  <a:lnTo>
                    <a:pt x="406400" y="203200"/>
                  </a:lnTo>
                  <a:lnTo>
                    <a:pt x="0" y="203200"/>
                  </a:lnTo>
                  <a:lnTo>
                    <a:pt x="0" y="609600"/>
                  </a:lnTo>
                  <a:lnTo>
                    <a:pt x="406400" y="609600"/>
                  </a:lnTo>
                  <a:lnTo>
                    <a:pt x="406400" y="812800"/>
                  </a:lnTo>
                  <a:lnTo>
                    <a:pt x="812800" y="40640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es-MX"/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0" y="174625"/>
              <a:ext cx="711200" cy="4349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44"/>
                </a:lnSpc>
              </a:pPr>
              <a:endParaRPr/>
            </a:p>
          </p:txBody>
        </p:sp>
      </p:grpSp>
      <p:sp>
        <p:nvSpPr>
          <p:cNvPr id="48" name="TextBox 48"/>
          <p:cNvSpPr txBox="1"/>
          <p:nvPr/>
        </p:nvSpPr>
        <p:spPr>
          <a:xfrm>
            <a:off x="6684393" y="7316449"/>
            <a:ext cx="1564375" cy="4152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1" indent="0" algn="ctr">
              <a:lnSpc>
                <a:spcPts val="3359"/>
              </a:lnSpc>
              <a:spcBef>
                <a:spcPct val="0"/>
              </a:spcBef>
            </a:pPr>
            <a:r>
              <a:rPr lang="en-US" sz="2400" u="none" strike="noStrike">
                <a:solidFill>
                  <a:srgbClr val="FF0000"/>
                </a:solidFill>
                <a:latin typeface="Helios"/>
                <a:ea typeface="Helios"/>
                <a:cs typeface="Helios"/>
                <a:sym typeface="Helios"/>
              </a:rPr>
              <a:t>x = y * 1</a:t>
            </a:r>
          </a:p>
        </p:txBody>
      </p:sp>
      <p:sp>
        <p:nvSpPr>
          <p:cNvPr id="49" name="TextBox 49"/>
          <p:cNvSpPr txBox="1"/>
          <p:nvPr/>
        </p:nvSpPr>
        <p:spPr>
          <a:xfrm>
            <a:off x="8998535" y="7316449"/>
            <a:ext cx="1256164" cy="4152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1" indent="0" algn="ctr">
              <a:lnSpc>
                <a:spcPts val="3359"/>
              </a:lnSpc>
              <a:spcBef>
                <a:spcPct val="0"/>
              </a:spcBef>
            </a:pPr>
            <a:r>
              <a:rPr lang="en-US" sz="2400" u="none" strike="noStrike">
                <a:solidFill>
                  <a:srgbClr val="00753D"/>
                </a:solidFill>
                <a:latin typeface="Helios"/>
                <a:ea typeface="Helios"/>
                <a:cs typeface="Helios"/>
                <a:sym typeface="Helios"/>
              </a:rPr>
              <a:t>x = y</a:t>
            </a:r>
          </a:p>
        </p:txBody>
      </p:sp>
      <p:sp>
        <p:nvSpPr>
          <p:cNvPr id="50" name="TextBox 50"/>
          <p:cNvSpPr txBox="1"/>
          <p:nvPr/>
        </p:nvSpPr>
        <p:spPr>
          <a:xfrm>
            <a:off x="12672720" y="4830613"/>
            <a:ext cx="3331077" cy="12534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1" indent="0" algn="just">
              <a:lnSpc>
                <a:spcPts val="3359"/>
              </a:lnSpc>
              <a:spcBef>
                <a:spcPct val="0"/>
              </a:spcBef>
            </a:pPr>
            <a:r>
              <a:rPr lang="en-US" sz="2400" u="none" strike="noStrike">
                <a:solidFill>
                  <a:srgbClr val="FF0000"/>
                </a:solidFill>
                <a:latin typeface="Helios"/>
                <a:ea typeface="Helios"/>
                <a:cs typeface="Helios"/>
                <a:sym typeface="Helios"/>
              </a:rPr>
              <a:t>for(int i = 0; i &lt; 3; i++) {</a:t>
            </a:r>
          </a:p>
          <a:p>
            <a:pPr marL="0" lvl="1" indent="0" algn="just">
              <a:lnSpc>
                <a:spcPts val="3359"/>
              </a:lnSpc>
              <a:spcBef>
                <a:spcPct val="0"/>
              </a:spcBef>
            </a:pPr>
            <a:r>
              <a:rPr lang="en-US" sz="2400" u="none" strike="noStrike">
                <a:solidFill>
                  <a:srgbClr val="FF0000"/>
                </a:solidFill>
                <a:latin typeface="Helios"/>
                <a:ea typeface="Helios"/>
                <a:cs typeface="Helios"/>
                <a:sym typeface="Helios"/>
              </a:rPr>
              <a:t>     printf("i: %d\n", i);</a:t>
            </a:r>
          </a:p>
          <a:p>
            <a:pPr marL="0" lvl="1" indent="0" algn="just">
              <a:lnSpc>
                <a:spcPts val="3359"/>
              </a:lnSpc>
              <a:spcBef>
                <a:spcPct val="0"/>
              </a:spcBef>
            </a:pPr>
            <a:r>
              <a:rPr lang="en-US" sz="2400" u="none" strike="noStrike">
                <a:solidFill>
                  <a:srgbClr val="FF0000"/>
                </a:solidFill>
                <a:latin typeface="Helios"/>
                <a:ea typeface="Helios"/>
                <a:cs typeface="Helios"/>
                <a:sym typeface="Helios"/>
              </a:rPr>
              <a:t>}</a:t>
            </a:r>
          </a:p>
        </p:txBody>
      </p:sp>
      <p:sp>
        <p:nvSpPr>
          <p:cNvPr id="51" name="TextBox 51"/>
          <p:cNvSpPr txBox="1"/>
          <p:nvPr/>
        </p:nvSpPr>
        <p:spPr>
          <a:xfrm>
            <a:off x="12979544" y="6764364"/>
            <a:ext cx="2717427" cy="12534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1" indent="0" algn="just">
              <a:lnSpc>
                <a:spcPts val="3359"/>
              </a:lnSpc>
              <a:spcBef>
                <a:spcPct val="0"/>
              </a:spcBef>
            </a:pPr>
            <a:r>
              <a:rPr lang="en-US" sz="2400" u="none" strike="noStrike">
                <a:solidFill>
                  <a:srgbClr val="00753D"/>
                </a:solidFill>
                <a:latin typeface="Helios"/>
                <a:ea typeface="Helios"/>
                <a:cs typeface="Helios"/>
                <a:sym typeface="Helios"/>
              </a:rPr>
              <a:t>printf("i: %d\n", 0); </a:t>
            </a:r>
          </a:p>
          <a:p>
            <a:pPr marL="0" lvl="1" indent="0" algn="just">
              <a:lnSpc>
                <a:spcPts val="3359"/>
              </a:lnSpc>
              <a:spcBef>
                <a:spcPct val="0"/>
              </a:spcBef>
            </a:pPr>
            <a:r>
              <a:rPr lang="en-US" sz="2400" u="none" strike="noStrike">
                <a:solidFill>
                  <a:srgbClr val="00753D"/>
                </a:solidFill>
                <a:latin typeface="Helios"/>
                <a:ea typeface="Helios"/>
                <a:cs typeface="Helios"/>
                <a:sym typeface="Helios"/>
              </a:rPr>
              <a:t>printf("i: %d\n", 1); </a:t>
            </a:r>
          </a:p>
          <a:p>
            <a:pPr marL="0" lvl="1" indent="0" algn="just">
              <a:lnSpc>
                <a:spcPts val="3359"/>
              </a:lnSpc>
              <a:spcBef>
                <a:spcPct val="0"/>
              </a:spcBef>
            </a:pPr>
            <a:r>
              <a:rPr lang="en-US" sz="2400" u="none" strike="noStrike">
                <a:solidFill>
                  <a:srgbClr val="00753D"/>
                </a:solidFill>
                <a:latin typeface="Helios"/>
                <a:ea typeface="Helios"/>
                <a:cs typeface="Helios"/>
                <a:sym typeface="Helios"/>
              </a:rPr>
              <a:t>printf("i: %d\n", 2);</a:t>
            </a:r>
          </a:p>
        </p:txBody>
      </p:sp>
      <p:grpSp>
        <p:nvGrpSpPr>
          <p:cNvPr id="52" name="Group 52"/>
          <p:cNvGrpSpPr/>
          <p:nvPr/>
        </p:nvGrpSpPr>
        <p:grpSpPr>
          <a:xfrm rot="5400000">
            <a:off x="14113173" y="6036478"/>
            <a:ext cx="443447" cy="443447"/>
            <a:chOff x="0" y="0"/>
            <a:chExt cx="812800" cy="812800"/>
          </a:xfrm>
        </p:grpSpPr>
        <p:sp>
          <p:nvSpPr>
            <p:cNvPr id="53" name="Freeform 53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812800" y="406400"/>
                  </a:moveTo>
                  <a:lnTo>
                    <a:pt x="406400" y="0"/>
                  </a:lnTo>
                  <a:lnTo>
                    <a:pt x="406400" y="203200"/>
                  </a:lnTo>
                  <a:lnTo>
                    <a:pt x="0" y="203200"/>
                  </a:lnTo>
                  <a:lnTo>
                    <a:pt x="0" y="609600"/>
                  </a:lnTo>
                  <a:lnTo>
                    <a:pt x="406400" y="609600"/>
                  </a:lnTo>
                  <a:lnTo>
                    <a:pt x="406400" y="812800"/>
                  </a:lnTo>
                  <a:lnTo>
                    <a:pt x="812800" y="40640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es-MX"/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0" y="174625"/>
              <a:ext cx="711200" cy="4349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44"/>
                </a:lnSpc>
              </a:pPr>
              <a:endParaRPr/>
            </a:p>
          </p:txBody>
        </p:sp>
      </p:grpSp>
      <p:grpSp>
        <p:nvGrpSpPr>
          <p:cNvPr id="55" name="Group 55"/>
          <p:cNvGrpSpPr/>
          <p:nvPr/>
        </p:nvGrpSpPr>
        <p:grpSpPr>
          <a:xfrm rot="-5400000">
            <a:off x="-206296" y="-840617"/>
            <a:ext cx="4202335" cy="3789742"/>
            <a:chOff x="0" y="0"/>
            <a:chExt cx="5603113" cy="5052990"/>
          </a:xfrm>
        </p:grpSpPr>
        <p:sp>
          <p:nvSpPr>
            <p:cNvPr id="56" name="Freeform 56"/>
            <p:cNvSpPr/>
            <p:nvPr/>
          </p:nvSpPr>
          <p:spPr>
            <a:xfrm rot="-10800000">
              <a:off x="0" y="0"/>
              <a:ext cx="5603113" cy="5052990"/>
            </a:xfrm>
            <a:custGeom>
              <a:avLst/>
              <a:gdLst/>
              <a:ahLst/>
              <a:cxnLst/>
              <a:rect l="l" t="t" r="r" b="b"/>
              <a:pathLst>
                <a:path w="5603113" h="5052990">
                  <a:moveTo>
                    <a:pt x="0" y="0"/>
                  </a:moveTo>
                  <a:lnTo>
                    <a:pt x="5603113" y="0"/>
                  </a:lnTo>
                  <a:lnTo>
                    <a:pt x="5603113" y="5052990"/>
                  </a:lnTo>
                  <a:lnTo>
                    <a:pt x="0" y="505299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MX"/>
            </a:p>
          </p:txBody>
        </p:sp>
        <p:sp>
          <p:nvSpPr>
            <p:cNvPr id="57" name="AutoShape 57"/>
            <p:cNvSpPr/>
            <p:nvPr/>
          </p:nvSpPr>
          <p:spPr>
            <a:xfrm>
              <a:off x="2044058" y="105097"/>
              <a:ext cx="2683460" cy="2683460"/>
            </a:xfrm>
            <a:prstGeom prst="line">
              <a:avLst/>
            </a:prstGeom>
            <a:ln w="50729" cap="flat">
              <a:solidFill>
                <a:srgbClr val="F4F5F6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s-MX"/>
            </a:p>
          </p:txBody>
        </p:sp>
        <p:sp>
          <p:nvSpPr>
            <p:cNvPr id="58" name="AutoShape 58"/>
            <p:cNvSpPr/>
            <p:nvPr/>
          </p:nvSpPr>
          <p:spPr>
            <a:xfrm>
              <a:off x="675896" y="105097"/>
              <a:ext cx="1374458" cy="1374458"/>
            </a:xfrm>
            <a:prstGeom prst="line">
              <a:avLst/>
            </a:prstGeom>
            <a:ln w="50729" cap="flat">
              <a:solidFill>
                <a:srgbClr val="F4F5F6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s-MX"/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727364"/>
            <a:chOff x="0" y="0"/>
            <a:chExt cx="6812038" cy="270933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6812038" cy="270933"/>
            </a:xfrm>
            <a:custGeom>
              <a:avLst/>
              <a:gdLst/>
              <a:ahLst/>
              <a:cxnLst/>
              <a:rect l="l" t="t" r="r" b="b"/>
              <a:pathLst>
                <a:path w="6812038" h="270933">
                  <a:moveTo>
                    <a:pt x="0" y="0"/>
                  </a:moveTo>
                  <a:lnTo>
                    <a:pt x="6812038" y="0"/>
                  </a:lnTo>
                  <a:lnTo>
                    <a:pt x="6812038" y="270933"/>
                  </a:lnTo>
                  <a:lnTo>
                    <a:pt x="0" y="270933"/>
                  </a:lnTo>
                  <a:close/>
                </a:path>
              </a:pathLst>
            </a:custGeom>
            <a:solidFill>
              <a:srgbClr val="262262"/>
            </a:solidFill>
          </p:spPr>
          <p:txBody>
            <a:bodyPr/>
            <a:lstStyle/>
            <a:p>
              <a:endParaRPr lang="es-MX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28575"/>
              <a:ext cx="6812038" cy="299508"/>
            </a:xfrm>
            <a:prstGeom prst="rect">
              <a:avLst/>
            </a:prstGeom>
          </p:spPr>
          <p:txBody>
            <a:bodyPr lIns="48876" tIns="48876" rIns="48876" bIns="48876" rtlCol="0" anchor="ctr"/>
            <a:lstStyle/>
            <a:p>
              <a:pPr algn="ctr">
                <a:lnSpc>
                  <a:spcPts val="2344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8907340" y="4146536"/>
            <a:ext cx="2557844" cy="2301598"/>
            <a:chOff x="0" y="0"/>
            <a:chExt cx="639166" cy="575134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639166" cy="575134"/>
            </a:xfrm>
            <a:custGeom>
              <a:avLst/>
              <a:gdLst/>
              <a:ahLst/>
              <a:cxnLst/>
              <a:rect l="l" t="t" r="r" b="b"/>
              <a:pathLst>
                <a:path w="639166" h="575134">
                  <a:moveTo>
                    <a:pt x="90802" y="0"/>
                  </a:moveTo>
                  <a:lnTo>
                    <a:pt x="548364" y="0"/>
                  </a:lnTo>
                  <a:cubicBezTo>
                    <a:pt x="572446" y="0"/>
                    <a:pt x="595542" y="9567"/>
                    <a:pt x="612571" y="26595"/>
                  </a:cubicBezTo>
                  <a:cubicBezTo>
                    <a:pt x="629600" y="43624"/>
                    <a:pt x="639166" y="66720"/>
                    <a:pt x="639166" y="90802"/>
                  </a:cubicBezTo>
                  <a:lnTo>
                    <a:pt x="639166" y="484332"/>
                  </a:lnTo>
                  <a:cubicBezTo>
                    <a:pt x="639166" y="534481"/>
                    <a:pt x="598513" y="575134"/>
                    <a:pt x="548364" y="575134"/>
                  </a:cubicBezTo>
                  <a:lnTo>
                    <a:pt x="90802" y="575134"/>
                  </a:lnTo>
                  <a:cubicBezTo>
                    <a:pt x="40653" y="575134"/>
                    <a:pt x="0" y="534481"/>
                    <a:pt x="0" y="484332"/>
                  </a:cubicBezTo>
                  <a:lnTo>
                    <a:pt x="0" y="90802"/>
                  </a:lnTo>
                  <a:cubicBezTo>
                    <a:pt x="0" y="40653"/>
                    <a:pt x="40653" y="0"/>
                    <a:pt x="90802" y="0"/>
                  </a:cubicBezTo>
                  <a:close/>
                </a:path>
              </a:pathLst>
            </a:custGeom>
            <a:solidFill>
              <a:srgbClr val="00C2FF"/>
            </a:solidFill>
          </p:spPr>
          <p:txBody>
            <a:bodyPr/>
            <a:lstStyle/>
            <a:p>
              <a:endParaRPr lang="es-MX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28575"/>
              <a:ext cx="639166" cy="60370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just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12494329" y="3908994"/>
            <a:ext cx="4048615" cy="2776682"/>
            <a:chOff x="0" y="0"/>
            <a:chExt cx="1011687" cy="69385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1011687" cy="693850"/>
            </a:xfrm>
            <a:custGeom>
              <a:avLst/>
              <a:gdLst/>
              <a:ahLst/>
              <a:cxnLst/>
              <a:rect l="l" t="t" r="r" b="b"/>
              <a:pathLst>
                <a:path w="1011687" h="693850">
                  <a:moveTo>
                    <a:pt x="57367" y="0"/>
                  </a:moveTo>
                  <a:lnTo>
                    <a:pt x="954320" y="0"/>
                  </a:lnTo>
                  <a:cubicBezTo>
                    <a:pt x="986003" y="0"/>
                    <a:pt x="1011687" y="25684"/>
                    <a:pt x="1011687" y="57367"/>
                  </a:cubicBezTo>
                  <a:lnTo>
                    <a:pt x="1011687" y="636483"/>
                  </a:lnTo>
                  <a:cubicBezTo>
                    <a:pt x="1011687" y="651698"/>
                    <a:pt x="1005643" y="666290"/>
                    <a:pt x="994885" y="677048"/>
                  </a:cubicBezTo>
                  <a:cubicBezTo>
                    <a:pt x="984126" y="687806"/>
                    <a:pt x="969535" y="693850"/>
                    <a:pt x="954320" y="693850"/>
                  </a:cubicBezTo>
                  <a:lnTo>
                    <a:pt x="57367" y="693850"/>
                  </a:lnTo>
                  <a:cubicBezTo>
                    <a:pt x="25684" y="693850"/>
                    <a:pt x="0" y="668166"/>
                    <a:pt x="0" y="636483"/>
                  </a:cubicBezTo>
                  <a:lnTo>
                    <a:pt x="0" y="57367"/>
                  </a:lnTo>
                  <a:cubicBezTo>
                    <a:pt x="0" y="42152"/>
                    <a:pt x="6044" y="27561"/>
                    <a:pt x="16802" y="16802"/>
                  </a:cubicBezTo>
                  <a:cubicBezTo>
                    <a:pt x="27561" y="6044"/>
                    <a:pt x="42152" y="0"/>
                    <a:pt x="57367" y="0"/>
                  </a:cubicBezTo>
                  <a:close/>
                </a:path>
              </a:pathLst>
            </a:custGeom>
            <a:solidFill>
              <a:srgbClr val="00C2FF"/>
            </a:solidFill>
          </p:spPr>
          <p:txBody>
            <a:bodyPr/>
            <a:lstStyle/>
            <a:p>
              <a:endParaRPr lang="es-MX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28575"/>
              <a:ext cx="1011687" cy="7224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just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11757168" y="5142310"/>
            <a:ext cx="445178" cy="445178"/>
            <a:chOff x="0" y="0"/>
            <a:chExt cx="812800" cy="81280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812800" y="406400"/>
                  </a:moveTo>
                  <a:lnTo>
                    <a:pt x="406400" y="0"/>
                  </a:lnTo>
                  <a:lnTo>
                    <a:pt x="406400" y="203200"/>
                  </a:lnTo>
                  <a:lnTo>
                    <a:pt x="0" y="203200"/>
                  </a:lnTo>
                  <a:lnTo>
                    <a:pt x="0" y="609600"/>
                  </a:lnTo>
                  <a:lnTo>
                    <a:pt x="406400" y="609600"/>
                  </a:lnTo>
                  <a:lnTo>
                    <a:pt x="406400" y="812800"/>
                  </a:lnTo>
                  <a:lnTo>
                    <a:pt x="812800" y="40640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es-MX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146050"/>
              <a:ext cx="711200" cy="4635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359"/>
                </a:lnSpc>
              </a:pPr>
              <a:endParaRPr/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0" y="7861112"/>
            <a:ext cx="18288000" cy="2425888"/>
            <a:chOff x="0" y="0"/>
            <a:chExt cx="4816593" cy="638917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4816592" cy="638917"/>
            </a:xfrm>
            <a:custGeom>
              <a:avLst/>
              <a:gdLst/>
              <a:ahLst/>
              <a:cxnLst/>
              <a:rect l="l" t="t" r="r" b="b"/>
              <a:pathLst>
                <a:path w="4816592" h="638917">
                  <a:moveTo>
                    <a:pt x="0" y="0"/>
                  </a:moveTo>
                  <a:lnTo>
                    <a:pt x="4816592" y="0"/>
                  </a:lnTo>
                  <a:lnTo>
                    <a:pt x="4816592" y="638917"/>
                  </a:lnTo>
                  <a:lnTo>
                    <a:pt x="0" y="638917"/>
                  </a:lnTo>
                  <a:close/>
                </a:path>
              </a:pathLst>
            </a:custGeom>
            <a:solidFill>
              <a:srgbClr val="DDF4FF"/>
            </a:solidFill>
          </p:spPr>
          <p:txBody>
            <a:bodyPr/>
            <a:lstStyle/>
            <a:p>
              <a:endParaRPr lang="es-MX"/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0" y="-57150"/>
              <a:ext cx="4816593" cy="69606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359"/>
                </a:lnSpc>
              </a:pPr>
              <a:endParaRPr/>
            </a:p>
          </p:txBody>
        </p:sp>
      </p:grpSp>
      <p:sp>
        <p:nvSpPr>
          <p:cNvPr id="17" name="TextBox 17"/>
          <p:cNvSpPr txBox="1"/>
          <p:nvPr/>
        </p:nvSpPr>
        <p:spPr>
          <a:xfrm>
            <a:off x="1914955" y="1442417"/>
            <a:ext cx="14458090" cy="10604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1" indent="0" algn="ctr">
              <a:lnSpc>
                <a:spcPts val="8000"/>
              </a:lnSpc>
              <a:spcBef>
                <a:spcPct val="0"/>
              </a:spcBef>
            </a:pPr>
            <a:r>
              <a:rPr lang="en-US" sz="8000" b="1" u="none" strike="noStrike" spc="416">
                <a:solidFill>
                  <a:srgbClr val="4263EB"/>
                </a:solidFill>
                <a:latin typeface="Inter Bold"/>
                <a:ea typeface="Inter Bold"/>
                <a:cs typeface="Inter Bold"/>
                <a:sym typeface="Inter Bold"/>
              </a:rPr>
              <a:t> Intermediate Code (TAC)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1745056" y="2960746"/>
            <a:ext cx="6146997" cy="40830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539749" lvl="1" indent="-269875" algn="l">
              <a:lnSpc>
                <a:spcPts val="4074"/>
              </a:lnSpc>
              <a:buAutoNum type="arabicPeriod"/>
            </a:pPr>
            <a:r>
              <a:rPr lang="en-US" sz="2499" b="1">
                <a:solidFill>
                  <a:srgbClr val="000000"/>
                </a:solidFill>
                <a:latin typeface="Helios Bold"/>
                <a:ea typeface="Helios Bold"/>
                <a:cs typeface="Helios Bold"/>
                <a:sym typeface="Helios Bold"/>
              </a:rPr>
              <a:t>Binary Operation:</a:t>
            </a:r>
            <a:r>
              <a:rPr lang="en-US" sz="2499" b="1">
                <a:solidFill>
                  <a:srgbClr val="00C2FF"/>
                </a:solidFill>
                <a:latin typeface="Helios Bold"/>
                <a:ea typeface="Helios Bold"/>
                <a:cs typeface="Helios Bold"/>
                <a:sym typeface="Helios Bold"/>
              </a:rPr>
              <a:t> </a:t>
            </a:r>
            <a:r>
              <a:rPr lang="en-US" sz="2499" b="1">
                <a:solidFill>
                  <a:srgbClr val="4263EB"/>
                </a:solidFill>
                <a:latin typeface="Helios Bold"/>
                <a:ea typeface="Helios Bold"/>
                <a:cs typeface="Helios Bold"/>
                <a:sym typeface="Helios Bold"/>
              </a:rPr>
              <a:t>t0 = x op b</a:t>
            </a:r>
          </a:p>
          <a:p>
            <a:pPr marL="539749" lvl="1" indent="-269875" algn="l">
              <a:lnSpc>
                <a:spcPts val="4074"/>
              </a:lnSpc>
              <a:buAutoNum type="arabicPeriod"/>
            </a:pPr>
            <a:r>
              <a:rPr lang="en-US" sz="2499" b="1">
                <a:solidFill>
                  <a:srgbClr val="000000"/>
                </a:solidFill>
                <a:latin typeface="Helios Bold"/>
                <a:ea typeface="Helios Bold"/>
                <a:cs typeface="Helios Bold"/>
                <a:sym typeface="Helios Bold"/>
              </a:rPr>
              <a:t>Unary Operation: </a:t>
            </a:r>
            <a:r>
              <a:rPr lang="en-US" sz="2499" b="1">
                <a:solidFill>
                  <a:srgbClr val="4263EB"/>
                </a:solidFill>
                <a:latin typeface="Helios Bold"/>
                <a:ea typeface="Helios Bold"/>
                <a:cs typeface="Helios Bold"/>
                <a:sym typeface="Helios Bold"/>
              </a:rPr>
              <a:t>t0 = op x</a:t>
            </a:r>
          </a:p>
          <a:p>
            <a:pPr marL="539749" lvl="1" indent="-269875" algn="l">
              <a:lnSpc>
                <a:spcPts val="4074"/>
              </a:lnSpc>
              <a:buAutoNum type="arabicPeriod"/>
            </a:pPr>
            <a:r>
              <a:rPr lang="en-US" sz="2499" b="1">
                <a:solidFill>
                  <a:srgbClr val="000000"/>
                </a:solidFill>
                <a:latin typeface="Helios Bold"/>
                <a:ea typeface="Helios Bold"/>
                <a:cs typeface="Helios Bold"/>
                <a:sym typeface="Helios Bold"/>
              </a:rPr>
              <a:t>Simple Assignment:</a:t>
            </a:r>
            <a:r>
              <a:rPr lang="en-US" sz="2499" b="1">
                <a:solidFill>
                  <a:srgbClr val="4263EB"/>
                </a:solidFill>
                <a:latin typeface="Helios Bold"/>
                <a:ea typeface="Helios Bold"/>
                <a:cs typeface="Helios Bold"/>
                <a:sym typeface="Helios Bold"/>
              </a:rPr>
              <a:t> x = y</a:t>
            </a:r>
          </a:p>
          <a:p>
            <a:pPr marL="539749" lvl="1" indent="-269875" algn="l">
              <a:lnSpc>
                <a:spcPts val="4074"/>
              </a:lnSpc>
              <a:buAutoNum type="arabicPeriod"/>
            </a:pPr>
            <a:r>
              <a:rPr lang="en-US" sz="2499" b="1">
                <a:solidFill>
                  <a:srgbClr val="000000"/>
                </a:solidFill>
                <a:latin typeface="Helios Bold"/>
                <a:ea typeface="Helios Bold"/>
                <a:cs typeface="Helios Bold"/>
                <a:sym typeface="Helios Bold"/>
              </a:rPr>
              <a:t>Conditional Goto: </a:t>
            </a:r>
            <a:r>
              <a:rPr lang="en-US" sz="2499" b="1">
                <a:solidFill>
                  <a:srgbClr val="4263EB"/>
                </a:solidFill>
                <a:latin typeface="Helios Bold"/>
                <a:ea typeface="Helios Bold"/>
                <a:cs typeface="Helios Bold"/>
                <a:sym typeface="Helios Bold"/>
              </a:rPr>
              <a:t>IfFalse t0 Goto L</a:t>
            </a:r>
          </a:p>
          <a:p>
            <a:pPr marL="539749" lvl="1" indent="-269875" algn="l">
              <a:lnSpc>
                <a:spcPts val="4074"/>
              </a:lnSpc>
              <a:buAutoNum type="arabicPeriod"/>
            </a:pPr>
            <a:r>
              <a:rPr lang="en-US" sz="2499" b="1">
                <a:solidFill>
                  <a:srgbClr val="000000"/>
                </a:solidFill>
                <a:latin typeface="Helios Bold"/>
                <a:ea typeface="Helios Bold"/>
                <a:cs typeface="Helios Bold"/>
                <a:sym typeface="Helios Bold"/>
              </a:rPr>
              <a:t>Function Declaration</a:t>
            </a:r>
          </a:p>
          <a:p>
            <a:pPr marL="539749" lvl="1" indent="-269875" algn="l">
              <a:lnSpc>
                <a:spcPts val="4074"/>
              </a:lnSpc>
              <a:buAutoNum type="arabicPeriod"/>
            </a:pPr>
            <a:r>
              <a:rPr lang="en-US" sz="2499" b="1">
                <a:solidFill>
                  <a:srgbClr val="000000"/>
                </a:solidFill>
                <a:latin typeface="Helios Bold"/>
                <a:ea typeface="Helios Bold"/>
                <a:cs typeface="Helios Bold"/>
                <a:sym typeface="Helios Bold"/>
              </a:rPr>
              <a:t>Function Call</a:t>
            </a:r>
          </a:p>
          <a:p>
            <a:pPr marL="539749" lvl="1" indent="-269875" algn="l">
              <a:lnSpc>
                <a:spcPts val="4074"/>
              </a:lnSpc>
              <a:buAutoNum type="arabicPeriod"/>
            </a:pPr>
            <a:r>
              <a:rPr lang="en-US" sz="2499" b="1">
                <a:solidFill>
                  <a:srgbClr val="000000"/>
                </a:solidFill>
                <a:latin typeface="Helios Bold"/>
                <a:ea typeface="Helios Bold"/>
                <a:cs typeface="Helios Bold"/>
                <a:sym typeface="Helios Bold"/>
              </a:rPr>
              <a:t>External Function: </a:t>
            </a:r>
            <a:r>
              <a:rPr lang="en-US" sz="2499" b="1">
                <a:solidFill>
                  <a:srgbClr val="4263EB"/>
                </a:solidFill>
                <a:latin typeface="Helios Bold"/>
                <a:ea typeface="Helios Bold"/>
                <a:cs typeface="Helios Bold"/>
                <a:sym typeface="Helios Bold"/>
              </a:rPr>
              <a:t>printf</a:t>
            </a:r>
          </a:p>
          <a:p>
            <a:pPr marL="539749" lvl="1" indent="-269875" algn="l">
              <a:lnSpc>
                <a:spcPts val="4074"/>
              </a:lnSpc>
              <a:buAutoNum type="arabicPeriod"/>
            </a:pPr>
            <a:r>
              <a:rPr lang="en-US" sz="2499" b="1">
                <a:solidFill>
                  <a:srgbClr val="000000"/>
                </a:solidFill>
                <a:latin typeface="Helios Bold"/>
                <a:ea typeface="Helios Bold"/>
                <a:cs typeface="Helios Bold"/>
                <a:sym typeface="Helios Bold"/>
              </a:rPr>
              <a:t>External Function:: </a:t>
            </a:r>
            <a:r>
              <a:rPr lang="en-US" sz="2499" b="1">
                <a:solidFill>
                  <a:srgbClr val="4263EB"/>
                </a:solidFill>
                <a:latin typeface="Helios Bold"/>
                <a:ea typeface="Helios Bold"/>
                <a:cs typeface="Helios Bold"/>
                <a:sym typeface="Helios Bold"/>
              </a:rPr>
              <a:t>scanf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9332325" y="4432465"/>
            <a:ext cx="1707874" cy="16725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3359"/>
              </a:lnSpc>
              <a:spcBef>
                <a:spcPct val="0"/>
              </a:spcBef>
            </a:pPr>
            <a:r>
              <a:rPr lang="en-US" sz="2400">
                <a:solidFill>
                  <a:srgbClr val="0A2B66"/>
                </a:solidFill>
                <a:latin typeface="Helios"/>
                <a:ea typeface="Helios"/>
                <a:cs typeface="Helios"/>
                <a:sym typeface="Helios"/>
              </a:rPr>
              <a:t>i</a:t>
            </a:r>
            <a:r>
              <a:rPr lang="en-US" sz="2400" u="none" strike="noStrike">
                <a:solidFill>
                  <a:srgbClr val="0A2B66"/>
                </a:solidFill>
                <a:latin typeface="Helios"/>
                <a:ea typeface="Helios"/>
                <a:cs typeface="Helios"/>
                <a:sym typeface="Helios"/>
              </a:rPr>
              <a:t>f (x == 5) {</a:t>
            </a:r>
          </a:p>
          <a:p>
            <a:pPr algn="just">
              <a:lnSpc>
                <a:spcPts val="3359"/>
              </a:lnSpc>
              <a:spcBef>
                <a:spcPct val="0"/>
              </a:spcBef>
            </a:pPr>
            <a:r>
              <a:rPr lang="en-US" sz="2400" u="none" strike="noStrike">
                <a:solidFill>
                  <a:srgbClr val="0A2B66"/>
                </a:solidFill>
                <a:latin typeface="Helios"/>
                <a:ea typeface="Helios"/>
                <a:cs typeface="Helios"/>
                <a:sym typeface="Helios"/>
              </a:rPr>
              <a:t>    y = 10; </a:t>
            </a:r>
          </a:p>
          <a:p>
            <a:pPr algn="just">
              <a:lnSpc>
                <a:spcPts val="3359"/>
              </a:lnSpc>
              <a:spcBef>
                <a:spcPct val="0"/>
              </a:spcBef>
            </a:pPr>
            <a:r>
              <a:rPr lang="en-US" sz="2400" u="none" strike="noStrike">
                <a:solidFill>
                  <a:srgbClr val="0A2B66"/>
                </a:solidFill>
                <a:latin typeface="Helios"/>
                <a:ea typeface="Helios"/>
                <a:cs typeface="Helios"/>
                <a:sym typeface="Helios"/>
              </a:rPr>
              <a:t>} </a:t>
            </a:r>
          </a:p>
          <a:p>
            <a:pPr marL="0" lvl="1" indent="0" algn="just">
              <a:lnSpc>
                <a:spcPts val="3359"/>
              </a:lnSpc>
              <a:spcBef>
                <a:spcPct val="0"/>
              </a:spcBef>
            </a:pPr>
            <a:r>
              <a:rPr lang="en-US" sz="2400" u="none" strike="noStrike">
                <a:solidFill>
                  <a:srgbClr val="0A2B66"/>
                </a:solidFill>
                <a:latin typeface="Helios"/>
                <a:ea typeface="Helios"/>
                <a:cs typeface="Helios"/>
                <a:sym typeface="Helios"/>
              </a:rPr>
              <a:t>y = 15;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12917720" y="4222915"/>
            <a:ext cx="3201833" cy="20916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3359"/>
              </a:lnSpc>
              <a:spcBef>
                <a:spcPct val="0"/>
              </a:spcBef>
            </a:pPr>
            <a:r>
              <a:rPr lang="en-US" sz="2400">
                <a:solidFill>
                  <a:srgbClr val="0A2B66"/>
                </a:solidFill>
                <a:latin typeface="Helios"/>
                <a:ea typeface="Helios"/>
                <a:cs typeface="Helios"/>
                <a:sym typeface="Helios"/>
              </a:rPr>
              <a:t>t0 =</a:t>
            </a:r>
            <a:r>
              <a:rPr lang="en-US" sz="2400" u="none" strike="noStrike">
                <a:solidFill>
                  <a:srgbClr val="0A2B66"/>
                </a:solidFill>
                <a:latin typeface="Helios"/>
                <a:ea typeface="Helios"/>
                <a:cs typeface="Helios"/>
                <a:sym typeface="Helios"/>
              </a:rPr>
              <a:t> (x == 5) </a:t>
            </a:r>
          </a:p>
          <a:p>
            <a:pPr algn="just">
              <a:lnSpc>
                <a:spcPts val="3359"/>
              </a:lnSpc>
              <a:spcBef>
                <a:spcPct val="0"/>
              </a:spcBef>
            </a:pPr>
            <a:r>
              <a:rPr lang="en-US" sz="2400" u="none" strike="noStrike">
                <a:solidFill>
                  <a:srgbClr val="0A2B66"/>
                </a:solidFill>
                <a:latin typeface="Helios"/>
                <a:ea typeface="Helios"/>
                <a:cs typeface="Helios"/>
                <a:sym typeface="Helios"/>
              </a:rPr>
              <a:t>   IfFalse t0 Goto L_FIN </a:t>
            </a:r>
          </a:p>
          <a:p>
            <a:pPr algn="just">
              <a:lnSpc>
                <a:spcPts val="3359"/>
              </a:lnSpc>
              <a:spcBef>
                <a:spcPct val="0"/>
              </a:spcBef>
            </a:pPr>
            <a:r>
              <a:rPr lang="en-US" sz="2400" u="none" strike="noStrike">
                <a:solidFill>
                  <a:srgbClr val="0A2B66"/>
                </a:solidFill>
                <a:latin typeface="Helios"/>
                <a:ea typeface="Helios"/>
                <a:cs typeface="Helios"/>
                <a:sym typeface="Helios"/>
              </a:rPr>
              <a:t>  y = 10 </a:t>
            </a:r>
          </a:p>
          <a:p>
            <a:pPr algn="just">
              <a:lnSpc>
                <a:spcPts val="3359"/>
              </a:lnSpc>
              <a:spcBef>
                <a:spcPct val="0"/>
              </a:spcBef>
            </a:pPr>
            <a:r>
              <a:rPr lang="en-US" sz="2400" u="none" strike="noStrike">
                <a:solidFill>
                  <a:srgbClr val="0A2B66"/>
                </a:solidFill>
                <a:latin typeface="Helios"/>
                <a:ea typeface="Helios"/>
                <a:cs typeface="Helios"/>
                <a:sym typeface="Helios"/>
              </a:rPr>
              <a:t>L_FIN: </a:t>
            </a:r>
          </a:p>
          <a:p>
            <a:pPr marL="0" lvl="1" indent="0" algn="just">
              <a:lnSpc>
                <a:spcPts val="3359"/>
              </a:lnSpc>
              <a:spcBef>
                <a:spcPct val="0"/>
              </a:spcBef>
            </a:pPr>
            <a:r>
              <a:rPr lang="en-US" sz="2400" u="none" strike="noStrike">
                <a:solidFill>
                  <a:srgbClr val="0A2B66"/>
                </a:solidFill>
                <a:latin typeface="Helios"/>
                <a:ea typeface="Helios"/>
                <a:cs typeface="Helios"/>
                <a:sym typeface="Helios"/>
              </a:rPr>
              <a:t>      y = 15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9253144" y="3611814"/>
            <a:ext cx="1866236" cy="4229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1" indent="0" algn="ctr">
              <a:lnSpc>
                <a:spcPts val="3359"/>
              </a:lnSpc>
              <a:spcBef>
                <a:spcPct val="0"/>
              </a:spcBef>
            </a:pPr>
            <a:r>
              <a:rPr lang="en-US" sz="2400" b="1">
                <a:solidFill>
                  <a:srgbClr val="0A2B66"/>
                </a:solidFill>
                <a:latin typeface="Helios Bold"/>
                <a:ea typeface="Helios Bold"/>
                <a:cs typeface="Helios Bold"/>
                <a:sym typeface="Helios Bold"/>
              </a:rPr>
              <a:t>Code C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13039924" y="3366490"/>
            <a:ext cx="2957425" cy="4229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1" indent="0" algn="ctr">
              <a:lnSpc>
                <a:spcPts val="3359"/>
              </a:lnSpc>
              <a:spcBef>
                <a:spcPct val="0"/>
              </a:spcBef>
            </a:pPr>
            <a:r>
              <a:rPr lang="en-US" sz="2400" b="1">
                <a:solidFill>
                  <a:srgbClr val="0A2B66"/>
                </a:solidFill>
                <a:latin typeface="Helios Bold"/>
                <a:ea typeface="Helios Bold"/>
                <a:cs typeface="Helios Bold"/>
                <a:sym typeface="Helios Bold"/>
              </a:rPr>
              <a:t>Optimized TAC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889624" y="8232587"/>
            <a:ext cx="16508752" cy="148437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518160" lvl="1" indent="-259080" algn="just">
              <a:lnSpc>
                <a:spcPts val="3911"/>
              </a:lnSpc>
              <a:buFont typeface="Arial"/>
              <a:buChar char="•"/>
            </a:pPr>
            <a:r>
              <a:rPr lang="en-US" sz="2400">
                <a:solidFill>
                  <a:srgbClr val="000000"/>
                </a:solidFill>
                <a:latin typeface="Helios"/>
                <a:ea typeface="Helios"/>
                <a:cs typeface="Helios"/>
                <a:sym typeface="Helios"/>
              </a:rPr>
              <a:t>Quadruplar Representation: The universal bridge in memory that connects C to the assembler.</a:t>
            </a:r>
          </a:p>
          <a:p>
            <a:pPr marL="518160" lvl="1" indent="-259080" algn="just">
              <a:lnSpc>
                <a:spcPts val="3911"/>
              </a:lnSpc>
              <a:buFont typeface="Arial"/>
              <a:buChar char="•"/>
            </a:pPr>
            <a:r>
              <a:rPr lang="en-US" sz="2400">
                <a:solidFill>
                  <a:srgbClr val="000000"/>
                </a:solidFill>
                <a:latin typeface="Helios"/>
                <a:ea typeface="Helios"/>
                <a:cs typeface="Helios"/>
                <a:sym typeface="Helios"/>
              </a:rPr>
              <a:t>Jump Efficiency: The </a:t>
            </a:r>
            <a:r>
              <a:rPr lang="en-US" sz="2400" b="1">
                <a:solidFill>
                  <a:srgbClr val="0A2B66"/>
                </a:solidFill>
                <a:latin typeface="Helios Bold"/>
                <a:ea typeface="Helios Bold"/>
                <a:cs typeface="Helios Bold"/>
                <a:sym typeface="Helios Bold"/>
              </a:rPr>
              <a:t>IfFalse </a:t>
            </a:r>
            <a:r>
              <a:rPr lang="en-US" sz="2400">
                <a:solidFill>
                  <a:srgbClr val="000000"/>
                </a:solidFill>
                <a:latin typeface="Helios"/>
                <a:ea typeface="Helios"/>
                <a:cs typeface="Helios"/>
                <a:sym typeface="Helios"/>
              </a:rPr>
              <a:t>logic saves us from unnecessary </a:t>
            </a:r>
            <a:r>
              <a:rPr lang="en-US" sz="2400" b="1">
                <a:solidFill>
                  <a:srgbClr val="0A2B66"/>
                </a:solidFill>
                <a:latin typeface="Helios Bold"/>
                <a:ea typeface="Helios Bold"/>
                <a:cs typeface="Helios Bold"/>
                <a:sym typeface="Helios Bold"/>
              </a:rPr>
              <a:t>GOTO </a:t>
            </a:r>
            <a:r>
              <a:rPr lang="en-US" sz="2400">
                <a:solidFill>
                  <a:srgbClr val="000000"/>
                </a:solidFill>
                <a:latin typeface="Helios"/>
                <a:ea typeface="Helios"/>
                <a:cs typeface="Helios"/>
                <a:sym typeface="Helios"/>
              </a:rPr>
              <a:t>instructions, speeding up machine cycles.</a:t>
            </a:r>
          </a:p>
          <a:p>
            <a:pPr marL="518160" lvl="1" indent="-259080" algn="just">
              <a:lnSpc>
                <a:spcPts val="3911"/>
              </a:lnSpc>
              <a:buFont typeface="Arial"/>
              <a:buChar char="•"/>
            </a:pPr>
            <a:r>
              <a:rPr lang="en-US" sz="2400">
                <a:solidFill>
                  <a:srgbClr val="000000"/>
                </a:solidFill>
                <a:latin typeface="Helios"/>
                <a:ea typeface="Helios"/>
                <a:cs typeface="Helios"/>
                <a:sym typeface="Helios"/>
              </a:rPr>
              <a:t>I/O Abstraction: Specialized handling from the TAC to prepare memory for the </a:t>
            </a:r>
            <a:r>
              <a:rPr lang="en-US" sz="2400" b="1">
                <a:solidFill>
                  <a:srgbClr val="0A2B66"/>
                </a:solidFill>
                <a:latin typeface="Helios Bold"/>
                <a:ea typeface="Helios Bold"/>
                <a:cs typeface="Helios Bold"/>
                <a:sym typeface="Helios Bold"/>
              </a:rPr>
              <a:t>printf</a:t>
            </a:r>
            <a:r>
              <a:rPr lang="en-US" sz="2400">
                <a:solidFill>
                  <a:srgbClr val="000000"/>
                </a:solidFill>
                <a:latin typeface="Helios"/>
                <a:ea typeface="Helios"/>
                <a:cs typeface="Helios"/>
                <a:sym typeface="Helios"/>
              </a:rPr>
              <a:t> and </a:t>
            </a:r>
            <a:r>
              <a:rPr lang="en-US" sz="2400" b="1">
                <a:solidFill>
                  <a:srgbClr val="0A2B66"/>
                </a:solidFill>
                <a:latin typeface="Helios Bold"/>
                <a:ea typeface="Helios Bold"/>
                <a:cs typeface="Helios Bold"/>
                <a:sym typeface="Helios Bold"/>
              </a:rPr>
              <a:t>scanf </a:t>
            </a:r>
            <a:r>
              <a:rPr lang="en-US" sz="2400">
                <a:solidFill>
                  <a:srgbClr val="000000"/>
                </a:solidFill>
                <a:latin typeface="Helios"/>
                <a:ea typeface="Helios"/>
                <a:cs typeface="Helios"/>
                <a:sym typeface="Helios"/>
              </a:rPr>
              <a:t>functions.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5400000">
            <a:off x="8816111" y="-11455422"/>
            <a:ext cx="1278988" cy="23086583"/>
            <a:chOff x="0" y="0"/>
            <a:chExt cx="476406" cy="8599447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76406" cy="8599446"/>
            </a:xfrm>
            <a:custGeom>
              <a:avLst/>
              <a:gdLst/>
              <a:ahLst/>
              <a:cxnLst/>
              <a:rect l="l" t="t" r="r" b="b"/>
              <a:pathLst>
                <a:path w="476406" h="8599446">
                  <a:moveTo>
                    <a:pt x="0" y="0"/>
                  </a:moveTo>
                  <a:lnTo>
                    <a:pt x="476406" y="0"/>
                  </a:lnTo>
                  <a:lnTo>
                    <a:pt x="476406" y="8599446"/>
                  </a:lnTo>
                  <a:lnTo>
                    <a:pt x="0" y="8599446"/>
                  </a:lnTo>
                  <a:close/>
                </a:path>
              </a:pathLst>
            </a:custGeom>
            <a:solidFill>
              <a:srgbClr val="262262"/>
            </a:solidFill>
          </p:spPr>
          <p:txBody>
            <a:bodyPr/>
            <a:lstStyle/>
            <a:p>
              <a:endParaRPr lang="es-MX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28575"/>
              <a:ext cx="476406" cy="8628022"/>
            </a:xfrm>
            <a:prstGeom prst="rect">
              <a:avLst/>
            </a:prstGeom>
          </p:spPr>
          <p:txBody>
            <a:bodyPr lIns="48876" tIns="48876" rIns="48876" bIns="48876" rtlCol="0" anchor="ctr"/>
            <a:lstStyle/>
            <a:p>
              <a:pPr algn="ctr">
                <a:lnSpc>
                  <a:spcPts val="2344"/>
                </a:lnSpc>
              </a:pPr>
              <a:endParaRPr/>
            </a:p>
          </p:txBody>
        </p:sp>
      </p:grpSp>
      <p:sp>
        <p:nvSpPr>
          <p:cNvPr id="5" name="TextBox 5"/>
          <p:cNvSpPr txBox="1"/>
          <p:nvPr/>
        </p:nvSpPr>
        <p:spPr>
          <a:xfrm>
            <a:off x="1914955" y="1555288"/>
            <a:ext cx="14458090" cy="10604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1" indent="0" algn="ctr">
              <a:lnSpc>
                <a:spcPts val="8000"/>
              </a:lnSpc>
              <a:spcBef>
                <a:spcPct val="0"/>
              </a:spcBef>
            </a:pPr>
            <a:r>
              <a:rPr lang="en-US" sz="8000" b="1" u="none" strike="noStrike" spc="416">
                <a:solidFill>
                  <a:srgbClr val="4263EB"/>
                </a:solidFill>
                <a:latin typeface="Inter Bold"/>
                <a:ea typeface="Inter Bold"/>
                <a:cs typeface="Inter Bold"/>
                <a:sym typeface="Inter Bold"/>
              </a:rPr>
              <a:t>x86_64 Assembler</a:t>
            </a:r>
          </a:p>
        </p:txBody>
      </p:sp>
      <p:grpSp>
        <p:nvGrpSpPr>
          <p:cNvPr id="6" name="Group 6"/>
          <p:cNvGrpSpPr/>
          <p:nvPr/>
        </p:nvGrpSpPr>
        <p:grpSpPr>
          <a:xfrm>
            <a:off x="3741705" y="4479664"/>
            <a:ext cx="3628732" cy="1193069"/>
            <a:chOff x="0" y="0"/>
            <a:chExt cx="906765" cy="29813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906765" cy="298130"/>
            </a:xfrm>
            <a:custGeom>
              <a:avLst/>
              <a:gdLst/>
              <a:ahLst/>
              <a:cxnLst/>
              <a:rect l="l" t="t" r="r" b="b"/>
              <a:pathLst>
                <a:path w="906765" h="298130">
                  <a:moveTo>
                    <a:pt x="64005" y="0"/>
                  </a:moveTo>
                  <a:lnTo>
                    <a:pt x="842760" y="0"/>
                  </a:lnTo>
                  <a:cubicBezTo>
                    <a:pt x="878109" y="0"/>
                    <a:pt x="906765" y="28656"/>
                    <a:pt x="906765" y="64005"/>
                  </a:cubicBezTo>
                  <a:lnTo>
                    <a:pt x="906765" y="234125"/>
                  </a:lnTo>
                  <a:cubicBezTo>
                    <a:pt x="906765" y="269474"/>
                    <a:pt x="878109" y="298130"/>
                    <a:pt x="842760" y="298130"/>
                  </a:cubicBezTo>
                  <a:lnTo>
                    <a:pt x="64005" y="298130"/>
                  </a:lnTo>
                  <a:cubicBezTo>
                    <a:pt x="28656" y="298130"/>
                    <a:pt x="0" y="269474"/>
                    <a:pt x="0" y="234125"/>
                  </a:cubicBezTo>
                  <a:lnTo>
                    <a:pt x="0" y="64005"/>
                  </a:lnTo>
                  <a:cubicBezTo>
                    <a:pt x="0" y="28656"/>
                    <a:pt x="28656" y="0"/>
                    <a:pt x="64005" y="0"/>
                  </a:cubicBezTo>
                  <a:close/>
                </a:path>
              </a:pathLst>
            </a:custGeom>
            <a:solidFill>
              <a:srgbClr val="00C2FF"/>
            </a:solidFill>
          </p:spPr>
          <p:txBody>
            <a:bodyPr/>
            <a:lstStyle/>
            <a:p>
              <a:endParaRPr lang="es-MX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28575"/>
              <a:ext cx="906765" cy="32670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just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9491394" y="3960264"/>
            <a:ext cx="4583084" cy="2281803"/>
            <a:chOff x="0" y="0"/>
            <a:chExt cx="1145243" cy="570188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1145243" cy="570188"/>
            </a:xfrm>
            <a:custGeom>
              <a:avLst/>
              <a:gdLst/>
              <a:ahLst/>
              <a:cxnLst/>
              <a:rect l="l" t="t" r="r" b="b"/>
              <a:pathLst>
                <a:path w="1145243" h="570188">
                  <a:moveTo>
                    <a:pt x="50677" y="0"/>
                  </a:moveTo>
                  <a:lnTo>
                    <a:pt x="1094566" y="0"/>
                  </a:lnTo>
                  <a:cubicBezTo>
                    <a:pt x="1108006" y="0"/>
                    <a:pt x="1120896" y="5339"/>
                    <a:pt x="1130400" y="14843"/>
                  </a:cubicBezTo>
                  <a:cubicBezTo>
                    <a:pt x="1139904" y="24347"/>
                    <a:pt x="1145243" y="37237"/>
                    <a:pt x="1145243" y="50677"/>
                  </a:cubicBezTo>
                  <a:lnTo>
                    <a:pt x="1145243" y="519511"/>
                  </a:lnTo>
                  <a:cubicBezTo>
                    <a:pt x="1145243" y="532951"/>
                    <a:pt x="1139904" y="545841"/>
                    <a:pt x="1130400" y="555345"/>
                  </a:cubicBezTo>
                  <a:cubicBezTo>
                    <a:pt x="1120896" y="564849"/>
                    <a:pt x="1108006" y="570188"/>
                    <a:pt x="1094566" y="570188"/>
                  </a:cubicBezTo>
                  <a:lnTo>
                    <a:pt x="50677" y="570188"/>
                  </a:lnTo>
                  <a:cubicBezTo>
                    <a:pt x="37237" y="570188"/>
                    <a:pt x="24347" y="564849"/>
                    <a:pt x="14843" y="555345"/>
                  </a:cubicBezTo>
                  <a:cubicBezTo>
                    <a:pt x="5339" y="545841"/>
                    <a:pt x="0" y="532951"/>
                    <a:pt x="0" y="519511"/>
                  </a:cubicBezTo>
                  <a:lnTo>
                    <a:pt x="0" y="50677"/>
                  </a:lnTo>
                  <a:cubicBezTo>
                    <a:pt x="0" y="37237"/>
                    <a:pt x="5339" y="24347"/>
                    <a:pt x="14843" y="14843"/>
                  </a:cubicBezTo>
                  <a:cubicBezTo>
                    <a:pt x="24347" y="5339"/>
                    <a:pt x="37237" y="0"/>
                    <a:pt x="50677" y="0"/>
                  </a:cubicBezTo>
                  <a:close/>
                </a:path>
              </a:pathLst>
            </a:custGeom>
            <a:solidFill>
              <a:srgbClr val="00C2FF"/>
            </a:solidFill>
          </p:spPr>
          <p:txBody>
            <a:bodyPr/>
            <a:lstStyle/>
            <a:p>
              <a:endParaRPr lang="es-MX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0" y="-28575"/>
              <a:ext cx="1145243" cy="59876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just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8208638" y="4878576"/>
            <a:ext cx="445178" cy="445178"/>
            <a:chOff x="0" y="0"/>
            <a:chExt cx="812800" cy="812800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812800" y="406400"/>
                  </a:moveTo>
                  <a:lnTo>
                    <a:pt x="406400" y="0"/>
                  </a:lnTo>
                  <a:lnTo>
                    <a:pt x="406400" y="203200"/>
                  </a:lnTo>
                  <a:lnTo>
                    <a:pt x="0" y="203200"/>
                  </a:lnTo>
                  <a:lnTo>
                    <a:pt x="0" y="609600"/>
                  </a:lnTo>
                  <a:lnTo>
                    <a:pt x="406400" y="609600"/>
                  </a:lnTo>
                  <a:lnTo>
                    <a:pt x="406400" y="812800"/>
                  </a:lnTo>
                  <a:lnTo>
                    <a:pt x="812800" y="40640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es-MX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146050"/>
              <a:ext cx="711200" cy="4635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359"/>
                </a:lnSpc>
              </a:pPr>
              <a:endParaRPr/>
            </a:p>
          </p:txBody>
        </p:sp>
      </p:grpSp>
      <p:sp>
        <p:nvSpPr>
          <p:cNvPr id="15" name="TextBox 15"/>
          <p:cNvSpPr txBox="1"/>
          <p:nvPr/>
        </p:nvSpPr>
        <p:spPr>
          <a:xfrm>
            <a:off x="4048894" y="4839979"/>
            <a:ext cx="3014355" cy="4152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1" indent="0" algn="ctr">
              <a:lnSpc>
                <a:spcPts val="3359"/>
              </a:lnSpc>
              <a:spcBef>
                <a:spcPct val="0"/>
              </a:spcBef>
            </a:pPr>
            <a:r>
              <a:rPr lang="en-US" sz="2400" u="none" strike="noStrike">
                <a:solidFill>
                  <a:srgbClr val="0A2B66"/>
                </a:solidFill>
                <a:latin typeface="Helios"/>
                <a:ea typeface="Helios"/>
                <a:cs typeface="Helios"/>
                <a:sym typeface="Helios"/>
              </a:rPr>
              <a:t>( "+", "a", "b", "t0" )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9919861" y="4211329"/>
            <a:ext cx="3726150" cy="16725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3359"/>
              </a:lnSpc>
            </a:pPr>
            <a:r>
              <a:rPr lang="en-US" sz="2400">
                <a:solidFill>
                  <a:srgbClr val="0A2B66"/>
                </a:solidFill>
                <a:latin typeface="Helios"/>
                <a:ea typeface="Helios"/>
                <a:cs typeface="Helios"/>
                <a:sym typeface="Helios"/>
              </a:rPr>
              <a:t>mov rax, qword [rbp - 8] ; </a:t>
            </a:r>
          </a:p>
          <a:p>
            <a:pPr algn="just">
              <a:lnSpc>
                <a:spcPts val="3359"/>
              </a:lnSpc>
              <a:spcBef>
                <a:spcPct val="0"/>
              </a:spcBef>
            </a:pPr>
            <a:r>
              <a:rPr lang="en-US" sz="2400">
                <a:solidFill>
                  <a:srgbClr val="0A2B66"/>
                </a:solidFill>
                <a:latin typeface="Helios"/>
                <a:ea typeface="Helios"/>
                <a:cs typeface="Helios"/>
                <a:sym typeface="Helios"/>
              </a:rPr>
              <a:t>mov</a:t>
            </a:r>
            <a:r>
              <a:rPr lang="en-US" sz="2400" u="none" strike="noStrike">
                <a:solidFill>
                  <a:srgbClr val="0A2B66"/>
                </a:solidFill>
                <a:latin typeface="Helios"/>
                <a:ea typeface="Helios"/>
                <a:cs typeface="Helios"/>
                <a:sym typeface="Helios"/>
              </a:rPr>
              <a:t> rbx, qword [rbp - 16] ; </a:t>
            </a:r>
          </a:p>
          <a:p>
            <a:pPr algn="just">
              <a:lnSpc>
                <a:spcPts val="3359"/>
              </a:lnSpc>
              <a:spcBef>
                <a:spcPct val="0"/>
              </a:spcBef>
            </a:pPr>
            <a:r>
              <a:rPr lang="en-US" sz="2400" u="none" strike="noStrike">
                <a:solidFill>
                  <a:srgbClr val="0A2B66"/>
                </a:solidFill>
                <a:latin typeface="Helios"/>
                <a:ea typeface="Helios"/>
                <a:cs typeface="Helios"/>
                <a:sym typeface="Helios"/>
              </a:rPr>
              <a:t>add rax, rbx ;</a:t>
            </a:r>
          </a:p>
          <a:p>
            <a:pPr marL="0" lvl="1" indent="0" algn="just">
              <a:lnSpc>
                <a:spcPts val="3359"/>
              </a:lnSpc>
              <a:spcBef>
                <a:spcPct val="0"/>
              </a:spcBef>
            </a:pPr>
            <a:r>
              <a:rPr lang="en-US" sz="2400" u="none" strike="noStrike">
                <a:solidFill>
                  <a:srgbClr val="0A2B66"/>
                </a:solidFill>
                <a:latin typeface="Helios"/>
                <a:ea typeface="Helios"/>
                <a:cs typeface="Helios"/>
                <a:sym typeface="Helios"/>
              </a:rPr>
              <a:t>mov qword [rbp - 24], rax ; 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3700076" y="3845569"/>
            <a:ext cx="3670361" cy="4229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1" indent="0" algn="ctr">
              <a:lnSpc>
                <a:spcPts val="3359"/>
              </a:lnSpc>
              <a:spcBef>
                <a:spcPct val="0"/>
              </a:spcBef>
            </a:pPr>
            <a:r>
              <a:rPr lang="en-US" sz="2400" b="1">
                <a:solidFill>
                  <a:srgbClr val="0A2B66"/>
                </a:solidFill>
                <a:latin typeface="Helios Bold"/>
                <a:ea typeface="Helios Bold"/>
                <a:cs typeface="Helios Bold"/>
                <a:sym typeface="Helios Bold"/>
              </a:rPr>
              <a:t>Quadruple TAC (Sum):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8977948" y="3367462"/>
            <a:ext cx="5609976" cy="4229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1" indent="0" algn="ctr">
              <a:lnSpc>
                <a:spcPts val="3359"/>
              </a:lnSpc>
              <a:spcBef>
                <a:spcPct val="0"/>
              </a:spcBef>
            </a:pPr>
            <a:r>
              <a:rPr lang="en-US" sz="2400" b="1">
                <a:solidFill>
                  <a:srgbClr val="0A2B66"/>
                </a:solidFill>
                <a:latin typeface="Helios Bold"/>
                <a:ea typeface="Helios Bold"/>
                <a:cs typeface="Helios Bold"/>
                <a:sym typeface="Helios Bold"/>
              </a:rPr>
              <a:t>Assembly translation (x86_64):</a:t>
            </a:r>
          </a:p>
        </p:txBody>
      </p:sp>
      <p:grpSp>
        <p:nvGrpSpPr>
          <p:cNvPr id="19" name="Group 19"/>
          <p:cNvGrpSpPr/>
          <p:nvPr/>
        </p:nvGrpSpPr>
        <p:grpSpPr>
          <a:xfrm>
            <a:off x="0" y="7208401"/>
            <a:ext cx="18288000" cy="3078599"/>
            <a:chOff x="0" y="0"/>
            <a:chExt cx="4816593" cy="810825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4816592" cy="810825"/>
            </a:xfrm>
            <a:custGeom>
              <a:avLst/>
              <a:gdLst/>
              <a:ahLst/>
              <a:cxnLst/>
              <a:rect l="l" t="t" r="r" b="b"/>
              <a:pathLst>
                <a:path w="4816592" h="810825">
                  <a:moveTo>
                    <a:pt x="0" y="0"/>
                  </a:moveTo>
                  <a:lnTo>
                    <a:pt x="4816592" y="0"/>
                  </a:lnTo>
                  <a:lnTo>
                    <a:pt x="4816592" y="810825"/>
                  </a:lnTo>
                  <a:lnTo>
                    <a:pt x="0" y="810825"/>
                  </a:lnTo>
                  <a:close/>
                </a:path>
              </a:pathLst>
            </a:custGeom>
            <a:solidFill>
              <a:srgbClr val="DDF4FF"/>
            </a:solidFill>
          </p:spPr>
          <p:txBody>
            <a:bodyPr/>
            <a:lstStyle/>
            <a:p>
              <a:endParaRPr lang="es-MX"/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0" y="-57150"/>
              <a:ext cx="4816593" cy="8679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359"/>
                </a:lnSpc>
              </a:pPr>
              <a:endParaRPr/>
            </a:p>
          </p:txBody>
        </p:sp>
      </p:grpSp>
      <p:sp>
        <p:nvSpPr>
          <p:cNvPr id="22" name="TextBox 22"/>
          <p:cNvSpPr txBox="1"/>
          <p:nvPr/>
        </p:nvSpPr>
        <p:spPr>
          <a:xfrm>
            <a:off x="889624" y="7704522"/>
            <a:ext cx="16508752" cy="19720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518160" lvl="1" indent="-259080" algn="just">
              <a:lnSpc>
                <a:spcPts val="3911"/>
              </a:lnSpc>
              <a:buFont typeface="Arial"/>
              <a:buChar char="•"/>
            </a:pPr>
            <a:r>
              <a:rPr lang="en-US" sz="2400">
                <a:solidFill>
                  <a:srgbClr val="000000"/>
                </a:solidFill>
                <a:latin typeface="Helios"/>
                <a:ea typeface="Helios"/>
                <a:cs typeface="Helios"/>
                <a:sym typeface="Helios"/>
              </a:rPr>
              <a:t>Direct Translation: Exact mapping of intermediate operations to actual hardware instructions, using the processor's native registers (</a:t>
            </a:r>
            <a:r>
              <a:rPr lang="en-US" sz="2400" b="1">
                <a:solidFill>
                  <a:srgbClr val="0A2B66"/>
                </a:solidFill>
                <a:latin typeface="Helios Bold"/>
                <a:ea typeface="Helios Bold"/>
                <a:cs typeface="Helios Bold"/>
                <a:sym typeface="Helios Bold"/>
              </a:rPr>
              <a:t>mov</a:t>
            </a:r>
            <a:r>
              <a:rPr lang="en-US" sz="2400">
                <a:solidFill>
                  <a:srgbClr val="000000"/>
                </a:solidFill>
                <a:latin typeface="Helios"/>
                <a:ea typeface="Helios"/>
                <a:cs typeface="Helios"/>
                <a:sym typeface="Helios"/>
              </a:rPr>
              <a:t>, </a:t>
            </a:r>
            <a:r>
              <a:rPr lang="en-US" sz="2400" b="1">
                <a:solidFill>
                  <a:srgbClr val="0A2B66"/>
                </a:solidFill>
                <a:latin typeface="Helios Bold"/>
                <a:ea typeface="Helios Bold"/>
                <a:cs typeface="Helios Bold"/>
                <a:sym typeface="Helios Bold"/>
              </a:rPr>
              <a:t>add</a:t>
            </a:r>
            <a:r>
              <a:rPr lang="en-US" sz="2400">
                <a:solidFill>
                  <a:srgbClr val="000000"/>
                </a:solidFill>
                <a:latin typeface="Helios"/>
                <a:ea typeface="Helios"/>
                <a:cs typeface="Helios"/>
                <a:sym typeface="Helios"/>
              </a:rPr>
              <a:t>, </a:t>
            </a:r>
            <a:r>
              <a:rPr lang="en-US" sz="2400" b="1">
                <a:solidFill>
                  <a:srgbClr val="0A2B66"/>
                </a:solidFill>
                <a:latin typeface="Helios Bold"/>
                <a:ea typeface="Helios Bold"/>
                <a:cs typeface="Helios Bold"/>
                <a:sym typeface="Helios Bold"/>
              </a:rPr>
              <a:t>push</a:t>
            </a:r>
            <a:r>
              <a:rPr lang="en-US" sz="2400">
                <a:solidFill>
                  <a:srgbClr val="000000"/>
                </a:solidFill>
                <a:latin typeface="Helios"/>
                <a:ea typeface="Helios"/>
                <a:cs typeface="Helios"/>
                <a:sym typeface="Helios"/>
              </a:rPr>
              <a:t>).</a:t>
            </a:r>
          </a:p>
          <a:p>
            <a:pPr marL="518160" lvl="1" indent="-259080" algn="just">
              <a:lnSpc>
                <a:spcPts val="3911"/>
              </a:lnSpc>
              <a:buFont typeface="Arial"/>
              <a:buChar char="•"/>
            </a:pPr>
            <a:r>
              <a:rPr lang="en-US" sz="2400">
                <a:solidFill>
                  <a:srgbClr val="000000"/>
                </a:solidFill>
                <a:latin typeface="Helios"/>
                <a:ea typeface="Helios"/>
                <a:cs typeface="Helios"/>
                <a:sym typeface="Helios"/>
              </a:rPr>
              <a:t>Industry Adherence: Full compliance with the System V ABI standard for function calls and register usage in Linux systems.</a:t>
            </a:r>
          </a:p>
        </p:txBody>
      </p:sp>
      <p:grpSp>
        <p:nvGrpSpPr>
          <p:cNvPr id="23" name="Group 23"/>
          <p:cNvGrpSpPr/>
          <p:nvPr/>
        </p:nvGrpSpPr>
        <p:grpSpPr>
          <a:xfrm>
            <a:off x="13494102" y="-736999"/>
            <a:ext cx="5020271" cy="4527372"/>
            <a:chOff x="0" y="0"/>
            <a:chExt cx="6693695" cy="6036495"/>
          </a:xfrm>
        </p:grpSpPr>
        <p:sp>
          <p:nvSpPr>
            <p:cNvPr id="24" name="Freeform 24"/>
            <p:cNvSpPr/>
            <p:nvPr/>
          </p:nvSpPr>
          <p:spPr>
            <a:xfrm rot="-10800000">
              <a:off x="0" y="0"/>
              <a:ext cx="6693695" cy="6036495"/>
            </a:xfrm>
            <a:custGeom>
              <a:avLst/>
              <a:gdLst/>
              <a:ahLst/>
              <a:cxnLst/>
              <a:rect l="l" t="t" r="r" b="b"/>
              <a:pathLst>
                <a:path w="6693695" h="6036495">
                  <a:moveTo>
                    <a:pt x="0" y="0"/>
                  </a:moveTo>
                  <a:lnTo>
                    <a:pt x="6693695" y="0"/>
                  </a:lnTo>
                  <a:lnTo>
                    <a:pt x="6693695" y="6036495"/>
                  </a:lnTo>
                  <a:lnTo>
                    <a:pt x="0" y="603649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MX"/>
            </a:p>
          </p:txBody>
        </p:sp>
        <p:sp>
          <p:nvSpPr>
            <p:cNvPr id="25" name="AutoShape 25"/>
            <p:cNvSpPr/>
            <p:nvPr/>
          </p:nvSpPr>
          <p:spPr>
            <a:xfrm>
              <a:off x="2441910" y="125552"/>
              <a:ext cx="3205765" cy="3205765"/>
            </a:xfrm>
            <a:prstGeom prst="line">
              <a:avLst/>
            </a:prstGeom>
            <a:ln w="60602" cap="flat">
              <a:solidFill>
                <a:srgbClr val="F4F5F6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s-MX"/>
            </a:p>
          </p:txBody>
        </p:sp>
        <p:sp>
          <p:nvSpPr>
            <p:cNvPr id="26" name="AutoShape 26"/>
            <p:cNvSpPr/>
            <p:nvPr/>
          </p:nvSpPr>
          <p:spPr>
            <a:xfrm>
              <a:off x="807452" y="125552"/>
              <a:ext cx="1641981" cy="1641981"/>
            </a:xfrm>
            <a:prstGeom prst="line">
              <a:avLst/>
            </a:prstGeom>
            <a:ln w="60602" cap="flat">
              <a:solidFill>
                <a:srgbClr val="F4F5F6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s-MX"/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1E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5400000">
            <a:off x="8816111" y="-11455422"/>
            <a:ext cx="1278988" cy="23086583"/>
            <a:chOff x="0" y="0"/>
            <a:chExt cx="476406" cy="8599447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76406" cy="8599446"/>
            </a:xfrm>
            <a:custGeom>
              <a:avLst/>
              <a:gdLst/>
              <a:ahLst/>
              <a:cxnLst/>
              <a:rect l="l" t="t" r="r" b="b"/>
              <a:pathLst>
                <a:path w="476406" h="8599446">
                  <a:moveTo>
                    <a:pt x="0" y="0"/>
                  </a:moveTo>
                  <a:lnTo>
                    <a:pt x="476406" y="0"/>
                  </a:lnTo>
                  <a:lnTo>
                    <a:pt x="476406" y="8599446"/>
                  </a:lnTo>
                  <a:lnTo>
                    <a:pt x="0" y="8599446"/>
                  </a:lnTo>
                  <a:close/>
                </a:path>
              </a:pathLst>
            </a:custGeom>
            <a:solidFill>
              <a:srgbClr val="262262"/>
            </a:solidFill>
          </p:spPr>
          <p:txBody>
            <a:bodyPr/>
            <a:lstStyle/>
            <a:p>
              <a:endParaRPr lang="es-MX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28575"/>
              <a:ext cx="476406" cy="8628022"/>
            </a:xfrm>
            <a:prstGeom prst="rect">
              <a:avLst/>
            </a:prstGeom>
          </p:spPr>
          <p:txBody>
            <a:bodyPr lIns="48876" tIns="48876" rIns="48876" bIns="48876" rtlCol="0" anchor="ctr"/>
            <a:lstStyle/>
            <a:p>
              <a:pPr algn="ctr">
                <a:lnSpc>
                  <a:spcPts val="2344"/>
                </a:lnSpc>
              </a:pPr>
              <a:endParaRPr/>
            </a:p>
          </p:txBody>
        </p:sp>
      </p:grpSp>
      <p:grpSp>
        <p:nvGrpSpPr>
          <p:cNvPr id="5" name="Group 5"/>
          <p:cNvGrpSpPr>
            <a:grpSpLocks noChangeAspect="1"/>
          </p:cNvGrpSpPr>
          <p:nvPr/>
        </p:nvGrpSpPr>
        <p:grpSpPr>
          <a:xfrm>
            <a:off x="5361448" y="2632060"/>
            <a:ext cx="7565103" cy="5220670"/>
            <a:chOff x="0" y="0"/>
            <a:chExt cx="12827000" cy="8851900"/>
          </a:xfrm>
        </p:grpSpPr>
        <p:sp>
          <p:nvSpPr>
            <p:cNvPr id="6" name="Freeform 6"/>
            <p:cNvSpPr/>
            <p:nvPr/>
          </p:nvSpPr>
          <p:spPr>
            <a:xfrm>
              <a:off x="359410" y="1016000"/>
              <a:ext cx="12146298" cy="7500620"/>
            </a:xfrm>
            <a:custGeom>
              <a:avLst/>
              <a:gdLst/>
              <a:ahLst/>
              <a:cxnLst/>
              <a:rect l="l" t="t" r="r" b="b"/>
              <a:pathLst>
                <a:path w="12146298" h="7500620">
                  <a:moveTo>
                    <a:pt x="12006580" y="7500620"/>
                  </a:moveTo>
                  <a:lnTo>
                    <a:pt x="170180" y="7500620"/>
                  </a:lnTo>
                  <a:cubicBezTo>
                    <a:pt x="77470" y="7500620"/>
                    <a:pt x="0" y="7425689"/>
                    <a:pt x="0" y="7330439"/>
                  </a:cubicBezTo>
                  <a:lnTo>
                    <a:pt x="0" y="0"/>
                  </a:lnTo>
                  <a:lnTo>
                    <a:pt x="12146280" y="0"/>
                  </a:lnTo>
                  <a:lnTo>
                    <a:pt x="12146280" y="7359650"/>
                  </a:lnTo>
                  <a:cubicBezTo>
                    <a:pt x="12147550" y="7438390"/>
                    <a:pt x="12082780" y="7500620"/>
                    <a:pt x="12006580" y="7500620"/>
                  </a:cubicBezTo>
                  <a:close/>
                </a:path>
              </a:pathLst>
            </a:custGeom>
            <a:blipFill>
              <a:blip r:embed="rId3"/>
              <a:stretch>
                <a:fillRect l="-18613" r="-18613"/>
              </a:stretch>
            </a:blipFill>
          </p:spPr>
          <p:txBody>
            <a:bodyPr/>
            <a:lstStyle/>
            <a:p>
              <a:endParaRPr lang="es-MX"/>
            </a:p>
          </p:txBody>
        </p:sp>
        <p:sp>
          <p:nvSpPr>
            <p:cNvPr id="7" name="Freeform 7"/>
            <p:cNvSpPr/>
            <p:nvPr/>
          </p:nvSpPr>
          <p:spPr>
            <a:xfrm>
              <a:off x="0" y="0"/>
              <a:ext cx="12827000" cy="8851900"/>
            </a:xfrm>
            <a:custGeom>
              <a:avLst/>
              <a:gdLst/>
              <a:ahLst/>
              <a:cxnLst/>
              <a:rect l="l" t="t" r="r" b="b"/>
              <a:pathLst>
                <a:path w="12827000" h="8851900">
                  <a:moveTo>
                    <a:pt x="0" y="0"/>
                  </a:moveTo>
                  <a:lnTo>
                    <a:pt x="12827000" y="0"/>
                  </a:lnTo>
                  <a:lnTo>
                    <a:pt x="12827000" y="8851900"/>
                  </a:lnTo>
                  <a:lnTo>
                    <a:pt x="0" y="8851900"/>
                  </a:lnTo>
                  <a:close/>
                </a:path>
              </a:pathLst>
            </a:custGeom>
          </p:spPr>
          <p:txBody>
            <a:bodyPr/>
            <a:lstStyle/>
            <a:p>
              <a:endParaRPr lang="es-MX"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4781536" y="1458690"/>
            <a:ext cx="8932296" cy="152714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1" indent="0" algn="ctr">
              <a:lnSpc>
                <a:spcPts val="8000"/>
              </a:lnSpc>
              <a:spcBef>
                <a:spcPct val="0"/>
              </a:spcBef>
            </a:pPr>
            <a:r>
              <a:rPr lang="en-US" sz="8000" b="1" u="none" strike="noStrike" spc="416" dirty="0">
                <a:solidFill>
                  <a:srgbClr val="4263EB"/>
                </a:solidFill>
                <a:latin typeface="Inter Bold"/>
                <a:ea typeface="Inter Bold"/>
                <a:cs typeface="Inter Bold"/>
                <a:sym typeface="Inter Bold"/>
              </a:rPr>
              <a:t>Cloud Execution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4781536" y="8343611"/>
            <a:ext cx="8724928" cy="12160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1" indent="0" algn="ctr">
              <a:lnSpc>
                <a:spcPts val="4900"/>
              </a:lnSpc>
              <a:spcBef>
                <a:spcPct val="0"/>
              </a:spcBef>
            </a:pPr>
            <a:r>
              <a:rPr lang="en-US" sz="3500" b="1">
                <a:solidFill>
                  <a:srgbClr val="00AEEF"/>
                </a:solidFill>
                <a:latin typeface="JetBrains Mono Bold"/>
                <a:ea typeface="JetBrains Mono Bold"/>
                <a:cs typeface="JetBrains Mono Bold"/>
                <a:sym typeface="JetBrains Mono Bold"/>
              </a:rPr>
              <a:t>Build server integrated directly into the web platform. </a:t>
            </a:r>
          </a:p>
        </p:txBody>
      </p:sp>
      <p:sp>
        <p:nvSpPr>
          <p:cNvPr id="10" name="TextBox 10"/>
          <p:cNvSpPr txBox="1"/>
          <p:nvPr/>
        </p:nvSpPr>
        <p:spPr>
          <a:xfrm rot="-584941">
            <a:off x="1170125" y="3796060"/>
            <a:ext cx="3235070" cy="20796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1" indent="0" algn="ctr">
              <a:lnSpc>
                <a:spcPts val="5599"/>
              </a:lnSpc>
              <a:spcBef>
                <a:spcPct val="0"/>
              </a:spcBef>
            </a:pPr>
            <a:r>
              <a:rPr lang="en-US" sz="3999" b="1" u="none" strike="noStrike">
                <a:solidFill>
                  <a:srgbClr val="00AEEF"/>
                </a:solidFill>
                <a:latin typeface="JetBrains Mono Bold"/>
                <a:ea typeface="JetBrains Mono Bold"/>
                <a:cs typeface="JetBrains Mono Bold"/>
                <a:sym typeface="JetBrains Mono Bold"/>
              </a:rPr>
              <a:t>Dynamic Linker (GCC)</a:t>
            </a:r>
          </a:p>
        </p:txBody>
      </p:sp>
      <p:sp>
        <p:nvSpPr>
          <p:cNvPr id="11" name="TextBox 11"/>
          <p:cNvSpPr txBox="1"/>
          <p:nvPr/>
        </p:nvSpPr>
        <p:spPr>
          <a:xfrm rot="977249">
            <a:off x="13619536" y="4149342"/>
            <a:ext cx="3845507" cy="13747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1" indent="0" algn="ctr">
              <a:lnSpc>
                <a:spcPts val="5599"/>
              </a:lnSpc>
              <a:spcBef>
                <a:spcPct val="0"/>
              </a:spcBef>
            </a:pPr>
            <a:r>
              <a:rPr lang="en-US" sz="3999" b="1">
                <a:solidFill>
                  <a:srgbClr val="00AEEF"/>
                </a:solidFill>
                <a:latin typeface="JetBrains Mono Bold"/>
                <a:ea typeface="JetBrains Mono Bold"/>
                <a:cs typeface="JetBrains Mono Bold"/>
                <a:sym typeface="JetBrains Mono Bold"/>
              </a:rPr>
              <a:t>Full p</a:t>
            </a:r>
            <a:r>
              <a:rPr lang="en-US" sz="3999" b="1" u="none" strike="noStrike">
                <a:solidFill>
                  <a:srgbClr val="00AEEF"/>
                </a:solidFill>
                <a:latin typeface="JetBrains Mono Bold"/>
                <a:ea typeface="JetBrains Mono Bold"/>
                <a:cs typeface="JetBrains Mono Bold"/>
                <a:sym typeface="JetBrains Mono Bold"/>
              </a:rPr>
              <a:t>ortability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5400000">
            <a:off x="8745955" y="-11573203"/>
            <a:ext cx="1419301" cy="23086583"/>
            <a:chOff x="0" y="0"/>
            <a:chExt cx="528671" cy="8599447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528671" cy="8599446"/>
            </a:xfrm>
            <a:custGeom>
              <a:avLst/>
              <a:gdLst/>
              <a:ahLst/>
              <a:cxnLst/>
              <a:rect l="l" t="t" r="r" b="b"/>
              <a:pathLst>
                <a:path w="528671" h="8599446">
                  <a:moveTo>
                    <a:pt x="0" y="0"/>
                  </a:moveTo>
                  <a:lnTo>
                    <a:pt x="528671" y="0"/>
                  </a:lnTo>
                  <a:lnTo>
                    <a:pt x="528671" y="8599446"/>
                  </a:lnTo>
                  <a:lnTo>
                    <a:pt x="0" y="8599446"/>
                  </a:lnTo>
                  <a:close/>
                </a:path>
              </a:pathLst>
            </a:custGeom>
            <a:solidFill>
              <a:srgbClr val="262262"/>
            </a:solidFill>
          </p:spPr>
          <p:txBody>
            <a:bodyPr/>
            <a:lstStyle/>
            <a:p>
              <a:endParaRPr lang="es-MX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28575"/>
              <a:ext cx="528671" cy="8628022"/>
            </a:xfrm>
            <a:prstGeom prst="rect">
              <a:avLst/>
            </a:prstGeom>
          </p:spPr>
          <p:txBody>
            <a:bodyPr lIns="48876" tIns="48876" rIns="48876" bIns="48876" rtlCol="0" anchor="ctr"/>
            <a:lstStyle/>
            <a:p>
              <a:pPr algn="ctr">
                <a:lnSpc>
                  <a:spcPts val="2344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6593815" y="2585693"/>
            <a:ext cx="5389667" cy="6871045"/>
            <a:chOff x="0" y="0"/>
            <a:chExt cx="1419501" cy="1809658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1419501" cy="1809658"/>
            </a:xfrm>
            <a:custGeom>
              <a:avLst/>
              <a:gdLst/>
              <a:ahLst/>
              <a:cxnLst/>
              <a:rect l="l" t="t" r="r" b="b"/>
              <a:pathLst>
                <a:path w="1419501" h="1809658">
                  <a:moveTo>
                    <a:pt x="0" y="0"/>
                  </a:moveTo>
                  <a:lnTo>
                    <a:pt x="1419501" y="0"/>
                  </a:lnTo>
                  <a:lnTo>
                    <a:pt x="1419501" y="1809658"/>
                  </a:lnTo>
                  <a:lnTo>
                    <a:pt x="0" y="1809658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es-MX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28575"/>
              <a:ext cx="1419501" cy="18382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44"/>
                </a:lnSpc>
              </a:pPr>
              <a:endParaRPr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6368533" y="2426326"/>
            <a:ext cx="5459435" cy="6882349"/>
            <a:chOff x="0" y="0"/>
            <a:chExt cx="1386289" cy="1747603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1386289" cy="1747603"/>
            </a:xfrm>
            <a:custGeom>
              <a:avLst/>
              <a:gdLst/>
              <a:ahLst/>
              <a:cxnLst/>
              <a:rect l="l" t="t" r="r" b="b"/>
              <a:pathLst>
                <a:path w="1386289" h="1747603">
                  <a:moveTo>
                    <a:pt x="0" y="0"/>
                  </a:moveTo>
                  <a:lnTo>
                    <a:pt x="1386289" y="0"/>
                  </a:lnTo>
                  <a:lnTo>
                    <a:pt x="1386289" y="1747603"/>
                  </a:lnTo>
                  <a:lnTo>
                    <a:pt x="0" y="1747603"/>
                  </a:lnTo>
                  <a:close/>
                </a:path>
              </a:pathLst>
            </a:custGeom>
            <a:solidFill>
              <a:srgbClr val="00C2FF"/>
            </a:solidFill>
            <a:ln w="38100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s-MX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28575"/>
              <a:ext cx="1386289" cy="177617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44"/>
                </a:lnSpc>
              </a:pPr>
              <a:endParaRPr/>
            </a:p>
          </p:txBody>
        </p:sp>
      </p:grpSp>
      <p:sp>
        <p:nvSpPr>
          <p:cNvPr id="11" name="AutoShape 11"/>
          <p:cNvSpPr/>
          <p:nvPr/>
        </p:nvSpPr>
        <p:spPr>
          <a:xfrm>
            <a:off x="6748776" y="5074418"/>
            <a:ext cx="4698950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s-MX"/>
          </a:p>
        </p:txBody>
      </p:sp>
      <p:grpSp>
        <p:nvGrpSpPr>
          <p:cNvPr id="12" name="Group 12"/>
          <p:cNvGrpSpPr/>
          <p:nvPr/>
        </p:nvGrpSpPr>
        <p:grpSpPr>
          <a:xfrm>
            <a:off x="6762737" y="2762674"/>
            <a:ext cx="4671027" cy="513781"/>
            <a:chOff x="0" y="0"/>
            <a:chExt cx="1167218" cy="128386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1167218" cy="128386"/>
            </a:xfrm>
            <a:custGeom>
              <a:avLst/>
              <a:gdLst/>
              <a:ahLst/>
              <a:cxnLst/>
              <a:rect l="l" t="t" r="r" b="b"/>
              <a:pathLst>
                <a:path w="1167218" h="128386">
                  <a:moveTo>
                    <a:pt x="0" y="0"/>
                  </a:moveTo>
                  <a:lnTo>
                    <a:pt x="1167218" y="0"/>
                  </a:lnTo>
                  <a:lnTo>
                    <a:pt x="1167218" y="128386"/>
                  </a:lnTo>
                  <a:lnTo>
                    <a:pt x="0" y="128386"/>
                  </a:lnTo>
                  <a:close/>
                </a:path>
              </a:pathLst>
            </a:custGeom>
            <a:solidFill>
              <a:srgbClr val="FF2929"/>
            </a:solidFill>
            <a:ln w="28575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s-MX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-28575"/>
              <a:ext cx="1167218" cy="15696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629512" y="2958135"/>
            <a:ext cx="5389667" cy="6246269"/>
            <a:chOff x="0" y="0"/>
            <a:chExt cx="1419501" cy="1645108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1419501" cy="1645108"/>
            </a:xfrm>
            <a:custGeom>
              <a:avLst/>
              <a:gdLst/>
              <a:ahLst/>
              <a:cxnLst/>
              <a:rect l="l" t="t" r="r" b="b"/>
              <a:pathLst>
                <a:path w="1419501" h="1645108">
                  <a:moveTo>
                    <a:pt x="0" y="0"/>
                  </a:moveTo>
                  <a:lnTo>
                    <a:pt x="1419501" y="0"/>
                  </a:lnTo>
                  <a:lnTo>
                    <a:pt x="1419501" y="1645108"/>
                  </a:lnTo>
                  <a:lnTo>
                    <a:pt x="0" y="1645108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es-MX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-28575"/>
              <a:ext cx="1419501" cy="167368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44"/>
                </a:lnSpc>
              </a:pPr>
              <a:endParaRPr/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404231" y="2813259"/>
            <a:ext cx="5459435" cy="6256546"/>
            <a:chOff x="0" y="0"/>
            <a:chExt cx="1386289" cy="1588696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1386289" cy="1588696"/>
            </a:xfrm>
            <a:custGeom>
              <a:avLst/>
              <a:gdLst/>
              <a:ahLst/>
              <a:cxnLst/>
              <a:rect l="l" t="t" r="r" b="b"/>
              <a:pathLst>
                <a:path w="1386289" h="1588696">
                  <a:moveTo>
                    <a:pt x="0" y="0"/>
                  </a:moveTo>
                  <a:lnTo>
                    <a:pt x="1386289" y="0"/>
                  </a:lnTo>
                  <a:lnTo>
                    <a:pt x="1386289" y="1588696"/>
                  </a:lnTo>
                  <a:lnTo>
                    <a:pt x="0" y="1588696"/>
                  </a:lnTo>
                  <a:close/>
                </a:path>
              </a:pathLst>
            </a:custGeom>
            <a:solidFill>
              <a:srgbClr val="FFFFFF"/>
            </a:solidFill>
            <a:ln w="38100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s-MX"/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0" y="-28575"/>
              <a:ext cx="1386289" cy="161727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44"/>
                </a:lnSpc>
              </a:pPr>
              <a:endParaRPr/>
            </a:p>
          </p:txBody>
        </p:sp>
      </p:grpSp>
      <p:sp>
        <p:nvSpPr>
          <p:cNvPr id="21" name="AutoShape 21"/>
          <p:cNvSpPr/>
          <p:nvPr/>
        </p:nvSpPr>
        <p:spPr>
          <a:xfrm>
            <a:off x="784473" y="4740265"/>
            <a:ext cx="4698950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s-MX"/>
          </a:p>
        </p:txBody>
      </p:sp>
      <p:grpSp>
        <p:nvGrpSpPr>
          <p:cNvPr id="22" name="Group 22"/>
          <p:cNvGrpSpPr/>
          <p:nvPr/>
        </p:nvGrpSpPr>
        <p:grpSpPr>
          <a:xfrm>
            <a:off x="12561189" y="3030574"/>
            <a:ext cx="5389667" cy="6246269"/>
            <a:chOff x="0" y="0"/>
            <a:chExt cx="1419501" cy="1645108"/>
          </a:xfrm>
        </p:grpSpPr>
        <p:sp>
          <p:nvSpPr>
            <p:cNvPr id="23" name="Freeform 23"/>
            <p:cNvSpPr/>
            <p:nvPr/>
          </p:nvSpPr>
          <p:spPr>
            <a:xfrm>
              <a:off x="0" y="0"/>
              <a:ext cx="1419501" cy="1645108"/>
            </a:xfrm>
            <a:custGeom>
              <a:avLst/>
              <a:gdLst/>
              <a:ahLst/>
              <a:cxnLst/>
              <a:rect l="l" t="t" r="r" b="b"/>
              <a:pathLst>
                <a:path w="1419501" h="1645108">
                  <a:moveTo>
                    <a:pt x="0" y="0"/>
                  </a:moveTo>
                  <a:lnTo>
                    <a:pt x="1419501" y="0"/>
                  </a:lnTo>
                  <a:lnTo>
                    <a:pt x="1419501" y="1645108"/>
                  </a:lnTo>
                  <a:lnTo>
                    <a:pt x="0" y="1645108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es-MX"/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0" y="-28575"/>
              <a:ext cx="1419501" cy="167368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44"/>
                </a:lnSpc>
              </a:pPr>
              <a:endParaRPr/>
            </a:p>
          </p:txBody>
        </p:sp>
      </p:grpSp>
      <p:grpSp>
        <p:nvGrpSpPr>
          <p:cNvPr id="25" name="Group 25"/>
          <p:cNvGrpSpPr/>
          <p:nvPr/>
        </p:nvGrpSpPr>
        <p:grpSpPr>
          <a:xfrm>
            <a:off x="12335907" y="2885697"/>
            <a:ext cx="5459435" cy="6256546"/>
            <a:chOff x="0" y="0"/>
            <a:chExt cx="1386289" cy="1588696"/>
          </a:xfrm>
        </p:grpSpPr>
        <p:sp>
          <p:nvSpPr>
            <p:cNvPr id="26" name="Freeform 26"/>
            <p:cNvSpPr/>
            <p:nvPr/>
          </p:nvSpPr>
          <p:spPr>
            <a:xfrm>
              <a:off x="0" y="0"/>
              <a:ext cx="1386289" cy="1588696"/>
            </a:xfrm>
            <a:custGeom>
              <a:avLst/>
              <a:gdLst/>
              <a:ahLst/>
              <a:cxnLst/>
              <a:rect l="l" t="t" r="r" b="b"/>
              <a:pathLst>
                <a:path w="1386289" h="1588696">
                  <a:moveTo>
                    <a:pt x="0" y="0"/>
                  </a:moveTo>
                  <a:lnTo>
                    <a:pt x="1386289" y="0"/>
                  </a:lnTo>
                  <a:lnTo>
                    <a:pt x="1386289" y="1588696"/>
                  </a:lnTo>
                  <a:lnTo>
                    <a:pt x="0" y="1588696"/>
                  </a:lnTo>
                  <a:close/>
                </a:path>
              </a:pathLst>
            </a:custGeom>
            <a:solidFill>
              <a:srgbClr val="FFFFFF"/>
            </a:solidFill>
            <a:ln w="38100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s-MX"/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0" y="-28575"/>
              <a:ext cx="1386289" cy="161727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44"/>
                </a:lnSpc>
              </a:pPr>
              <a:endParaRPr/>
            </a:p>
          </p:txBody>
        </p:sp>
      </p:grpSp>
      <p:sp>
        <p:nvSpPr>
          <p:cNvPr id="28" name="AutoShape 28"/>
          <p:cNvSpPr/>
          <p:nvPr/>
        </p:nvSpPr>
        <p:spPr>
          <a:xfrm>
            <a:off x="12716150" y="4812703"/>
            <a:ext cx="4698950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s-MX"/>
          </a:p>
        </p:txBody>
      </p:sp>
      <p:sp>
        <p:nvSpPr>
          <p:cNvPr id="29" name="TextBox 29"/>
          <p:cNvSpPr txBox="1"/>
          <p:nvPr/>
        </p:nvSpPr>
        <p:spPr>
          <a:xfrm>
            <a:off x="3133948" y="1015098"/>
            <a:ext cx="12436066" cy="106668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1" indent="0" algn="ctr">
              <a:lnSpc>
                <a:spcPts val="8000"/>
              </a:lnSpc>
              <a:spcBef>
                <a:spcPct val="0"/>
              </a:spcBef>
            </a:pPr>
            <a:r>
              <a:rPr lang="en-US" sz="8000" b="1" u="none" strike="noStrike" spc="416" dirty="0">
                <a:solidFill>
                  <a:srgbClr val="4263EB"/>
                </a:solidFill>
                <a:latin typeface="Inter Bold"/>
                <a:ea typeface="Inter Bold"/>
                <a:cs typeface="Inter Bold"/>
                <a:sym typeface="Inter Bold"/>
              </a:rPr>
              <a:t>Subscription Plans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6641440" y="5316167"/>
            <a:ext cx="4607135" cy="35692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537442" lvl="1" indent="-268721" algn="just">
              <a:lnSpc>
                <a:spcPts val="4057"/>
              </a:lnSpc>
              <a:buFont typeface="Arial"/>
              <a:buChar char="•"/>
            </a:pPr>
            <a:r>
              <a:rPr lang="en-US" sz="2489" b="1">
                <a:solidFill>
                  <a:srgbClr val="000000"/>
                </a:solidFill>
                <a:latin typeface="Helios Bold"/>
                <a:ea typeface="Helios Bold"/>
                <a:cs typeface="Helios Bold"/>
                <a:sym typeface="Helios Bold"/>
              </a:rPr>
              <a:t>Unlimited builds.</a:t>
            </a:r>
          </a:p>
          <a:p>
            <a:pPr marL="537442" lvl="1" indent="-268721" algn="just">
              <a:lnSpc>
                <a:spcPts val="4057"/>
              </a:lnSpc>
              <a:buFont typeface="Arial"/>
              <a:buChar char="•"/>
            </a:pPr>
            <a:r>
              <a:rPr lang="en-US" sz="2489">
                <a:solidFill>
                  <a:srgbClr val="000000"/>
                </a:solidFill>
                <a:latin typeface="Helios"/>
                <a:ea typeface="Helios"/>
                <a:cs typeface="Helios"/>
                <a:sym typeface="Helios"/>
              </a:rPr>
              <a:t>Customizable web interface (image/video backgrounds).</a:t>
            </a:r>
          </a:p>
          <a:p>
            <a:pPr marL="537442" lvl="1" indent="-268721" algn="just">
              <a:lnSpc>
                <a:spcPts val="4057"/>
              </a:lnSpc>
              <a:buFont typeface="Arial"/>
              <a:buChar char="•"/>
            </a:pPr>
            <a:r>
              <a:rPr lang="en-US" sz="2489">
                <a:solidFill>
                  <a:srgbClr val="000000"/>
                </a:solidFill>
                <a:latin typeface="Helios"/>
                <a:ea typeface="Helios"/>
                <a:cs typeface="Helios"/>
                <a:sym typeface="Helios"/>
              </a:rPr>
              <a:t>Full report downloads (.JSON, .ASM, and .out binaries).</a:t>
            </a:r>
          </a:p>
          <a:p>
            <a:pPr marL="537442" lvl="1" indent="-268721" algn="just">
              <a:lnSpc>
                <a:spcPts val="4057"/>
              </a:lnSpc>
              <a:buFont typeface="Arial"/>
              <a:buChar char="•"/>
            </a:pPr>
            <a:r>
              <a:rPr lang="en-US" sz="2489">
                <a:solidFill>
                  <a:srgbClr val="000000"/>
                </a:solidFill>
                <a:latin typeface="Helios"/>
                <a:ea typeface="Helios"/>
                <a:cs typeface="Helios"/>
                <a:sym typeface="Helios"/>
              </a:rPr>
              <a:t>Priority technical support.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6708115" y="3536131"/>
            <a:ext cx="3695941" cy="66040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5000"/>
              </a:lnSpc>
            </a:pPr>
            <a:r>
              <a:rPr lang="en-US" sz="5000" b="1" spc="260" dirty="0">
                <a:solidFill>
                  <a:srgbClr val="262262"/>
                </a:solidFill>
                <a:latin typeface="Inter Bold"/>
                <a:ea typeface="Inter Bold"/>
                <a:cs typeface="Inter Bold"/>
                <a:sym typeface="Inter Bold"/>
              </a:rPr>
              <a:t>Pro-load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6708114" y="4272731"/>
            <a:ext cx="4607135" cy="53022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999"/>
              </a:lnSpc>
            </a:pPr>
            <a:r>
              <a:rPr lang="en-US" sz="3999" b="1" spc="207" dirty="0">
                <a:solidFill>
                  <a:srgbClr val="FFFFFF"/>
                </a:solidFill>
                <a:latin typeface="Inter Bold"/>
                <a:ea typeface="Inter Bold"/>
                <a:cs typeface="Inter Bold"/>
                <a:sym typeface="Inter Bold"/>
              </a:rPr>
              <a:t>$15 USD/month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6900302" y="2719337"/>
            <a:ext cx="4395898" cy="4861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1"/>
              </a:lnSpc>
            </a:pPr>
            <a:r>
              <a:rPr lang="en-US" sz="2400" b="1">
                <a:solidFill>
                  <a:srgbClr val="FFFFFF"/>
                </a:solidFill>
                <a:latin typeface="Helios Bold"/>
                <a:ea typeface="Helios Bold"/>
                <a:cs typeface="Helios Bold"/>
                <a:sym typeface="Helios Bold"/>
              </a:rPr>
              <a:t>OFFER</a:t>
            </a:r>
            <a:r>
              <a:rPr lang="en-US" sz="2400" b="1" u="none" strike="noStrike">
                <a:solidFill>
                  <a:srgbClr val="FFFFFF"/>
                </a:solidFill>
                <a:latin typeface="Helios Bold"/>
                <a:ea typeface="Helios Bold"/>
                <a:cs typeface="Helios Bold"/>
                <a:sym typeface="Helios Bold"/>
              </a:rPr>
              <a:t>: $5/month (3 months)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708273" y="4986758"/>
            <a:ext cx="4547424" cy="35649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537442" lvl="1" indent="-268721" algn="just">
              <a:lnSpc>
                <a:spcPts val="4057"/>
              </a:lnSpc>
              <a:buFont typeface="Arial"/>
              <a:buChar char="•"/>
            </a:pPr>
            <a:r>
              <a:rPr lang="en-US" sz="2489">
                <a:solidFill>
                  <a:srgbClr val="000000"/>
                </a:solidFill>
                <a:latin typeface="Helios"/>
                <a:ea typeface="Helios"/>
                <a:cs typeface="Helios"/>
                <a:sym typeface="Helios"/>
              </a:rPr>
              <a:t>Full analysis (Lexical, Semantic, Visual SDT, Optimized Code, TAC, ASM).</a:t>
            </a:r>
          </a:p>
          <a:p>
            <a:pPr marL="537442" lvl="1" indent="-268721" algn="just">
              <a:lnSpc>
                <a:spcPts val="4057"/>
              </a:lnSpc>
              <a:buFont typeface="Arial"/>
              <a:buChar char="•"/>
            </a:pPr>
            <a:r>
              <a:rPr lang="en-US" sz="2489">
                <a:solidFill>
                  <a:srgbClr val="000000"/>
                </a:solidFill>
                <a:latin typeface="Helios"/>
                <a:ea typeface="Helios"/>
                <a:cs typeface="Helios"/>
                <a:sym typeface="Helios"/>
              </a:rPr>
              <a:t>Standard interface (static).</a:t>
            </a:r>
          </a:p>
          <a:p>
            <a:pPr marL="537442" lvl="1" indent="-268721" algn="just">
              <a:lnSpc>
                <a:spcPts val="4057"/>
              </a:lnSpc>
              <a:buFont typeface="Arial"/>
              <a:buChar char="•"/>
            </a:pPr>
            <a:r>
              <a:rPr lang="en-US" sz="2489">
                <a:solidFill>
                  <a:srgbClr val="000000"/>
                </a:solidFill>
                <a:latin typeface="Helios"/>
                <a:ea typeface="Helios"/>
                <a:cs typeface="Helios"/>
                <a:sym typeface="Helios"/>
              </a:rPr>
              <a:t>Limit of 5 to 10 compilations per day.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846060" y="3201977"/>
            <a:ext cx="3925729" cy="66040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5000"/>
              </a:lnSpc>
            </a:pPr>
            <a:r>
              <a:rPr lang="en-US" sz="5000" b="1" spc="260" dirty="0">
                <a:solidFill>
                  <a:srgbClr val="262262"/>
                </a:solidFill>
                <a:latin typeface="Inter Bold"/>
                <a:ea typeface="Inter Bold"/>
                <a:cs typeface="Inter Bold"/>
                <a:sym typeface="Inter Bold"/>
              </a:rPr>
              <a:t>Free-load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846060" y="3938577"/>
            <a:ext cx="4542780" cy="53022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999"/>
              </a:lnSpc>
            </a:pPr>
            <a:r>
              <a:rPr lang="en-US" sz="3999" b="1" spc="207" dirty="0">
                <a:solidFill>
                  <a:srgbClr val="737373"/>
                </a:solidFill>
                <a:latin typeface="Inter Bold"/>
                <a:ea typeface="Inter Bold"/>
                <a:cs typeface="Inter Bold"/>
                <a:sym typeface="Inter Bold"/>
              </a:rPr>
              <a:t>$0 USD/month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12639950" y="5059196"/>
            <a:ext cx="4547424" cy="3569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537442" lvl="1" indent="-268721" algn="just">
              <a:lnSpc>
                <a:spcPts val="4057"/>
              </a:lnSpc>
              <a:buFont typeface="Arial"/>
              <a:buChar char="•"/>
            </a:pPr>
            <a:r>
              <a:rPr lang="en-US" sz="2489">
                <a:solidFill>
                  <a:srgbClr val="000000"/>
                </a:solidFill>
                <a:latin typeface="Helios"/>
                <a:ea typeface="Helios"/>
                <a:cs typeface="Helios"/>
                <a:sym typeface="Helios"/>
              </a:rPr>
              <a:t>All Pro benefits at half price.</a:t>
            </a:r>
          </a:p>
          <a:p>
            <a:pPr marL="537442" lvl="1" indent="-268721" algn="just">
              <a:lnSpc>
                <a:spcPts val="4057"/>
              </a:lnSpc>
              <a:buFont typeface="Arial"/>
              <a:buChar char="•"/>
            </a:pPr>
            <a:r>
              <a:rPr lang="en-US" sz="2489">
                <a:solidFill>
                  <a:srgbClr val="000000"/>
                </a:solidFill>
                <a:latin typeface="Helios"/>
                <a:ea typeface="Helios"/>
                <a:cs typeface="Helios"/>
                <a:sym typeface="Helios"/>
              </a:rPr>
              <a:t>Rate guaranteed for 3 years.</a:t>
            </a:r>
          </a:p>
          <a:p>
            <a:pPr marL="537591" lvl="1" indent="-268796" algn="just">
              <a:lnSpc>
                <a:spcPts val="4058"/>
              </a:lnSpc>
              <a:buFont typeface="Arial"/>
              <a:buChar char="•"/>
            </a:pPr>
            <a:r>
              <a:rPr lang="en-US" sz="2490" i="1">
                <a:solidFill>
                  <a:srgbClr val="000000"/>
                </a:solidFill>
                <a:latin typeface="Helios Italics"/>
                <a:ea typeface="Helios Italics"/>
                <a:cs typeface="Helios Italics"/>
                <a:sym typeface="Helios Italics"/>
              </a:rPr>
              <a:t>Requires an application via institutional email, including proof of enrollment and academic transcript.</a:t>
            </a:r>
          </a:p>
        </p:txBody>
      </p:sp>
      <p:sp>
        <p:nvSpPr>
          <p:cNvPr id="38" name="TextBox 38"/>
          <p:cNvSpPr txBox="1"/>
          <p:nvPr/>
        </p:nvSpPr>
        <p:spPr>
          <a:xfrm>
            <a:off x="12745482" y="3274416"/>
            <a:ext cx="3662244" cy="6604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000"/>
              </a:lnSpc>
            </a:pPr>
            <a:r>
              <a:rPr lang="en-US" sz="5000" b="1" spc="260" dirty="0">
                <a:solidFill>
                  <a:srgbClr val="262262"/>
                </a:solidFill>
                <a:latin typeface="Inter Bold"/>
                <a:ea typeface="Inter Bold"/>
                <a:cs typeface="Inter Bold"/>
                <a:sym typeface="Inter Bold"/>
              </a:rPr>
              <a:t>University 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12745482" y="4011016"/>
            <a:ext cx="2708434" cy="5302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99"/>
              </a:lnSpc>
            </a:pPr>
            <a:r>
              <a:rPr lang="en-US" sz="3999" b="1" spc="207">
                <a:solidFill>
                  <a:srgbClr val="737373"/>
                </a:solidFill>
                <a:latin typeface="Inter Bold"/>
                <a:ea typeface="Inter Bold"/>
                <a:cs typeface="Inter Bold"/>
                <a:sym typeface="Inter Bold"/>
              </a:rPr>
              <a:t>-50% OFF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5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5400000">
            <a:off x="8745955" y="-11573203"/>
            <a:ext cx="1419301" cy="23086583"/>
            <a:chOff x="0" y="0"/>
            <a:chExt cx="528671" cy="8599447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528671" cy="8599446"/>
            </a:xfrm>
            <a:custGeom>
              <a:avLst/>
              <a:gdLst/>
              <a:ahLst/>
              <a:cxnLst/>
              <a:rect l="l" t="t" r="r" b="b"/>
              <a:pathLst>
                <a:path w="528671" h="8599446">
                  <a:moveTo>
                    <a:pt x="0" y="0"/>
                  </a:moveTo>
                  <a:lnTo>
                    <a:pt x="528671" y="0"/>
                  </a:lnTo>
                  <a:lnTo>
                    <a:pt x="528671" y="8599446"/>
                  </a:lnTo>
                  <a:lnTo>
                    <a:pt x="0" y="8599446"/>
                  </a:lnTo>
                  <a:close/>
                </a:path>
              </a:pathLst>
            </a:custGeom>
            <a:solidFill>
              <a:srgbClr val="262262"/>
            </a:solidFill>
          </p:spPr>
          <p:txBody>
            <a:bodyPr/>
            <a:lstStyle/>
            <a:p>
              <a:endParaRPr lang="es-MX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28575"/>
              <a:ext cx="528671" cy="8628022"/>
            </a:xfrm>
            <a:prstGeom prst="rect">
              <a:avLst/>
            </a:prstGeom>
          </p:spPr>
          <p:txBody>
            <a:bodyPr lIns="48876" tIns="48876" rIns="48876" bIns="48876" rtlCol="0" anchor="ctr"/>
            <a:lstStyle/>
            <a:p>
              <a:pPr algn="ctr">
                <a:lnSpc>
                  <a:spcPts val="2344"/>
                </a:lnSpc>
              </a:pPr>
              <a:endParaRPr/>
            </a:p>
          </p:txBody>
        </p:sp>
      </p:grpSp>
      <p:sp>
        <p:nvSpPr>
          <p:cNvPr id="5" name="TextBox 5"/>
          <p:cNvSpPr txBox="1"/>
          <p:nvPr/>
        </p:nvSpPr>
        <p:spPr>
          <a:xfrm>
            <a:off x="2805517" y="1307398"/>
            <a:ext cx="12676966" cy="10001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1" indent="0" algn="ctr">
              <a:lnSpc>
                <a:spcPts val="7500"/>
              </a:lnSpc>
              <a:spcBef>
                <a:spcPct val="0"/>
              </a:spcBef>
            </a:pPr>
            <a:r>
              <a:rPr lang="en-US" sz="6500" b="1" u="none" strike="noStrike" spc="390" dirty="0">
                <a:solidFill>
                  <a:srgbClr val="4263EB"/>
                </a:solidFill>
                <a:latin typeface="Inter Bold"/>
                <a:ea typeface="Inter Bold"/>
                <a:cs typeface="Inter Bold"/>
                <a:sym typeface="Inter Bold"/>
              </a:rPr>
              <a:t>The true cost of the code</a:t>
            </a:r>
          </a:p>
        </p:txBody>
      </p:sp>
      <p:grpSp>
        <p:nvGrpSpPr>
          <p:cNvPr id="6" name="Group 6"/>
          <p:cNvGrpSpPr/>
          <p:nvPr/>
        </p:nvGrpSpPr>
        <p:grpSpPr>
          <a:xfrm>
            <a:off x="1314342" y="3097676"/>
            <a:ext cx="6833739" cy="6461960"/>
            <a:chOff x="0" y="0"/>
            <a:chExt cx="1799832" cy="1701915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799832" cy="1701915"/>
            </a:xfrm>
            <a:custGeom>
              <a:avLst/>
              <a:gdLst/>
              <a:ahLst/>
              <a:cxnLst/>
              <a:rect l="l" t="t" r="r" b="b"/>
              <a:pathLst>
                <a:path w="1799832" h="1701915">
                  <a:moveTo>
                    <a:pt x="0" y="0"/>
                  </a:moveTo>
                  <a:lnTo>
                    <a:pt x="1799832" y="0"/>
                  </a:lnTo>
                  <a:lnTo>
                    <a:pt x="1799832" y="1701915"/>
                  </a:lnTo>
                  <a:lnTo>
                    <a:pt x="0" y="1701915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es-MX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28575"/>
              <a:ext cx="1799832" cy="173049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44"/>
                </a:lnSpc>
              </a:pPr>
              <a:endParaRPr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1028700" y="2947797"/>
            <a:ext cx="6922199" cy="6472591"/>
            <a:chOff x="0" y="0"/>
            <a:chExt cx="1757722" cy="1643555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1757722" cy="1643555"/>
            </a:xfrm>
            <a:custGeom>
              <a:avLst/>
              <a:gdLst/>
              <a:ahLst/>
              <a:cxnLst/>
              <a:rect l="l" t="t" r="r" b="b"/>
              <a:pathLst>
                <a:path w="1757722" h="1643555">
                  <a:moveTo>
                    <a:pt x="0" y="0"/>
                  </a:moveTo>
                  <a:lnTo>
                    <a:pt x="1757722" y="0"/>
                  </a:lnTo>
                  <a:lnTo>
                    <a:pt x="1757722" y="1643555"/>
                  </a:lnTo>
                  <a:lnTo>
                    <a:pt x="0" y="1643555"/>
                  </a:lnTo>
                  <a:close/>
                </a:path>
              </a:pathLst>
            </a:custGeom>
            <a:solidFill>
              <a:srgbClr val="DDF4FF"/>
            </a:solidFill>
            <a:ln w="38100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s-MX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0" y="-28575"/>
              <a:ext cx="1757722" cy="167213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44"/>
                </a:lnSpc>
              </a:pPr>
              <a:endParaRPr/>
            </a:p>
          </p:txBody>
        </p:sp>
      </p:grpSp>
      <p:sp>
        <p:nvSpPr>
          <p:cNvPr id="12" name="AutoShape 12"/>
          <p:cNvSpPr/>
          <p:nvPr/>
        </p:nvSpPr>
        <p:spPr>
          <a:xfrm>
            <a:off x="1510822" y="4211369"/>
            <a:ext cx="5957955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s-MX"/>
          </a:p>
        </p:txBody>
      </p:sp>
      <p:grpSp>
        <p:nvGrpSpPr>
          <p:cNvPr id="13" name="Group 13"/>
          <p:cNvGrpSpPr/>
          <p:nvPr/>
        </p:nvGrpSpPr>
        <p:grpSpPr>
          <a:xfrm>
            <a:off x="8986453" y="3237327"/>
            <a:ext cx="8353814" cy="6020973"/>
            <a:chOff x="0" y="0"/>
            <a:chExt cx="2200181" cy="1585771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2200181" cy="1585771"/>
            </a:xfrm>
            <a:custGeom>
              <a:avLst/>
              <a:gdLst/>
              <a:ahLst/>
              <a:cxnLst/>
              <a:rect l="l" t="t" r="r" b="b"/>
              <a:pathLst>
                <a:path w="2200181" h="1585771">
                  <a:moveTo>
                    <a:pt x="0" y="0"/>
                  </a:moveTo>
                  <a:lnTo>
                    <a:pt x="2200181" y="0"/>
                  </a:lnTo>
                  <a:lnTo>
                    <a:pt x="2200181" y="1585771"/>
                  </a:lnTo>
                  <a:lnTo>
                    <a:pt x="0" y="1585771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es-MX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28575"/>
              <a:ext cx="2200181" cy="161434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44"/>
                </a:lnSpc>
              </a:pPr>
              <a:endParaRPr/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8637274" y="3097676"/>
            <a:ext cx="8461951" cy="6030878"/>
            <a:chOff x="0" y="0"/>
            <a:chExt cx="2148704" cy="1531393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2148704" cy="1531393"/>
            </a:xfrm>
            <a:custGeom>
              <a:avLst/>
              <a:gdLst/>
              <a:ahLst/>
              <a:cxnLst/>
              <a:rect l="l" t="t" r="r" b="b"/>
              <a:pathLst>
                <a:path w="2148704" h="1531393">
                  <a:moveTo>
                    <a:pt x="0" y="0"/>
                  </a:moveTo>
                  <a:lnTo>
                    <a:pt x="2148704" y="0"/>
                  </a:lnTo>
                  <a:lnTo>
                    <a:pt x="2148704" y="1531393"/>
                  </a:lnTo>
                  <a:lnTo>
                    <a:pt x="0" y="1531393"/>
                  </a:lnTo>
                  <a:close/>
                </a:path>
              </a:pathLst>
            </a:custGeom>
            <a:solidFill>
              <a:srgbClr val="DDF4FF"/>
            </a:solidFill>
            <a:ln w="38100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s-MX"/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0" y="-28575"/>
              <a:ext cx="2148704" cy="155996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44"/>
                </a:lnSpc>
              </a:pPr>
              <a:endParaRPr/>
            </a:p>
          </p:txBody>
        </p:sp>
      </p:grpSp>
      <p:sp>
        <p:nvSpPr>
          <p:cNvPr id="19" name="AutoShape 19"/>
          <p:cNvSpPr/>
          <p:nvPr/>
        </p:nvSpPr>
        <p:spPr>
          <a:xfrm>
            <a:off x="9226638" y="4422210"/>
            <a:ext cx="7283224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s-MX"/>
          </a:p>
        </p:txBody>
      </p:sp>
      <p:sp>
        <p:nvSpPr>
          <p:cNvPr id="20" name="Freeform 20"/>
          <p:cNvSpPr/>
          <p:nvPr/>
        </p:nvSpPr>
        <p:spPr>
          <a:xfrm>
            <a:off x="1028700" y="1508498"/>
            <a:ext cx="1884796" cy="1439299"/>
          </a:xfrm>
          <a:custGeom>
            <a:avLst/>
            <a:gdLst/>
            <a:ahLst/>
            <a:cxnLst/>
            <a:rect l="l" t="t" r="r" b="b"/>
            <a:pathLst>
              <a:path w="1884796" h="1439299">
                <a:moveTo>
                  <a:pt x="0" y="0"/>
                </a:moveTo>
                <a:lnTo>
                  <a:pt x="1884796" y="0"/>
                </a:lnTo>
                <a:lnTo>
                  <a:pt x="1884796" y="1439299"/>
                </a:lnTo>
                <a:lnTo>
                  <a:pt x="0" y="1439299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MX"/>
          </a:p>
        </p:txBody>
      </p:sp>
      <p:sp>
        <p:nvSpPr>
          <p:cNvPr id="21" name="Freeform 21"/>
          <p:cNvSpPr/>
          <p:nvPr/>
        </p:nvSpPr>
        <p:spPr>
          <a:xfrm flipH="1">
            <a:off x="15453270" y="2097212"/>
            <a:ext cx="2308535" cy="1464870"/>
          </a:xfrm>
          <a:custGeom>
            <a:avLst/>
            <a:gdLst/>
            <a:ahLst/>
            <a:cxnLst/>
            <a:rect l="l" t="t" r="r" b="b"/>
            <a:pathLst>
              <a:path w="2308535" h="1464870">
                <a:moveTo>
                  <a:pt x="2308535" y="0"/>
                </a:moveTo>
                <a:lnTo>
                  <a:pt x="0" y="0"/>
                </a:lnTo>
                <a:lnTo>
                  <a:pt x="0" y="1464870"/>
                </a:lnTo>
                <a:lnTo>
                  <a:pt x="2308535" y="1464870"/>
                </a:lnTo>
                <a:lnTo>
                  <a:pt x="2308535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s-MX"/>
          </a:p>
        </p:txBody>
      </p:sp>
      <p:sp>
        <p:nvSpPr>
          <p:cNvPr id="22" name="TextBox 22"/>
          <p:cNvSpPr txBox="1"/>
          <p:nvPr/>
        </p:nvSpPr>
        <p:spPr>
          <a:xfrm>
            <a:off x="1375000" y="4492357"/>
            <a:ext cx="5998527" cy="25405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537442" lvl="1" indent="-268721" algn="just">
              <a:lnSpc>
                <a:spcPts val="4057"/>
              </a:lnSpc>
              <a:buFont typeface="Arial"/>
              <a:buChar char="•"/>
            </a:pPr>
            <a:r>
              <a:rPr lang="en-US" sz="2489">
                <a:solidFill>
                  <a:srgbClr val="000000"/>
                </a:solidFill>
                <a:latin typeface="Helios"/>
                <a:ea typeface="Helios"/>
                <a:cs typeface="Helios"/>
                <a:sym typeface="Helios"/>
              </a:rPr>
              <a:t>Stripe: 31.1% of development time is spent fixing bugs and addressing technical debt.</a:t>
            </a:r>
          </a:p>
          <a:p>
            <a:pPr marL="537442" lvl="1" indent="-268721" algn="just">
              <a:lnSpc>
                <a:spcPts val="4057"/>
              </a:lnSpc>
              <a:buFont typeface="Arial"/>
              <a:buChar char="•"/>
            </a:pPr>
            <a:r>
              <a:rPr lang="en-US" sz="2489">
                <a:solidFill>
                  <a:srgbClr val="000000"/>
                </a:solidFill>
                <a:latin typeface="Helios"/>
                <a:ea typeface="Helios"/>
                <a:cs typeface="Helios"/>
                <a:sym typeface="Helios"/>
              </a:rPr>
              <a:t>CISQ: $2 billion in annual losses due to substandard software.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510822" y="3344594"/>
            <a:ext cx="5998527" cy="5302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99"/>
              </a:lnSpc>
            </a:pPr>
            <a:r>
              <a:rPr lang="en-US" sz="3999" b="1" spc="207">
                <a:solidFill>
                  <a:srgbClr val="262262"/>
                </a:solidFill>
                <a:latin typeface="Inter Bold"/>
                <a:ea typeface="Inter Bold"/>
                <a:cs typeface="Inter Bold"/>
                <a:sym typeface="Inter Bold"/>
              </a:rPr>
              <a:t>Business level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9059999" y="4617473"/>
            <a:ext cx="7365047" cy="408363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537442" lvl="1" indent="-268721" algn="just">
              <a:lnSpc>
                <a:spcPts val="4057"/>
              </a:lnSpc>
              <a:buFont typeface="Arial"/>
              <a:buChar char="•"/>
            </a:pPr>
            <a:r>
              <a:rPr lang="en-US" sz="2489">
                <a:solidFill>
                  <a:srgbClr val="000000"/>
                </a:solidFill>
                <a:latin typeface="Helios"/>
                <a:ea typeface="Helios"/>
                <a:cs typeface="Helios"/>
                <a:sym typeface="Helios"/>
              </a:rPr>
              <a:t>The Limits of AI: It generates code quickly, but struggles with system architecture and memory management.</a:t>
            </a:r>
          </a:p>
          <a:p>
            <a:pPr marL="537442" lvl="1" indent="-268721" algn="just">
              <a:lnSpc>
                <a:spcPts val="4057"/>
              </a:lnSpc>
              <a:buFont typeface="Arial"/>
              <a:buChar char="•"/>
            </a:pPr>
            <a:r>
              <a:rPr lang="en-US" sz="2489">
                <a:solidFill>
                  <a:srgbClr val="000000"/>
                </a:solidFill>
                <a:latin typeface="Helios"/>
                <a:ea typeface="Helios"/>
                <a:cs typeface="Helios"/>
                <a:sym typeface="Helios"/>
              </a:rPr>
              <a:t>Dropout Rates: Outdated compilers (gcc) lead to frustration. 30–40% dropout rate in the first semesters.</a:t>
            </a:r>
          </a:p>
          <a:p>
            <a:pPr marL="537442" lvl="1" indent="-268721" algn="just">
              <a:lnSpc>
                <a:spcPts val="4057"/>
              </a:lnSpc>
              <a:buFont typeface="Arial"/>
              <a:buChar char="•"/>
            </a:pPr>
            <a:r>
              <a:rPr lang="en-US" sz="2489">
                <a:solidFill>
                  <a:srgbClr val="000000"/>
                </a:solidFill>
                <a:latin typeface="Helios"/>
                <a:ea typeface="Helios"/>
                <a:cs typeface="Helios"/>
                <a:sym typeface="Helios"/>
              </a:rPr>
              <a:t>The IoT Boom: C is the go-to language for microcontrollers. Real engineers are needed.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8812894" y="3512573"/>
            <a:ext cx="8110710" cy="5302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99"/>
              </a:lnSpc>
            </a:pPr>
            <a:r>
              <a:rPr lang="en-US" sz="3999" b="1" spc="207">
                <a:solidFill>
                  <a:srgbClr val="262262"/>
                </a:solidFill>
                <a:latin typeface="Inter Bold"/>
                <a:ea typeface="Inter Bold"/>
                <a:cs typeface="Inter Bold"/>
                <a:sym typeface="Inter Bold"/>
              </a:rPr>
              <a:t>Industry and Student Level</a:t>
            </a:r>
          </a:p>
        </p:txBody>
      </p:sp>
      <p:grpSp>
        <p:nvGrpSpPr>
          <p:cNvPr id="26" name="Group 26"/>
          <p:cNvGrpSpPr/>
          <p:nvPr/>
        </p:nvGrpSpPr>
        <p:grpSpPr>
          <a:xfrm>
            <a:off x="1542327" y="7356791"/>
            <a:ext cx="5831201" cy="1723709"/>
            <a:chOff x="0" y="0"/>
            <a:chExt cx="1480690" cy="437693"/>
          </a:xfrm>
        </p:grpSpPr>
        <p:sp>
          <p:nvSpPr>
            <p:cNvPr id="27" name="Freeform 27"/>
            <p:cNvSpPr/>
            <p:nvPr/>
          </p:nvSpPr>
          <p:spPr>
            <a:xfrm>
              <a:off x="0" y="0"/>
              <a:ext cx="1480690" cy="437693"/>
            </a:xfrm>
            <a:custGeom>
              <a:avLst/>
              <a:gdLst/>
              <a:ahLst/>
              <a:cxnLst/>
              <a:rect l="l" t="t" r="r" b="b"/>
              <a:pathLst>
                <a:path w="1480690" h="437693">
                  <a:moveTo>
                    <a:pt x="0" y="0"/>
                  </a:moveTo>
                  <a:lnTo>
                    <a:pt x="1480690" y="0"/>
                  </a:lnTo>
                  <a:lnTo>
                    <a:pt x="1480690" y="437693"/>
                  </a:lnTo>
                  <a:lnTo>
                    <a:pt x="0" y="437693"/>
                  </a:lnTo>
                  <a:close/>
                </a:path>
              </a:pathLst>
            </a:custGeom>
            <a:solidFill>
              <a:srgbClr val="00C2FF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s-MX"/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0" y="-28575"/>
              <a:ext cx="1480690" cy="46626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44"/>
                </a:lnSpc>
              </a:pPr>
              <a:endParaRPr/>
            </a:p>
          </p:txBody>
        </p:sp>
      </p:grpSp>
      <p:sp>
        <p:nvSpPr>
          <p:cNvPr id="29" name="TextBox 29"/>
          <p:cNvSpPr txBox="1"/>
          <p:nvPr/>
        </p:nvSpPr>
        <p:spPr>
          <a:xfrm>
            <a:off x="1824874" y="7491938"/>
            <a:ext cx="5266106" cy="14438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2793"/>
              </a:lnSpc>
            </a:pPr>
            <a:r>
              <a:rPr lang="en-US" sz="2290" b="1">
                <a:solidFill>
                  <a:srgbClr val="000000"/>
                </a:solidFill>
                <a:latin typeface="Helios Bold"/>
                <a:ea typeface="Helios Bold"/>
                <a:cs typeface="Helios Bold"/>
                <a:sym typeface="Helios Bold"/>
              </a:rPr>
              <a:t>IBM Metric: Fixing a bug in production is 100 times more expensive than fixing it during the design phase.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5400000">
            <a:off x="8745955" y="-11573203"/>
            <a:ext cx="1419301" cy="23086583"/>
            <a:chOff x="0" y="0"/>
            <a:chExt cx="528671" cy="8599447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528671" cy="8599446"/>
            </a:xfrm>
            <a:custGeom>
              <a:avLst/>
              <a:gdLst/>
              <a:ahLst/>
              <a:cxnLst/>
              <a:rect l="l" t="t" r="r" b="b"/>
              <a:pathLst>
                <a:path w="528671" h="8599446">
                  <a:moveTo>
                    <a:pt x="0" y="0"/>
                  </a:moveTo>
                  <a:lnTo>
                    <a:pt x="528671" y="0"/>
                  </a:lnTo>
                  <a:lnTo>
                    <a:pt x="528671" y="8599446"/>
                  </a:lnTo>
                  <a:lnTo>
                    <a:pt x="0" y="8599446"/>
                  </a:lnTo>
                  <a:close/>
                </a:path>
              </a:pathLst>
            </a:custGeom>
            <a:solidFill>
              <a:srgbClr val="262262"/>
            </a:solidFill>
          </p:spPr>
          <p:txBody>
            <a:bodyPr/>
            <a:lstStyle/>
            <a:p>
              <a:endParaRPr lang="es-MX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28575"/>
              <a:ext cx="528671" cy="8628022"/>
            </a:xfrm>
            <a:prstGeom prst="rect">
              <a:avLst/>
            </a:prstGeom>
          </p:spPr>
          <p:txBody>
            <a:bodyPr lIns="48876" tIns="48876" rIns="48876" bIns="48876" rtlCol="0" anchor="ctr"/>
            <a:lstStyle/>
            <a:p>
              <a:pPr algn="ctr">
                <a:lnSpc>
                  <a:spcPts val="2344"/>
                </a:lnSpc>
              </a:pPr>
              <a:endParaRPr/>
            </a:p>
          </p:txBody>
        </p:sp>
      </p:grpSp>
      <p:sp>
        <p:nvSpPr>
          <p:cNvPr id="5" name="TextBox 5"/>
          <p:cNvSpPr txBox="1"/>
          <p:nvPr/>
        </p:nvSpPr>
        <p:spPr>
          <a:xfrm>
            <a:off x="3880906" y="7570850"/>
            <a:ext cx="3641169" cy="13779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1" indent="0" algn="ctr">
              <a:lnSpc>
                <a:spcPts val="11409"/>
              </a:lnSpc>
              <a:spcBef>
                <a:spcPct val="0"/>
              </a:spcBef>
            </a:pPr>
            <a:r>
              <a:rPr lang="en-US" sz="6999" b="1" u="none" strike="noStrike">
                <a:solidFill>
                  <a:srgbClr val="00AEEF"/>
                </a:solidFill>
                <a:latin typeface="Helios Bold"/>
                <a:ea typeface="Helios Bold"/>
                <a:cs typeface="Helios Bold"/>
                <a:sym typeface="Helios Bold"/>
              </a:rPr>
              <a:t>Contact: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8777438" y="7590536"/>
            <a:ext cx="5972675" cy="157251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561341" lvl="1" indent="-280670" algn="l">
              <a:lnSpc>
                <a:spcPts val="4238"/>
              </a:lnSpc>
              <a:buFont typeface="Arial"/>
              <a:buChar char="•"/>
            </a:pPr>
            <a:r>
              <a:rPr lang="en-US" sz="2600">
                <a:solidFill>
                  <a:srgbClr val="000000"/>
                </a:solidFill>
                <a:latin typeface="Helios"/>
                <a:ea typeface="Helios"/>
                <a:cs typeface="Helios"/>
                <a:sym typeface="Helios"/>
                <a:hlinkClick r:id="rId2" tooltip="https://gemini.google.com/u/2/app/1da77ab928e1cacd?hl=es&amp;pageId=none"/>
              </a:rPr>
              <a:t>www.pepecorp.com</a:t>
            </a:r>
            <a:r>
              <a:rPr lang="en-US" sz="2600">
                <a:solidFill>
                  <a:srgbClr val="000000"/>
                </a:solidFill>
                <a:latin typeface="Helios"/>
                <a:ea typeface="Helios"/>
                <a:cs typeface="Helios"/>
                <a:sym typeface="Helios"/>
              </a:rPr>
              <a:t>.mx</a:t>
            </a:r>
          </a:p>
          <a:p>
            <a:pPr marL="561341" lvl="1" indent="-280670" algn="l">
              <a:lnSpc>
                <a:spcPts val="4238"/>
              </a:lnSpc>
              <a:buFont typeface="Arial"/>
              <a:buChar char="•"/>
            </a:pPr>
            <a:r>
              <a:rPr lang="en-US" sz="2600">
                <a:solidFill>
                  <a:srgbClr val="000000"/>
                </a:solidFill>
                <a:latin typeface="Helios"/>
                <a:ea typeface="Helios"/>
                <a:cs typeface="Helios"/>
                <a:sym typeface="Helios"/>
              </a:rPr>
              <a:t>soporte@pepecorp.com.mx</a:t>
            </a:r>
          </a:p>
          <a:p>
            <a:pPr marL="561341" lvl="1" indent="-280670" algn="l">
              <a:lnSpc>
                <a:spcPts val="4238"/>
              </a:lnSpc>
              <a:buFont typeface="Arial"/>
              <a:buChar char="•"/>
            </a:pPr>
            <a:r>
              <a:rPr lang="en-US" sz="2600">
                <a:solidFill>
                  <a:srgbClr val="000000"/>
                </a:solidFill>
                <a:latin typeface="Helios"/>
                <a:ea typeface="Helios"/>
                <a:cs typeface="Helios"/>
                <a:sym typeface="Helios"/>
              </a:rPr>
              <a:t>+52 55 1234 5678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8523467" y="3287268"/>
            <a:ext cx="7028262" cy="263931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561341" lvl="1" indent="-280670" algn="just">
              <a:lnSpc>
                <a:spcPts val="4238"/>
              </a:lnSpc>
              <a:spcBef>
                <a:spcPct val="0"/>
              </a:spcBef>
              <a:buFont typeface="Arial"/>
              <a:buChar char="•"/>
            </a:pPr>
            <a:r>
              <a:rPr lang="en-US" sz="2600" strike="noStrike">
                <a:solidFill>
                  <a:srgbClr val="000000"/>
                </a:solidFill>
                <a:latin typeface="Helios"/>
                <a:ea typeface="Helios"/>
                <a:cs typeface="Helios"/>
                <a:sym typeface="Helios"/>
              </a:rPr>
              <a:t>Espinoza Matamoros Percival Ulises</a:t>
            </a:r>
          </a:p>
          <a:p>
            <a:pPr marL="561341" lvl="1" indent="-280670" algn="just">
              <a:lnSpc>
                <a:spcPts val="4238"/>
              </a:lnSpc>
              <a:spcBef>
                <a:spcPct val="0"/>
              </a:spcBef>
              <a:buFont typeface="Arial"/>
              <a:buChar char="•"/>
            </a:pPr>
            <a:r>
              <a:rPr lang="en-US" sz="2600" strike="noStrike">
                <a:solidFill>
                  <a:srgbClr val="000000"/>
                </a:solidFill>
                <a:latin typeface="Helios"/>
                <a:ea typeface="Helios"/>
                <a:cs typeface="Helios"/>
                <a:sym typeface="Helios"/>
              </a:rPr>
              <a:t>Flores Colín Víctor Jaziel</a:t>
            </a:r>
          </a:p>
          <a:p>
            <a:pPr marL="561341" lvl="1" indent="-280670" algn="just">
              <a:lnSpc>
                <a:spcPts val="4238"/>
              </a:lnSpc>
              <a:spcBef>
                <a:spcPct val="0"/>
              </a:spcBef>
              <a:buFont typeface="Arial"/>
              <a:buChar char="•"/>
            </a:pPr>
            <a:r>
              <a:rPr lang="en-US" sz="2600" strike="noStrike">
                <a:solidFill>
                  <a:srgbClr val="000000"/>
                </a:solidFill>
                <a:latin typeface="Helios"/>
                <a:ea typeface="Helios"/>
                <a:cs typeface="Helios"/>
                <a:sym typeface="Helios"/>
              </a:rPr>
              <a:t>García Cortés Adolfo de Jesús</a:t>
            </a:r>
          </a:p>
          <a:p>
            <a:pPr marL="561341" lvl="1" indent="-280670" algn="just">
              <a:lnSpc>
                <a:spcPts val="4238"/>
              </a:lnSpc>
              <a:spcBef>
                <a:spcPct val="0"/>
              </a:spcBef>
              <a:buFont typeface="Arial"/>
              <a:buChar char="•"/>
            </a:pPr>
            <a:r>
              <a:rPr lang="en-US" sz="2600" strike="noStrike">
                <a:solidFill>
                  <a:srgbClr val="000000"/>
                </a:solidFill>
                <a:latin typeface="Helios"/>
                <a:ea typeface="Helios"/>
                <a:cs typeface="Helios"/>
                <a:sym typeface="Helios"/>
              </a:rPr>
              <a:t>Lara Hernández Angel Husiel</a:t>
            </a:r>
          </a:p>
          <a:p>
            <a:pPr marL="561341" lvl="1" indent="-280670" algn="just">
              <a:lnSpc>
                <a:spcPts val="4238"/>
              </a:lnSpc>
              <a:spcBef>
                <a:spcPct val="0"/>
              </a:spcBef>
              <a:buFont typeface="Arial"/>
              <a:buChar char="•"/>
            </a:pPr>
            <a:r>
              <a:rPr lang="en-US" sz="2600" strike="noStrike">
                <a:solidFill>
                  <a:srgbClr val="000000"/>
                </a:solidFill>
                <a:latin typeface="Helios"/>
                <a:ea typeface="Helios"/>
                <a:cs typeface="Helios"/>
                <a:sym typeface="Helios"/>
              </a:rPr>
              <a:t>Lugo Manzano Rodrigo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1903273" y="1410752"/>
            <a:ext cx="14481453" cy="10001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1" indent="0" algn="ctr">
              <a:lnSpc>
                <a:spcPts val="7500"/>
              </a:lnSpc>
              <a:spcBef>
                <a:spcPct val="0"/>
              </a:spcBef>
            </a:pPr>
            <a:r>
              <a:rPr lang="en-US" sz="6500" b="1" u="none" strike="noStrike" spc="390" dirty="0">
                <a:solidFill>
                  <a:srgbClr val="4263EB"/>
                </a:solidFill>
                <a:latin typeface="Inter Bold"/>
                <a:ea typeface="Inter Bold"/>
                <a:cs typeface="Inter Bold"/>
                <a:sym typeface="Inter Bold"/>
              </a:rPr>
              <a:t>Thank you for your attention</a:t>
            </a:r>
          </a:p>
        </p:txBody>
      </p:sp>
      <p:sp>
        <p:nvSpPr>
          <p:cNvPr id="9" name="Freeform 9"/>
          <p:cNvSpPr/>
          <p:nvPr/>
        </p:nvSpPr>
        <p:spPr>
          <a:xfrm>
            <a:off x="2736271" y="3201054"/>
            <a:ext cx="5044899" cy="2926041"/>
          </a:xfrm>
          <a:custGeom>
            <a:avLst/>
            <a:gdLst/>
            <a:ahLst/>
            <a:cxnLst/>
            <a:rect l="l" t="t" r="r" b="b"/>
            <a:pathLst>
              <a:path w="5044899" h="2926041">
                <a:moveTo>
                  <a:pt x="0" y="0"/>
                </a:moveTo>
                <a:lnTo>
                  <a:pt x="5044899" y="0"/>
                </a:lnTo>
                <a:lnTo>
                  <a:pt x="5044899" y="2926042"/>
                </a:lnTo>
                <a:lnTo>
                  <a:pt x="0" y="292604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s-MX"/>
          </a:p>
        </p:txBody>
      </p:sp>
      <p:grpSp>
        <p:nvGrpSpPr>
          <p:cNvPr id="10" name="Group 10"/>
          <p:cNvGrpSpPr/>
          <p:nvPr/>
        </p:nvGrpSpPr>
        <p:grpSpPr>
          <a:xfrm rot="5165176">
            <a:off x="13609315" y="5455642"/>
            <a:ext cx="6059941" cy="5464965"/>
            <a:chOff x="0" y="0"/>
            <a:chExt cx="8079921" cy="7286620"/>
          </a:xfrm>
        </p:grpSpPr>
        <p:sp>
          <p:nvSpPr>
            <p:cNvPr id="11" name="Freeform 11"/>
            <p:cNvSpPr/>
            <p:nvPr/>
          </p:nvSpPr>
          <p:spPr>
            <a:xfrm rot="-10800000">
              <a:off x="0" y="0"/>
              <a:ext cx="8079921" cy="7286620"/>
            </a:xfrm>
            <a:custGeom>
              <a:avLst/>
              <a:gdLst/>
              <a:ahLst/>
              <a:cxnLst/>
              <a:rect l="l" t="t" r="r" b="b"/>
              <a:pathLst>
                <a:path w="8079921" h="7286620">
                  <a:moveTo>
                    <a:pt x="0" y="0"/>
                  </a:moveTo>
                  <a:lnTo>
                    <a:pt x="8079921" y="0"/>
                  </a:lnTo>
                  <a:lnTo>
                    <a:pt x="8079921" y="7286620"/>
                  </a:lnTo>
                  <a:lnTo>
                    <a:pt x="0" y="728662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MX"/>
            </a:p>
          </p:txBody>
        </p:sp>
        <p:sp>
          <p:nvSpPr>
            <p:cNvPr id="12" name="AutoShape 12"/>
            <p:cNvSpPr/>
            <p:nvPr/>
          </p:nvSpPr>
          <p:spPr>
            <a:xfrm>
              <a:off x="2947616" y="151554"/>
              <a:ext cx="3869661" cy="3869661"/>
            </a:xfrm>
            <a:prstGeom prst="line">
              <a:avLst/>
            </a:prstGeom>
            <a:ln w="73153" cap="flat">
              <a:solidFill>
                <a:srgbClr val="F4F5F6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s-MX"/>
            </a:p>
          </p:txBody>
        </p:sp>
        <p:sp>
          <p:nvSpPr>
            <p:cNvPr id="13" name="AutoShape 13"/>
            <p:cNvSpPr/>
            <p:nvPr/>
          </p:nvSpPr>
          <p:spPr>
            <a:xfrm>
              <a:off x="974670" y="151554"/>
              <a:ext cx="1982026" cy="1982026"/>
            </a:xfrm>
            <a:prstGeom prst="line">
              <a:avLst/>
            </a:prstGeom>
            <a:ln w="73153" cap="flat">
              <a:solidFill>
                <a:srgbClr val="F4F5F6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s-MX"/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769</Words>
  <Application>Microsoft Office PowerPoint</Application>
  <PresentationFormat>Personalizado</PresentationFormat>
  <Paragraphs>116</Paragraphs>
  <Slides>11</Slides>
  <Notes>1</Notes>
  <HiddenSlides>0</HiddenSlides>
  <MMClips>0</MMClips>
  <ScaleCrop>false</ScaleCrop>
  <HeadingPairs>
    <vt:vector size="4" baseType="variant">
      <vt:variant>
        <vt:lpstr>Tema</vt:lpstr>
      </vt:variant>
      <vt:variant>
        <vt:i4>1</vt:i4>
      </vt:variant>
      <vt:variant>
        <vt:lpstr>Títulos de diapositiva</vt:lpstr>
      </vt:variant>
      <vt:variant>
        <vt:i4>11</vt:i4>
      </vt:variant>
    </vt:vector>
  </HeadingPairs>
  <TitlesOfParts>
    <vt:vector size="12" baseType="lpstr"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ING_PresentacionCompilador</dc:title>
  <cp:lastModifiedBy>angel lara</cp:lastModifiedBy>
  <cp:revision>4</cp:revision>
  <dcterms:created xsi:type="dcterms:W3CDTF">2006-08-16T00:00:00Z</dcterms:created>
  <dcterms:modified xsi:type="dcterms:W3CDTF">2026-05-28T12:25:18Z</dcterms:modified>
  <dc:identifier>DAHK71XQjw4</dc:identifier>
</cp:coreProperties>
</file>