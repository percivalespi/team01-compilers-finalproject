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67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8288000" cy="10287000"/>
  <p:notesSz cx="6858000" cy="9144000"/>
  <p:embeddedFontLst>
    <p:embeddedFont>
      <p:font typeface="Clear Sans Bold" panose="020B0604020202020204" charset="0"/>
      <p:regular r:id="rId15"/>
    </p:embeddedFont>
    <p:embeddedFont>
      <p:font typeface="Helios" panose="020B0604020202020204" charset="0"/>
      <p:regular r:id="rId16"/>
    </p:embeddedFont>
    <p:embeddedFont>
      <p:font typeface="Helios Bold" panose="020B0604020202020204" charset="0"/>
      <p:regular r:id="rId17"/>
    </p:embeddedFont>
    <p:embeddedFont>
      <p:font typeface="Helios Italics" panose="020B0604020202020204" charset="0"/>
      <p:regular r:id="rId18"/>
    </p:embeddedFont>
    <p:embeddedFont>
      <p:font typeface="Inter Bold" panose="020B0604020202020204" charset="0"/>
      <p:regular r:id="rId19"/>
    </p:embeddedFont>
    <p:embeddedFont>
      <p:font typeface="JetBrains Mono Bold" panose="020B0604020202020204" charset="0"/>
      <p:regular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2F01A-7533-4E44-9AF0-173FC65F86D3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CC5558-CB8A-4F6C-9531-FFDE67C25D1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68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C5558-CB8A-4F6C-9531-FFDE67C25D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86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emini.google.com/u/2/app/1da77ab928e1cacd?hl=es&amp;pageId=none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2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47432" y="1028700"/>
            <a:ext cx="14793137" cy="8229600"/>
          </a:xfrm>
          <a:custGeom>
            <a:avLst/>
            <a:gdLst/>
            <a:ahLst/>
            <a:cxnLst/>
            <a:rect l="l" t="t" r="r" b="b"/>
            <a:pathLst>
              <a:path w="14793137" h="8229600">
                <a:moveTo>
                  <a:pt x="0" y="0"/>
                </a:moveTo>
                <a:lnTo>
                  <a:pt x="14793136" y="0"/>
                </a:lnTo>
                <a:lnTo>
                  <a:pt x="1479313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29" b="-2129"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FF2B5EF4-FFF2-40B4-BE49-F238E27FC236}">
                <a16:creationId xmlns:a16="http://schemas.microsoft.com/office/drawing/2014/main" id="{2C0DE747-1BDA-E015-9A71-824EF5EF4B94}"/>
              </a:ext>
            </a:extLst>
          </p:cNvPr>
          <p:cNvSpPr/>
          <p:nvPr/>
        </p:nvSpPr>
        <p:spPr>
          <a:xfrm>
            <a:off x="1" y="820184"/>
            <a:ext cx="18288000" cy="8357014"/>
          </a:xfrm>
          <a:custGeom>
            <a:avLst/>
            <a:gdLst/>
            <a:ahLst/>
            <a:cxnLst/>
            <a:rect l="l" t="t" r="r" b="b"/>
            <a:pathLst>
              <a:path w="3406019" h="3831772">
                <a:moveTo>
                  <a:pt x="0" y="0"/>
                </a:moveTo>
                <a:lnTo>
                  <a:pt x="3406019" y="0"/>
                </a:lnTo>
                <a:lnTo>
                  <a:pt x="3406019" y="3831772"/>
                </a:lnTo>
                <a:lnTo>
                  <a:pt x="0" y="3831772"/>
                </a:lnTo>
                <a:close/>
              </a:path>
            </a:pathLst>
          </a:custGeom>
          <a:solidFill>
            <a:srgbClr val="97E6FF"/>
          </a:solidFill>
        </p:spPr>
        <p:txBody>
          <a:bodyPr/>
          <a:lstStyle/>
          <a:p>
            <a:endParaRPr lang="es-MX"/>
          </a:p>
        </p:txBody>
      </p:sp>
      <p:grpSp>
        <p:nvGrpSpPr>
          <p:cNvPr id="2" name="Group 2"/>
          <p:cNvGrpSpPr/>
          <p:nvPr/>
        </p:nvGrpSpPr>
        <p:grpSpPr>
          <a:xfrm>
            <a:off x="0" y="8594059"/>
            <a:ext cx="18288000" cy="1692941"/>
            <a:chOff x="0" y="0"/>
            <a:chExt cx="6214790" cy="6305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14790" cy="630598"/>
            </a:xfrm>
            <a:custGeom>
              <a:avLst/>
              <a:gdLst/>
              <a:ahLst/>
              <a:cxnLst/>
              <a:rect l="l" t="t" r="r" b="b"/>
              <a:pathLst>
                <a:path w="6214790" h="630598">
                  <a:moveTo>
                    <a:pt x="0" y="0"/>
                  </a:moveTo>
                  <a:lnTo>
                    <a:pt x="6214790" y="0"/>
                  </a:lnTo>
                  <a:lnTo>
                    <a:pt x="6214790" y="630598"/>
                  </a:lnTo>
                  <a:lnTo>
                    <a:pt x="0" y="630598"/>
                  </a:ln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6214790" cy="659173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1326609"/>
            <a:chOff x="0" y="0"/>
            <a:chExt cx="6812038" cy="4941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12038" cy="494144"/>
            </a:xfrm>
            <a:custGeom>
              <a:avLst/>
              <a:gdLst/>
              <a:ahLst/>
              <a:cxnLst/>
              <a:rect l="l" t="t" r="r" b="b"/>
              <a:pathLst>
                <a:path w="6812038" h="494144">
                  <a:moveTo>
                    <a:pt x="0" y="0"/>
                  </a:moveTo>
                  <a:lnTo>
                    <a:pt x="6812038" y="0"/>
                  </a:lnTo>
                  <a:lnTo>
                    <a:pt x="6812038" y="494144"/>
                  </a:lnTo>
                  <a:lnTo>
                    <a:pt x="0" y="494144"/>
                  </a:ln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6812038" cy="522719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40694" y="1915793"/>
            <a:ext cx="16006612" cy="2555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70"/>
              </a:lnSpc>
              <a:spcBef>
                <a:spcPct val="0"/>
              </a:spcBef>
            </a:pPr>
            <a:r>
              <a:rPr lang="en-US" sz="14907" b="1">
                <a:solidFill>
                  <a:srgbClr val="4263EB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C-OVERCHARGED</a:t>
            </a:r>
          </a:p>
        </p:txBody>
      </p:sp>
      <p:sp>
        <p:nvSpPr>
          <p:cNvPr id="9" name="Freeform 9"/>
          <p:cNvSpPr/>
          <p:nvPr/>
        </p:nvSpPr>
        <p:spPr>
          <a:xfrm rot="-10800000" flipV="1">
            <a:off x="13003179" y="2386703"/>
            <a:ext cx="6444000" cy="8204166"/>
          </a:xfrm>
          <a:custGeom>
            <a:avLst/>
            <a:gdLst/>
            <a:ahLst/>
            <a:cxnLst/>
            <a:rect l="l" t="t" r="r" b="b"/>
            <a:pathLst>
              <a:path w="6444000" h="8204166">
                <a:moveTo>
                  <a:pt x="0" y="8204167"/>
                </a:moveTo>
                <a:lnTo>
                  <a:pt x="6444000" y="8204167"/>
                </a:lnTo>
                <a:lnTo>
                  <a:pt x="6444000" y="0"/>
                </a:lnTo>
                <a:lnTo>
                  <a:pt x="0" y="0"/>
                </a:lnTo>
                <a:lnTo>
                  <a:pt x="0" y="820416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7579556" y="5080235"/>
            <a:ext cx="3128888" cy="2719472"/>
          </a:xfrm>
          <a:custGeom>
            <a:avLst/>
            <a:gdLst/>
            <a:ahLst/>
            <a:cxnLst/>
            <a:rect l="l" t="t" r="r" b="b"/>
            <a:pathLst>
              <a:path w="3128888" h="2719472">
                <a:moveTo>
                  <a:pt x="0" y="0"/>
                </a:moveTo>
                <a:lnTo>
                  <a:pt x="3128888" y="0"/>
                </a:lnTo>
                <a:lnTo>
                  <a:pt x="3128888" y="2719472"/>
                </a:lnTo>
                <a:lnTo>
                  <a:pt x="0" y="27194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596" r="-50728" b="-46647"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5">
            <a:extLst>
              <a:ext uri="{FF2B5EF4-FFF2-40B4-BE49-F238E27FC236}">
                <a16:creationId xmlns:a16="http://schemas.microsoft.com/office/drawing/2014/main" id="{6967A1E1-753A-8165-E3EB-E00649A012A5}"/>
              </a:ext>
            </a:extLst>
          </p:cNvPr>
          <p:cNvGrpSpPr/>
          <p:nvPr/>
        </p:nvGrpSpPr>
        <p:grpSpPr>
          <a:xfrm>
            <a:off x="-79375" y="-666750"/>
            <a:ext cx="18446750" cy="11239500"/>
            <a:chOff x="0" y="-28575"/>
            <a:chExt cx="6812038" cy="52271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CA5DE8A-3ECF-65B8-9415-D597AB73F568}"/>
                </a:ext>
              </a:extLst>
            </p:cNvPr>
            <p:cNvSpPr/>
            <p:nvPr/>
          </p:nvSpPr>
          <p:spPr>
            <a:xfrm>
              <a:off x="0" y="0"/>
              <a:ext cx="6812038" cy="494144"/>
            </a:xfrm>
            <a:custGeom>
              <a:avLst/>
              <a:gdLst/>
              <a:ahLst/>
              <a:cxnLst/>
              <a:rect l="l" t="t" r="r" b="b"/>
              <a:pathLst>
                <a:path w="6812038" h="494144">
                  <a:moveTo>
                    <a:pt x="0" y="0"/>
                  </a:moveTo>
                  <a:lnTo>
                    <a:pt x="6812038" y="0"/>
                  </a:lnTo>
                  <a:lnTo>
                    <a:pt x="6812038" y="494144"/>
                  </a:lnTo>
                  <a:lnTo>
                    <a:pt x="0" y="494144"/>
                  </a:ln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MX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DE595DA-2919-6F48-5BBB-B79669EC3C26}"/>
                </a:ext>
              </a:extLst>
            </p:cNvPr>
            <p:cNvSpPr txBox="1"/>
            <p:nvPr/>
          </p:nvSpPr>
          <p:spPr>
            <a:xfrm>
              <a:off x="0" y="-28575"/>
              <a:ext cx="6812038" cy="522719"/>
            </a:xfrm>
            <a:prstGeom prst="rect">
              <a:avLst/>
            </a:prstGeom>
          </p:spPr>
          <p:txBody>
            <a:bodyPr lIns="48876" tIns="48876" rIns="48876" bIns="48876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sp>
        <p:nvSpPr>
          <p:cNvPr id="13" name="Freeform 6">
            <a:extLst>
              <a:ext uri="{FF2B5EF4-FFF2-40B4-BE49-F238E27FC236}">
                <a16:creationId xmlns:a16="http://schemas.microsoft.com/office/drawing/2014/main" id="{E8DE4E20-A335-1513-18B0-0E1C5CD57E41}"/>
              </a:ext>
            </a:extLst>
          </p:cNvPr>
          <p:cNvSpPr/>
          <p:nvPr/>
        </p:nvSpPr>
        <p:spPr>
          <a:xfrm>
            <a:off x="44422" y="1173572"/>
            <a:ext cx="8810625" cy="8357014"/>
          </a:xfrm>
          <a:custGeom>
            <a:avLst/>
            <a:gdLst/>
            <a:ahLst/>
            <a:cxnLst/>
            <a:rect l="l" t="t" r="r" b="b"/>
            <a:pathLst>
              <a:path w="3406019" h="3831772">
                <a:moveTo>
                  <a:pt x="0" y="0"/>
                </a:moveTo>
                <a:lnTo>
                  <a:pt x="3406019" y="0"/>
                </a:lnTo>
                <a:lnTo>
                  <a:pt x="3406019" y="3831772"/>
                </a:lnTo>
                <a:lnTo>
                  <a:pt x="0" y="3831772"/>
                </a:lnTo>
                <a:close/>
              </a:path>
            </a:pathLst>
          </a:custGeom>
          <a:solidFill>
            <a:srgbClr val="97E6FF"/>
          </a:solidFill>
        </p:spPr>
        <p:txBody>
          <a:bodyPr/>
          <a:lstStyle/>
          <a:p>
            <a:endParaRPr lang="es-MX"/>
          </a:p>
        </p:txBody>
      </p:sp>
      <p:grpSp>
        <p:nvGrpSpPr>
          <p:cNvPr id="17" name="Group 2">
            <a:extLst>
              <a:ext uri="{FF2B5EF4-FFF2-40B4-BE49-F238E27FC236}">
                <a16:creationId xmlns:a16="http://schemas.microsoft.com/office/drawing/2014/main" id="{A8856C17-6D41-357A-87FE-D6C94FD04C39}"/>
              </a:ext>
            </a:extLst>
          </p:cNvPr>
          <p:cNvGrpSpPr/>
          <p:nvPr/>
        </p:nvGrpSpPr>
        <p:grpSpPr>
          <a:xfrm>
            <a:off x="8858250" y="1111251"/>
            <a:ext cx="9128126" cy="8419334"/>
            <a:chOff x="0" y="-28575"/>
            <a:chExt cx="3406019" cy="3860347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3DBE7C55-633F-5D2D-E9F3-CEFFE34D7CD1}"/>
                </a:ext>
              </a:extLst>
            </p:cNvPr>
            <p:cNvSpPr/>
            <p:nvPr/>
          </p:nvSpPr>
          <p:spPr>
            <a:xfrm>
              <a:off x="0" y="0"/>
              <a:ext cx="3406019" cy="3831772"/>
            </a:xfrm>
            <a:custGeom>
              <a:avLst/>
              <a:gdLst/>
              <a:ahLst/>
              <a:cxnLst/>
              <a:rect l="l" t="t" r="r" b="b"/>
              <a:pathLst>
                <a:path w="3406019" h="3831772">
                  <a:moveTo>
                    <a:pt x="0" y="0"/>
                  </a:moveTo>
                  <a:lnTo>
                    <a:pt x="3406019" y="0"/>
                  </a:lnTo>
                  <a:lnTo>
                    <a:pt x="3406019" y="3831772"/>
                  </a:lnTo>
                  <a:lnTo>
                    <a:pt x="0" y="3831772"/>
                  </a:lnTo>
                  <a:close/>
                </a:path>
              </a:pathLst>
            </a:custGeom>
            <a:solidFill>
              <a:srgbClr val="0094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TextBox 4">
              <a:extLst>
                <a:ext uri="{FF2B5EF4-FFF2-40B4-BE49-F238E27FC236}">
                  <a16:creationId xmlns:a16="http://schemas.microsoft.com/office/drawing/2014/main" id="{6F80B844-0BC0-AE4F-E560-7FC906529BB1}"/>
                </a:ext>
              </a:extLst>
            </p:cNvPr>
            <p:cNvSpPr txBox="1"/>
            <p:nvPr/>
          </p:nvSpPr>
          <p:spPr>
            <a:xfrm>
              <a:off x="0" y="-28575"/>
              <a:ext cx="3406019" cy="3860346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2C0C3412-57F7-2A89-2EA5-5A4CE6E58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0" y="3736209"/>
            <a:ext cx="3048000" cy="3048000"/>
          </a:xfrm>
          <a:prstGeom prst="rect">
            <a:avLst/>
          </a:prstGeom>
        </p:spPr>
      </p:pic>
      <p:sp>
        <p:nvSpPr>
          <p:cNvPr id="22" name="TextBox 36">
            <a:extLst>
              <a:ext uri="{FF2B5EF4-FFF2-40B4-BE49-F238E27FC236}">
                <a16:creationId xmlns:a16="http://schemas.microsoft.com/office/drawing/2014/main" id="{1A0DD542-02F5-3F65-D9A0-8E1B3F6A01C3}"/>
              </a:ext>
            </a:extLst>
          </p:cNvPr>
          <p:cNvSpPr txBox="1"/>
          <p:nvPr/>
        </p:nvSpPr>
        <p:spPr>
          <a:xfrm>
            <a:off x="944562" y="43879"/>
            <a:ext cx="16398876" cy="102592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b="1" spc="416" dirty="0">
                <a:solidFill>
                  <a:schemeClr val="bg1"/>
                </a:solidFill>
                <a:latin typeface="Inter Bold"/>
                <a:ea typeface="Inter Bold"/>
                <a:cs typeface="Inter Bold"/>
                <a:sym typeface="Inter Bold"/>
              </a:rPr>
              <a:t>The past</a:t>
            </a:r>
            <a:r>
              <a:rPr lang="es-MX" sz="8000" b="1" spc="416" dirty="0">
                <a:solidFill>
                  <a:schemeClr val="bg1"/>
                </a:solidFill>
                <a:latin typeface="Inter Bold"/>
                <a:ea typeface="Inter Bold"/>
                <a:cs typeface="Inter Bold"/>
                <a:sym typeface="Inter Bold"/>
              </a:rPr>
              <a:t> and </a:t>
            </a:r>
            <a:r>
              <a:rPr lang="es-MX" sz="8000" b="1" spc="416" dirty="0" err="1">
                <a:solidFill>
                  <a:schemeClr val="bg1"/>
                </a:solidFill>
                <a:latin typeface="Inter Bold"/>
                <a:ea typeface="Inter Bold"/>
                <a:cs typeface="Inter Bold"/>
                <a:sym typeface="Inter Bold"/>
              </a:rPr>
              <a:t>present</a:t>
            </a:r>
            <a:r>
              <a:rPr lang="es-MX" sz="8000" b="1" spc="416" dirty="0">
                <a:solidFill>
                  <a:schemeClr val="bg1"/>
                </a:solidFill>
                <a:latin typeface="Inter Bold"/>
                <a:ea typeface="Inter Bold"/>
                <a:cs typeface="Inter Bold"/>
                <a:sym typeface="Inter Bold"/>
              </a:rPr>
              <a:t>.</a:t>
            </a:r>
            <a:endParaRPr lang="en-US" sz="8000" b="1" spc="416" dirty="0">
              <a:solidFill>
                <a:schemeClr val="bg1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46834BF3-6519-E7CB-7C48-4BD2D429D30B}"/>
              </a:ext>
            </a:extLst>
          </p:cNvPr>
          <p:cNvSpPr txBox="1"/>
          <p:nvPr/>
        </p:nvSpPr>
        <p:spPr>
          <a:xfrm>
            <a:off x="9839593" y="1316094"/>
            <a:ext cx="7165440" cy="1308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11409"/>
              </a:lnSpc>
              <a:spcBef>
                <a:spcPct val="0"/>
              </a:spcBef>
            </a:pPr>
            <a:r>
              <a:rPr lang="es-MX" sz="6999" b="1" u="none" strike="noStrike" dirty="0" err="1">
                <a:solidFill>
                  <a:srgbClr val="9FE4FF"/>
                </a:solidFill>
                <a:latin typeface="Helios Bold"/>
                <a:ea typeface="Helios Bold"/>
                <a:cs typeface="Helios Bold"/>
                <a:sym typeface="Helios Bold"/>
              </a:rPr>
              <a:t>C-Reload</a:t>
            </a:r>
            <a:endParaRPr lang="en-US" sz="6999" b="1" u="none" strike="noStrike" dirty="0">
              <a:solidFill>
                <a:srgbClr val="9FE4FF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3E98ECEC-F205-A32C-841C-1DEF12FB707F}"/>
              </a:ext>
            </a:extLst>
          </p:cNvPr>
          <p:cNvSpPr txBox="1"/>
          <p:nvPr/>
        </p:nvSpPr>
        <p:spPr>
          <a:xfrm>
            <a:off x="1870164" y="1477637"/>
            <a:ext cx="4532684" cy="1308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09"/>
              </a:lnSpc>
            </a:pPr>
            <a:r>
              <a:rPr lang="es-MX" sz="6999" b="1" dirty="0" err="1">
                <a:solidFill>
                  <a:srgbClr val="4263EB"/>
                </a:solidFill>
                <a:latin typeface="Helios Bold"/>
                <a:ea typeface="Helios Bold"/>
                <a:cs typeface="Helios Bold"/>
                <a:sym typeface="Helios Bold"/>
              </a:rPr>
              <a:t>Others</a:t>
            </a:r>
            <a:endParaRPr lang="en-US" sz="6999" b="1" dirty="0">
              <a:solidFill>
                <a:srgbClr val="4263EB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0072DE59-7D95-A35B-74F9-4B0B9CF1C723}"/>
              </a:ext>
            </a:extLst>
          </p:cNvPr>
          <p:cNvSpPr txBox="1"/>
          <p:nvPr/>
        </p:nvSpPr>
        <p:spPr>
          <a:xfrm>
            <a:off x="1599609" y="3736209"/>
            <a:ext cx="4972641" cy="4055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1341" lvl="1" indent="-280670" algn="just">
              <a:lnSpc>
                <a:spcPts val="5382"/>
              </a:lnSpc>
              <a:buFont typeface="Arial"/>
              <a:buChar char="•"/>
            </a:pPr>
            <a:r>
              <a:rPr lang="en-US" sz="2600" u="none" strike="noStrike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Integration of virtual machinery.</a:t>
            </a:r>
          </a:p>
          <a:p>
            <a:pPr marL="561341" lvl="1" indent="-280670" algn="just">
              <a:lnSpc>
                <a:spcPts val="5382"/>
              </a:lnSpc>
              <a:buFont typeface="Arial"/>
              <a:buChar char="•"/>
            </a:pPr>
            <a:r>
              <a:rPr lang="en-US" sz="2600" u="none" strike="noStrike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User interface without personality.</a:t>
            </a:r>
          </a:p>
          <a:p>
            <a:pPr marL="561341" lvl="1" indent="-280670" algn="just">
              <a:lnSpc>
                <a:spcPts val="5382"/>
              </a:lnSpc>
              <a:buFont typeface="Arial"/>
              <a:buChar char="•"/>
            </a:pPr>
            <a:r>
              <a:rPr lang="en-US" sz="2600" u="none" strike="noStrike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Total ecosystem closure.</a:t>
            </a:r>
            <a:endParaRPr lang="es-MX" sz="2600" u="none" strike="noStrike" dirty="0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  <a:p>
            <a:pPr marL="561341" lvl="1" indent="-280670" algn="just">
              <a:lnSpc>
                <a:spcPts val="5382"/>
              </a:lnSpc>
              <a:buFont typeface="Arial"/>
              <a:buChar char="•"/>
            </a:pPr>
            <a:r>
              <a:rPr lang="es-MX" sz="2600" dirty="0" err="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Compiler</a:t>
            </a:r>
            <a:r>
              <a:rPr lang="es-MX" sz="2600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.</a:t>
            </a:r>
            <a:endParaRPr lang="en-US" sz="2600" u="none" strike="noStrike" dirty="0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0753DEB4-B6ED-5CF6-03C6-88DCE883B160}"/>
              </a:ext>
            </a:extLst>
          </p:cNvPr>
          <p:cNvSpPr txBox="1"/>
          <p:nvPr/>
        </p:nvSpPr>
        <p:spPr>
          <a:xfrm>
            <a:off x="10378484" y="3996199"/>
            <a:ext cx="5759984" cy="299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1341" lvl="1" indent="-280670" algn="just">
              <a:lnSpc>
                <a:spcPts val="4758"/>
              </a:lnSpc>
              <a:buFont typeface="Arial"/>
              <a:buChar char="•"/>
            </a:pPr>
            <a:r>
              <a:rPr lang="en-US" sz="2600" dirty="0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Full and customizable front end</a:t>
            </a:r>
            <a:r>
              <a:rPr lang="es-MX" sz="2600" dirty="0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.</a:t>
            </a:r>
            <a:endParaRPr lang="en-US" sz="2600" dirty="0">
              <a:solidFill>
                <a:srgbClr val="FFFFFF"/>
              </a:solidFill>
              <a:latin typeface="Helios"/>
              <a:ea typeface="Helios"/>
              <a:cs typeface="Helios"/>
              <a:sym typeface="Helios"/>
            </a:endParaRPr>
          </a:p>
          <a:p>
            <a:pPr marL="561341" lvl="1" indent="-280670" algn="just">
              <a:lnSpc>
                <a:spcPts val="4758"/>
              </a:lnSpc>
              <a:buFont typeface="Arial"/>
              <a:buChar char="•"/>
            </a:pPr>
            <a:r>
              <a:rPr lang="en-US" sz="2600" dirty="0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Full compatibility with any device</a:t>
            </a:r>
            <a:r>
              <a:rPr lang="es-MX" sz="2600" dirty="0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.</a:t>
            </a:r>
            <a:endParaRPr lang="en-US" sz="2600" dirty="0">
              <a:solidFill>
                <a:srgbClr val="FFFFFF"/>
              </a:solidFill>
              <a:latin typeface="Helios"/>
              <a:ea typeface="Helios"/>
              <a:cs typeface="Helios"/>
              <a:sym typeface="Helios"/>
            </a:endParaRPr>
          </a:p>
          <a:p>
            <a:pPr marL="561341" lvl="1" indent="-280670" algn="just">
              <a:lnSpc>
                <a:spcPts val="4758"/>
              </a:lnSpc>
              <a:buFont typeface="Arial"/>
              <a:buChar char="•"/>
            </a:pPr>
            <a:r>
              <a:rPr lang="en-US" sz="2600" dirty="0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Sampling of precise errors, by means of syntactic analyzer and lexical</a:t>
            </a:r>
          </a:p>
        </p:txBody>
      </p:sp>
    </p:spTree>
    <p:extLst>
      <p:ext uri="{BB962C8B-B14F-4D97-AF65-F5344CB8AC3E}">
        <p14:creationId xmlns:p14="http://schemas.microsoft.com/office/powerpoint/2010/main" val="839055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E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594059"/>
            <a:ext cx="16684593" cy="1692941"/>
            <a:chOff x="0" y="0"/>
            <a:chExt cx="6214790" cy="6305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14790" cy="630598"/>
            </a:xfrm>
            <a:custGeom>
              <a:avLst/>
              <a:gdLst/>
              <a:ahLst/>
              <a:cxnLst/>
              <a:rect l="l" t="t" r="r" b="b"/>
              <a:pathLst>
                <a:path w="6214790" h="630598">
                  <a:moveTo>
                    <a:pt x="0" y="0"/>
                  </a:moveTo>
                  <a:lnTo>
                    <a:pt x="6214790" y="0"/>
                  </a:lnTo>
                  <a:lnTo>
                    <a:pt x="6214790" y="630598"/>
                  </a:lnTo>
                  <a:lnTo>
                    <a:pt x="0" y="630598"/>
                  </a:ln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6214790" cy="659173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1326609"/>
            <a:chOff x="0" y="0"/>
            <a:chExt cx="6812038" cy="4941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12038" cy="494144"/>
            </a:xfrm>
            <a:custGeom>
              <a:avLst/>
              <a:gdLst/>
              <a:ahLst/>
              <a:cxnLst/>
              <a:rect l="l" t="t" r="r" b="b"/>
              <a:pathLst>
                <a:path w="6812038" h="494144">
                  <a:moveTo>
                    <a:pt x="0" y="0"/>
                  </a:moveTo>
                  <a:lnTo>
                    <a:pt x="6812038" y="0"/>
                  </a:lnTo>
                  <a:lnTo>
                    <a:pt x="6812038" y="494144"/>
                  </a:lnTo>
                  <a:lnTo>
                    <a:pt x="0" y="494144"/>
                  </a:ln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6812038" cy="522719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40694" y="1421734"/>
            <a:ext cx="16006612" cy="2555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70"/>
              </a:lnSpc>
              <a:spcBef>
                <a:spcPct val="0"/>
              </a:spcBef>
            </a:pPr>
            <a:r>
              <a:rPr lang="en-US" sz="14907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Clear Sans Bold"/>
                <a:ea typeface="Clear Sans Bold"/>
                <a:cs typeface="Clear Sans Bold"/>
                <a:sym typeface="Clear Sans Bold"/>
              </a:rPr>
              <a:t>C-OVERCHARGED</a:t>
            </a:r>
            <a:endParaRPr lang="en-US" sz="14907" b="1" dirty="0">
              <a:solidFill>
                <a:srgbClr val="4263EB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9" name="Freeform 9"/>
          <p:cNvSpPr/>
          <p:nvPr/>
        </p:nvSpPr>
        <p:spPr>
          <a:xfrm rot="-10800000" flipV="1">
            <a:off x="13003179" y="2386703"/>
            <a:ext cx="6444000" cy="8204166"/>
          </a:xfrm>
          <a:custGeom>
            <a:avLst/>
            <a:gdLst/>
            <a:ahLst/>
            <a:cxnLst/>
            <a:rect l="l" t="t" r="r" b="b"/>
            <a:pathLst>
              <a:path w="6444000" h="8204166">
                <a:moveTo>
                  <a:pt x="0" y="8204167"/>
                </a:moveTo>
                <a:lnTo>
                  <a:pt x="6444000" y="8204167"/>
                </a:lnTo>
                <a:lnTo>
                  <a:pt x="6444000" y="0"/>
                </a:lnTo>
                <a:lnTo>
                  <a:pt x="0" y="0"/>
                </a:lnTo>
                <a:lnTo>
                  <a:pt x="0" y="820416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8385AB13-FFC8-3098-30D8-0F5756E77A0F}"/>
              </a:ext>
            </a:extLst>
          </p:cNvPr>
          <p:cNvSpPr txBox="1"/>
          <p:nvPr/>
        </p:nvSpPr>
        <p:spPr>
          <a:xfrm>
            <a:off x="632694" y="-51200"/>
            <a:ext cx="16006612" cy="2197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870"/>
              </a:lnSpc>
              <a:spcBef>
                <a:spcPct val="0"/>
              </a:spcBef>
            </a:pPr>
            <a:r>
              <a:rPr lang="en-US" sz="6000" b="1" dirty="0">
                <a:solidFill>
                  <a:schemeClr val="tx2">
                    <a:lumMod val="50000"/>
                  </a:schemeClr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WE PRESENT ITS EVOLUTION</a:t>
            </a:r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B10B62A5-55AD-0596-DA2D-643371F92B1F}"/>
              </a:ext>
            </a:extLst>
          </p:cNvPr>
          <p:cNvSpPr txBox="1"/>
          <p:nvPr/>
        </p:nvSpPr>
        <p:spPr>
          <a:xfrm>
            <a:off x="1807444" y="4216977"/>
            <a:ext cx="6146997" cy="204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4074"/>
              </a:lnSpc>
              <a:buFont typeface="Wingdings" pitchFamily="2" charset="2"/>
              <a:buChar char="Ø"/>
            </a:pPr>
            <a:r>
              <a:rPr lang="es-MX" sz="2499" b="1" dirty="0">
                <a:latin typeface="Helios Bold"/>
                <a:ea typeface="Helios Bold"/>
                <a:cs typeface="Helios Bold"/>
                <a:sym typeface="Helios Bold"/>
              </a:rPr>
              <a:t>A</a:t>
            </a:r>
            <a:r>
              <a:rPr lang="en-US" sz="2499" b="1" dirty="0">
                <a:latin typeface="Helios Bold"/>
                <a:ea typeface="Helios Bold"/>
                <a:cs typeface="Helios Bold"/>
                <a:sym typeface="Helios Bold"/>
              </a:rPr>
              <a:t>ST Optimization</a:t>
            </a:r>
            <a:endParaRPr lang="es-MX" sz="2499" b="1" dirty="0">
              <a:latin typeface="Helios Bold"/>
              <a:ea typeface="Helios Bold"/>
              <a:cs typeface="Helios Bold"/>
              <a:sym typeface="Helios Bold"/>
            </a:endParaRPr>
          </a:p>
          <a:p>
            <a:pPr marL="342900" indent="-342900">
              <a:lnSpc>
                <a:spcPts val="4074"/>
              </a:lnSpc>
              <a:buFont typeface="Wingdings" pitchFamily="2" charset="2"/>
              <a:buChar char="Ø"/>
            </a:pPr>
            <a:endParaRPr lang="es-MX" sz="2499" b="1" dirty="0">
              <a:latin typeface="Helios Bold"/>
              <a:ea typeface="Helios Bold"/>
              <a:cs typeface="Helios Bold"/>
              <a:sym typeface="Helios Bold"/>
            </a:endParaRPr>
          </a:p>
          <a:p>
            <a:pPr marL="342900" indent="-342900">
              <a:lnSpc>
                <a:spcPts val="4074"/>
              </a:lnSpc>
              <a:buFont typeface="Wingdings" pitchFamily="2" charset="2"/>
              <a:buChar char="Ø"/>
            </a:pPr>
            <a:endParaRPr lang="es-MX" sz="2499" b="1" dirty="0">
              <a:latin typeface="Helios Bold"/>
              <a:ea typeface="Helios Bold"/>
              <a:cs typeface="Helios Bold"/>
              <a:sym typeface="Helios Bold"/>
            </a:endParaRPr>
          </a:p>
          <a:p>
            <a:pPr marL="342900" indent="-342900">
              <a:lnSpc>
                <a:spcPts val="4074"/>
              </a:lnSpc>
              <a:buFont typeface="Wingdings" pitchFamily="2" charset="2"/>
              <a:buChar char="Ø"/>
            </a:pPr>
            <a:r>
              <a:rPr lang="en-US" sz="2499" b="1" dirty="0">
                <a:latin typeface="Helios Bold"/>
                <a:ea typeface="Helios Bold"/>
                <a:cs typeface="Helios Bold"/>
                <a:sym typeface="Helios Bold"/>
              </a:rPr>
              <a:t>Native Code x86_64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ACC642-E7D0-7C9B-CE2C-A6887718070A}"/>
              </a:ext>
            </a:extLst>
          </p:cNvPr>
          <p:cNvSpPr txBox="1"/>
          <p:nvPr/>
        </p:nvSpPr>
        <p:spPr>
          <a:xfrm>
            <a:off x="11146870" y="4216977"/>
            <a:ext cx="6146997" cy="204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4074"/>
              </a:lnSpc>
              <a:buFont typeface="Wingdings" pitchFamily="2" charset="2"/>
              <a:buChar char="Ø"/>
            </a:pPr>
            <a:r>
              <a:rPr lang="es-MX" sz="2499" b="1" dirty="0" err="1">
                <a:latin typeface="Helios Bold"/>
                <a:ea typeface="Helios Bold"/>
                <a:cs typeface="Helios Bold"/>
                <a:sym typeface="Helios Bold"/>
              </a:rPr>
              <a:t>Intermediate</a:t>
            </a:r>
            <a:r>
              <a:rPr lang="es-MX" sz="2499" b="1" dirty="0">
                <a:latin typeface="Helios Bold"/>
                <a:ea typeface="Helios Bold"/>
                <a:cs typeface="Helios Bold"/>
                <a:sym typeface="Helios Bold"/>
              </a:rPr>
              <a:t> Code (TAC)</a:t>
            </a:r>
          </a:p>
          <a:p>
            <a:pPr marL="342900" indent="-342900">
              <a:lnSpc>
                <a:spcPts val="4074"/>
              </a:lnSpc>
              <a:buFont typeface="Wingdings" pitchFamily="2" charset="2"/>
              <a:buChar char="Ø"/>
            </a:pPr>
            <a:endParaRPr lang="es-MX" sz="2499" b="1" dirty="0">
              <a:latin typeface="Helios Bold"/>
              <a:ea typeface="Helios Bold"/>
              <a:cs typeface="Helios Bold"/>
              <a:sym typeface="Helios Bold"/>
            </a:endParaRPr>
          </a:p>
          <a:p>
            <a:pPr marL="342900" indent="-342900">
              <a:lnSpc>
                <a:spcPts val="4074"/>
              </a:lnSpc>
              <a:buFont typeface="Wingdings" pitchFamily="2" charset="2"/>
              <a:buChar char="Ø"/>
            </a:pPr>
            <a:endParaRPr lang="es-MX" sz="2499" b="1" dirty="0">
              <a:latin typeface="Helios Bold"/>
              <a:ea typeface="Helios Bold"/>
              <a:cs typeface="Helios Bold"/>
              <a:sym typeface="Helios Bold"/>
            </a:endParaRPr>
          </a:p>
          <a:p>
            <a:pPr marL="342900" indent="-342900">
              <a:lnSpc>
                <a:spcPts val="4074"/>
              </a:lnSpc>
              <a:buFont typeface="Wingdings" pitchFamily="2" charset="2"/>
              <a:buChar char="Ø"/>
            </a:pPr>
            <a:r>
              <a:rPr lang="es-MX" sz="2499" b="1" dirty="0">
                <a:latin typeface="Helios Bold"/>
                <a:ea typeface="Helios Bold"/>
                <a:cs typeface="Helios Bold"/>
                <a:sym typeface="Helios Bold"/>
              </a:rPr>
              <a:t>Super fast Linux </a:t>
            </a:r>
            <a:r>
              <a:rPr lang="es-MX" sz="2499" b="1" dirty="0" err="1">
                <a:latin typeface="Helios Bold"/>
                <a:ea typeface="Helios Bold"/>
                <a:cs typeface="Helios Bold"/>
                <a:sym typeface="Helios Bold"/>
              </a:rPr>
              <a:t>linker</a:t>
            </a:r>
            <a:r>
              <a:rPr lang="es-MX" sz="2499" b="1" dirty="0">
                <a:latin typeface="Helios Bold"/>
                <a:ea typeface="Helios Bold"/>
                <a:cs typeface="Helios Bold"/>
                <a:sym typeface="Helios Bold"/>
              </a:rPr>
              <a:t>.</a:t>
            </a:r>
            <a:endParaRPr lang="en-US" sz="2499" b="1" dirty="0">
              <a:latin typeface="Helios Bold"/>
              <a:ea typeface="Helios Bold"/>
              <a:cs typeface="Helios Bold"/>
              <a:sym typeface="Helios Bold"/>
            </a:endParaRPr>
          </a:p>
        </p:txBody>
      </p:sp>
      <p:sp>
        <p:nvSpPr>
          <p:cNvPr id="14" name="TextBox 18">
            <a:extLst>
              <a:ext uri="{FF2B5EF4-FFF2-40B4-BE49-F238E27FC236}">
                <a16:creationId xmlns:a16="http://schemas.microsoft.com/office/drawing/2014/main" id="{BDDF7B69-BAE6-770D-709C-47A6306113CB}"/>
              </a:ext>
            </a:extLst>
          </p:cNvPr>
          <p:cNvSpPr txBox="1"/>
          <p:nvPr/>
        </p:nvSpPr>
        <p:spPr>
          <a:xfrm>
            <a:off x="5091063" y="7034132"/>
            <a:ext cx="8105874" cy="152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4074"/>
              </a:lnSpc>
              <a:buFont typeface="Wingdings" pitchFamily="2" charset="2"/>
              <a:buChar char="Ø"/>
            </a:pPr>
            <a:r>
              <a:rPr lang="es-MX" sz="2499" b="1" dirty="0">
                <a:latin typeface="Helios Bold"/>
                <a:ea typeface="Helios Bold"/>
                <a:cs typeface="Helios Bold"/>
                <a:sym typeface="Helios Bold"/>
              </a:rPr>
              <a:t>Full </a:t>
            </a:r>
            <a:r>
              <a:rPr lang="es-MX" sz="2499" b="1" dirty="0" err="1">
                <a:latin typeface="Helios Bold"/>
                <a:ea typeface="Helios Bold"/>
                <a:cs typeface="Helios Bold"/>
                <a:sym typeface="Helios Bold"/>
              </a:rPr>
              <a:t>compatibility</a:t>
            </a:r>
            <a:r>
              <a:rPr lang="es-MX" sz="2499" b="1" dirty="0">
                <a:latin typeface="Helios Bold"/>
                <a:ea typeface="Helios Bold"/>
                <a:cs typeface="Helios Bold"/>
                <a:sym typeface="Helios Bold"/>
              </a:rPr>
              <a:t> with </a:t>
            </a:r>
            <a:r>
              <a:rPr lang="es-MX" sz="2499" b="1" dirty="0" err="1">
                <a:latin typeface="Helios Bold"/>
                <a:ea typeface="Helios Bold"/>
                <a:cs typeface="Helios Bold"/>
                <a:sym typeface="Helios Bold"/>
              </a:rPr>
              <a:t>any</a:t>
            </a:r>
            <a:r>
              <a:rPr lang="es-MX" sz="2499" b="1" dirty="0">
                <a:latin typeface="Helios Bold"/>
                <a:ea typeface="Helios Bold"/>
                <a:cs typeface="Helios Bold"/>
                <a:sym typeface="Helios Bold"/>
              </a:rPr>
              <a:t> </a:t>
            </a:r>
            <a:r>
              <a:rPr lang="es-MX" sz="2499" b="1" dirty="0" err="1">
                <a:latin typeface="Helios Bold"/>
                <a:ea typeface="Helios Bold"/>
                <a:cs typeface="Helios Bold"/>
                <a:sym typeface="Helios Bold"/>
              </a:rPr>
              <a:t>device</a:t>
            </a:r>
            <a:r>
              <a:rPr lang="es-MX" sz="2499" b="1" dirty="0">
                <a:latin typeface="Helios Bold"/>
                <a:ea typeface="Helios Bold"/>
                <a:cs typeface="Helios Bold"/>
                <a:sym typeface="Helios Bold"/>
              </a:rPr>
              <a:t>.</a:t>
            </a:r>
          </a:p>
          <a:p>
            <a:pPr marL="342900" indent="-342900">
              <a:lnSpc>
                <a:spcPts val="4074"/>
              </a:lnSpc>
              <a:buFont typeface="Wingdings" pitchFamily="2" charset="2"/>
              <a:buChar char="Ø"/>
            </a:pPr>
            <a:r>
              <a:rPr lang="en-US" sz="2499" b="1" dirty="0">
                <a:latin typeface="Helios Bold"/>
                <a:ea typeface="Helios Bold"/>
                <a:cs typeface="Helios Bold"/>
                <a:sym typeface="Helios Bold"/>
              </a:rPr>
              <a:t>Interactive Execution (Dynamic inputs and outputs with printf and </a:t>
            </a:r>
            <a:r>
              <a:rPr lang="en-US" sz="2499" b="1" dirty="0" err="1">
                <a:latin typeface="Helios Bold"/>
                <a:ea typeface="Helios Bold"/>
                <a:cs typeface="Helios Bold"/>
                <a:sym typeface="Helios Bold"/>
              </a:rPr>
              <a:t>scanf</a:t>
            </a:r>
            <a:r>
              <a:rPr lang="en-US" sz="2499" b="1" dirty="0">
                <a:latin typeface="Helios Bold"/>
                <a:ea typeface="Helios Bold"/>
                <a:cs typeface="Helios Bold"/>
                <a:sym typeface="Helios Bold"/>
              </a:rPr>
              <a:t>).</a:t>
            </a:r>
          </a:p>
        </p:txBody>
      </p:sp>
      <p:grpSp>
        <p:nvGrpSpPr>
          <p:cNvPr id="21" name="Group 55">
            <a:extLst>
              <a:ext uri="{FF2B5EF4-FFF2-40B4-BE49-F238E27FC236}">
                <a16:creationId xmlns:a16="http://schemas.microsoft.com/office/drawing/2014/main" id="{D427AC96-9B3A-E710-CE71-4B59D4584398}"/>
              </a:ext>
            </a:extLst>
          </p:cNvPr>
          <p:cNvGrpSpPr/>
          <p:nvPr/>
        </p:nvGrpSpPr>
        <p:grpSpPr>
          <a:xfrm rot="-5400000">
            <a:off x="-293724" y="-155315"/>
            <a:ext cx="4202335" cy="3789742"/>
            <a:chOff x="0" y="0"/>
            <a:chExt cx="5603113" cy="5052990"/>
          </a:xfrm>
        </p:grpSpPr>
        <p:sp>
          <p:nvSpPr>
            <p:cNvPr id="17" name="Freeform 56">
              <a:extLst>
                <a:ext uri="{FF2B5EF4-FFF2-40B4-BE49-F238E27FC236}">
                  <a16:creationId xmlns:a16="http://schemas.microsoft.com/office/drawing/2014/main" id="{7BF68124-822C-1778-079F-1271C6BD639C}"/>
                </a:ext>
              </a:extLst>
            </p:cNvPr>
            <p:cNvSpPr/>
            <p:nvPr/>
          </p:nvSpPr>
          <p:spPr>
            <a:xfrm rot="-10800000">
              <a:off x="0" y="0"/>
              <a:ext cx="5603113" cy="5052990"/>
            </a:xfrm>
            <a:custGeom>
              <a:avLst/>
              <a:gdLst/>
              <a:ahLst/>
              <a:cxnLst/>
              <a:rect l="l" t="t" r="r" b="b"/>
              <a:pathLst>
                <a:path w="5603113" h="5052990">
                  <a:moveTo>
                    <a:pt x="0" y="0"/>
                  </a:moveTo>
                  <a:lnTo>
                    <a:pt x="5603113" y="0"/>
                  </a:lnTo>
                  <a:lnTo>
                    <a:pt x="5603113" y="5052990"/>
                  </a:lnTo>
                  <a:lnTo>
                    <a:pt x="0" y="5052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AutoShape 57">
              <a:extLst>
                <a:ext uri="{FF2B5EF4-FFF2-40B4-BE49-F238E27FC236}">
                  <a16:creationId xmlns:a16="http://schemas.microsoft.com/office/drawing/2014/main" id="{AEC6DE5A-7D18-499D-0E5B-3E2350739873}"/>
                </a:ext>
              </a:extLst>
            </p:cNvPr>
            <p:cNvSpPr/>
            <p:nvPr/>
          </p:nvSpPr>
          <p:spPr>
            <a:xfrm>
              <a:off x="2044058" y="105097"/>
              <a:ext cx="2683460" cy="2683460"/>
            </a:xfrm>
            <a:prstGeom prst="line">
              <a:avLst/>
            </a:prstGeom>
            <a:ln w="50729" cap="flat">
              <a:solidFill>
                <a:srgbClr val="F4F5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AutoShape 58">
              <a:extLst>
                <a:ext uri="{FF2B5EF4-FFF2-40B4-BE49-F238E27FC236}">
                  <a16:creationId xmlns:a16="http://schemas.microsoft.com/office/drawing/2014/main" id="{ACABEA58-72B8-75DE-E487-D192BCCA72E3}"/>
                </a:ext>
              </a:extLst>
            </p:cNvPr>
            <p:cNvSpPr/>
            <p:nvPr/>
          </p:nvSpPr>
          <p:spPr>
            <a:xfrm>
              <a:off x="675896" y="105097"/>
              <a:ext cx="1374458" cy="1374458"/>
            </a:xfrm>
            <a:prstGeom prst="line">
              <a:avLst/>
            </a:prstGeom>
            <a:ln w="50729" cap="flat">
              <a:solidFill>
                <a:srgbClr val="F4F5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13623287" y="-2180583"/>
            <a:ext cx="6444000" cy="8204166"/>
          </a:xfrm>
          <a:custGeom>
            <a:avLst/>
            <a:gdLst/>
            <a:ahLst/>
            <a:cxnLst/>
            <a:rect l="l" t="t" r="r" b="b"/>
            <a:pathLst>
              <a:path w="6444000" h="8204166">
                <a:moveTo>
                  <a:pt x="0" y="8204166"/>
                </a:moveTo>
                <a:lnTo>
                  <a:pt x="6444000" y="8204166"/>
                </a:lnTo>
                <a:lnTo>
                  <a:pt x="6444000" y="0"/>
                </a:lnTo>
                <a:lnTo>
                  <a:pt x="0" y="0"/>
                </a:lnTo>
                <a:lnTo>
                  <a:pt x="0" y="820416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727364"/>
            <a:chOff x="0" y="0"/>
            <a:chExt cx="6812038" cy="270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12038" cy="270933"/>
            </a:xfrm>
            <a:custGeom>
              <a:avLst/>
              <a:gdLst/>
              <a:ahLst/>
              <a:cxnLst/>
              <a:rect l="l" t="t" r="r" b="b"/>
              <a:pathLst>
                <a:path w="6812038" h="270933">
                  <a:moveTo>
                    <a:pt x="0" y="0"/>
                  </a:moveTo>
                  <a:lnTo>
                    <a:pt x="6812038" y="0"/>
                  </a:lnTo>
                  <a:lnTo>
                    <a:pt x="681203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6812038" cy="299508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80687" y="4176337"/>
            <a:ext cx="2964123" cy="1230688"/>
            <a:chOff x="0" y="0"/>
            <a:chExt cx="780674" cy="3241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0674" cy="324132"/>
            </a:xfrm>
            <a:custGeom>
              <a:avLst/>
              <a:gdLst/>
              <a:ahLst/>
              <a:cxnLst/>
              <a:rect l="l" t="t" r="r" b="b"/>
              <a:pathLst>
                <a:path w="780674" h="324132">
                  <a:moveTo>
                    <a:pt x="78356" y="0"/>
                  </a:moveTo>
                  <a:lnTo>
                    <a:pt x="702318" y="0"/>
                  </a:lnTo>
                  <a:cubicBezTo>
                    <a:pt x="723100" y="0"/>
                    <a:pt x="743030" y="8255"/>
                    <a:pt x="757724" y="22950"/>
                  </a:cubicBezTo>
                  <a:cubicBezTo>
                    <a:pt x="772419" y="37645"/>
                    <a:pt x="780674" y="57575"/>
                    <a:pt x="780674" y="78356"/>
                  </a:cubicBezTo>
                  <a:lnTo>
                    <a:pt x="780674" y="245776"/>
                  </a:lnTo>
                  <a:cubicBezTo>
                    <a:pt x="780674" y="289051"/>
                    <a:pt x="745593" y="324132"/>
                    <a:pt x="702318" y="324132"/>
                  </a:cubicBezTo>
                  <a:lnTo>
                    <a:pt x="78356" y="324132"/>
                  </a:lnTo>
                  <a:cubicBezTo>
                    <a:pt x="57575" y="324132"/>
                    <a:pt x="37645" y="315876"/>
                    <a:pt x="22950" y="301182"/>
                  </a:cubicBezTo>
                  <a:cubicBezTo>
                    <a:pt x="8255" y="286487"/>
                    <a:pt x="0" y="266557"/>
                    <a:pt x="0" y="245776"/>
                  </a:cubicBezTo>
                  <a:lnTo>
                    <a:pt x="0" y="78356"/>
                  </a:lnTo>
                  <a:cubicBezTo>
                    <a:pt x="0" y="35081"/>
                    <a:pt x="35081" y="0"/>
                    <a:pt x="78356" y="0"/>
                  </a:cubicBez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780674" cy="352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834584" y="4176337"/>
            <a:ext cx="2271293" cy="1230688"/>
            <a:chOff x="0" y="0"/>
            <a:chExt cx="598201" cy="3241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8201" cy="324132"/>
            </a:xfrm>
            <a:custGeom>
              <a:avLst/>
              <a:gdLst/>
              <a:ahLst/>
              <a:cxnLst/>
              <a:rect l="l" t="t" r="r" b="b"/>
              <a:pathLst>
                <a:path w="598201" h="324132">
                  <a:moveTo>
                    <a:pt x="102258" y="0"/>
                  </a:moveTo>
                  <a:lnTo>
                    <a:pt x="495943" y="0"/>
                  </a:lnTo>
                  <a:cubicBezTo>
                    <a:pt x="552418" y="0"/>
                    <a:pt x="598201" y="45782"/>
                    <a:pt x="598201" y="102258"/>
                  </a:cubicBezTo>
                  <a:lnTo>
                    <a:pt x="598201" y="221874"/>
                  </a:lnTo>
                  <a:cubicBezTo>
                    <a:pt x="598201" y="278349"/>
                    <a:pt x="552418" y="324132"/>
                    <a:pt x="495943" y="324132"/>
                  </a:cubicBezTo>
                  <a:lnTo>
                    <a:pt x="102258" y="324132"/>
                  </a:lnTo>
                  <a:cubicBezTo>
                    <a:pt x="45782" y="324132"/>
                    <a:pt x="0" y="278349"/>
                    <a:pt x="0" y="221874"/>
                  </a:cubicBezTo>
                  <a:lnTo>
                    <a:pt x="0" y="102258"/>
                  </a:lnTo>
                  <a:cubicBezTo>
                    <a:pt x="0" y="45782"/>
                    <a:pt x="45782" y="0"/>
                    <a:pt x="102258" y="0"/>
                  </a:cubicBez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598201" cy="352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095650" y="4176337"/>
            <a:ext cx="3656954" cy="1230688"/>
            <a:chOff x="0" y="0"/>
            <a:chExt cx="963148" cy="3241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63148" cy="324132"/>
            </a:xfrm>
            <a:custGeom>
              <a:avLst/>
              <a:gdLst/>
              <a:ahLst/>
              <a:cxnLst/>
              <a:rect l="l" t="t" r="r" b="b"/>
              <a:pathLst>
                <a:path w="963148" h="324132">
                  <a:moveTo>
                    <a:pt x="63511" y="0"/>
                  </a:moveTo>
                  <a:lnTo>
                    <a:pt x="899637" y="0"/>
                  </a:lnTo>
                  <a:cubicBezTo>
                    <a:pt x="916481" y="0"/>
                    <a:pt x="932636" y="6691"/>
                    <a:pt x="944546" y="18602"/>
                  </a:cubicBezTo>
                  <a:cubicBezTo>
                    <a:pt x="956457" y="30513"/>
                    <a:pt x="963148" y="46667"/>
                    <a:pt x="963148" y="63511"/>
                  </a:cubicBezTo>
                  <a:lnTo>
                    <a:pt x="963148" y="260621"/>
                  </a:lnTo>
                  <a:cubicBezTo>
                    <a:pt x="963148" y="295697"/>
                    <a:pt x="934713" y="324132"/>
                    <a:pt x="899637" y="324132"/>
                  </a:cubicBezTo>
                  <a:lnTo>
                    <a:pt x="63511" y="324132"/>
                  </a:lnTo>
                  <a:cubicBezTo>
                    <a:pt x="46667" y="324132"/>
                    <a:pt x="30513" y="317440"/>
                    <a:pt x="18602" y="305530"/>
                  </a:cubicBezTo>
                  <a:cubicBezTo>
                    <a:pt x="6691" y="293619"/>
                    <a:pt x="0" y="277465"/>
                    <a:pt x="0" y="260621"/>
                  </a:cubicBezTo>
                  <a:lnTo>
                    <a:pt x="0" y="63511"/>
                  </a:lnTo>
                  <a:cubicBezTo>
                    <a:pt x="0" y="46667"/>
                    <a:pt x="6691" y="30513"/>
                    <a:pt x="18602" y="18602"/>
                  </a:cubicBezTo>
                  <a:cubicBezTo>
                    <a:pt x="30513" y="6691"/>
                    <a:pt x="46667" y="0"/>
                    <a:pt x="63511" y="0"/>
                  </a:cubicBez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963148" cy="352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743204" y="4176337"/>
            <a:ext cx="4963434" cy="1230688"/>
            <a:chOff x="0" y="0"/>
            <a:chExt cx="1307242" cy="3241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07242" cy="324132"/>
            </a:xfrm>
            <a:custGeom>
              <a:avLst/>
              <a:gdLst/>
              <a:ahLst/>
              <a:cxnLst/>
              <a:rect l="l" t="t" r="r" b="b"/>
              <a:pathLst>
                <a:path w="1307242" h="324132">
                  <a:moveTo>
                    <a:pt x="46794" y="0"/>
                  </a:moveTo>
                  <a:lnTo>
                    <a:pt x="1260448" y="0"/>
                  </a:lnTo>
                  <a:cubicBezTo>
                    <a:pt x="1286292" y="0"/>
                    <a:pt x="1307242" y="20950"/>
                    <a:pt x="1307242" y="46794"/>
                  </a:cubicBezTo>
                  <a:lnTo>
                    <a:pt x="1307242" y="277338"/>
                  </a:lnTo>
                  <a:cubicBezTo>
                    <a:pt x="1307242" y="303182"/>
                    <a:pt x="1286292" y="324132"/>
                    <a:pt x="1260448" y="324132"/>
                  </a:cubicBezTo>
                  <a:lnTo>
                    <a:pt x="46794" y="324132"/>
                  </a:lnTo>
                  <a:cubicBezTo>
                    <a:pt x="34383" y="324132"/>
                    <a:pt x="22481" y="319202"/>
                    <a:pt x="13706" y="310426"/>
                  </a:cubicBezTo>
                  <a:cubicBezTo>
                    <a:pt x="4930" y="301651"/>
                    <a:pt x="0" y="289749"/>
                    <a:pt x="0" y="277338"/>
                  </a:cubicBezTo>
                  <a:lnTo>
                    <a:pt x="0" y="46794"/>
                  </a:lnTo>
                  <a:cubicBezTo>
                    <a:pt x="0" y="34383"/>
                    <a:pt x="4930" y="22481"/>
                    <a:pt x="13706" y="13706"/>
                  </a:cubicBezTo>
                  <a:cubicBezTo>
                    <a:pt x="22481" y="4930"/>
                    <a:pt x="34383" y="0"/>
                    <a:pt x="46794" y="0"/>
                  </a:cubicBez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307242" cy="352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638887" y="6061168"/>
            <a:ext cx="5628486" cy="1230688"/>
            <a:chOff x="0" y="0"/>
            <a:chExt cx="1482400" cy="32413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82400" cy="324132"/>
            </a:xfrm>
            <a:custGeom>
              <a:avLst/>
              <a:gdLst/>
              <a:ahLst/>
              <a:cxnLst/>
              <a:rect l="l" t="t" r="r" b="b"/>
              <a:pathLst>
                <a:path w="1482400" h="324132">
                  <a:moveTo>
                    <a:pt x="41265" y="0"/>
                  </a:moveTo>
                  <a:lnTo>
                    <a:pt x="1441135" y="0"/>
                  </a:lnTo>
                  <a:cubicBezTo>
                    <a:pt x="1463925" y="0"/>
                    <a:pt x="1482400" y="18475"/>
                    <a:pt x="1482400" y="41265"/>
                  </a:cubicBezTo>
                  <a:lnTo>
                    <a:pt x="1482400" y="282867"/>
                  </a:lnTo>
                  <a:cubicBezTo>
                    <a:pt x="1482400" y="305657"/>
                    <a:pt x="1463925" y="324132"/>
                    <a:pt x="1441135" y="324132"/>
                  </a:cubicBezTo>
                  <a:lnTo>
                    <a:pt x="41265" y="324132"/>
                  </a:lnTo>
                  <a:cubicBezTo>
                    <a:pt x="18475" y="324132"/>
                    <a:pt x="0" y="305657"/>
                    <a:pt x="0" y="282867"/>
                  </a:cubicBezTo>
                  <a:lnTo>
                    <a:pt x="0" y="41265"/>
                  </a:lnTo>
                  <a:cubicBezTo>
                    <a:pt x="0" y="18475"/>
                    <a:pt x="18475" y="0"/>
                    <a:pt x="41265" y="0"/>
                  </a:cubicBez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482400" cy="352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020628" y="6061168"/>
            <a:ext cx="5628486" cy="1230688"/>
            <a:chOff x="0" y="0"/>
            <a:chExt cx="1482400" cy="32413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82400" cy="324132"/>
            </a:xfrm>
            <a:custGeom>
              <a:avLst/>
              <a:gdLst/>
              <a:ahLst/>
              <a:cxnLst/>
              <a:rect l="l" t="t" r="r" b="b"/>
              <a:pathLst>
                <a:path w="1482400" h="324132">
                  <a:moveTo>
                    <a:pt x="41265" y="0"/>
                  </a:moveTo>
                  <a:lnTo>
                    <a:pt x="1441135" y="0"/>
                  </a:lnTo>
                  <a:cubicBezTo>
                    <a:pt x="1463925" y="0"/>
                    <a:pt x="1482400" y="18475"/>
                    <a:pt x="1482400" y="41265"/>
                  </a:cubicBezTo>
                  <a:lnTo>
                    <a:pt x="1482400" y="282867"/>
                  </a:lnTo>
                  <a:cubicBezTo>
                    <a:pt x="1482400" y="305657"/>
                    <a:pt x="1463925" y="324132"/>
                    <a:pt x="1441135" y="324132"/>
                  </a:cubicBezTo>
                  <a:lnTo>
                    <a:pt x="41265" y="324132"/>
                  </a:lnTo>
                  <a:cubicBezTo>
                    <a:pt x="18475" y="324132"/>
                    <a:pt x="0" y="305657"/>
                    <a:pt x="0" y="282867"/>
                  </a:cubicBezTo>
                  <a:lnTo>
                    <a:pt x="0" y="41265"/>
                  </a:lnTo>
                  <a:cubicBezTo>
                    <a:pt x="0" y="18475"/>
                    <a:pt x="18475" y="0"/>
                    <a:pt x="41265" y="0"/>
                  </a:cubicBez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482400" cy="352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260770" y="7949081"/>
            <a:ext cx="3731390" cy="1230688"/>
            <a:chOff x="0" y="0"/>
            <a:chExt cx="982753" cy="3241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82753" cy="324132"/>
            </a:xfrm>
            <a:custGeom>
              <a:avLst/>
              <a:gdLst/>
              <a:ahLst/>
              <a:cxnLst/>
              <a:rect l="l" t="t" r="r" b="b"/>
              <a:pathLst>
                <a:path w="982753" h="324132">
                  <a:moveTo>
                    <a:pt x="62244" y="0"/>
                  </a:moveTo>
                  <a:lnTo>
                    <a:pt x="920509" y="0"/>
                  </a:lnTo>
                  <a:cubicBezTo>
                    <a:pt x="954885" y="0"/>
                    <a:pt x="982753" y="27868"/>
                    <a:pt x="982753" y="62244"/>
                  </a:cubicBezTo>
                  <a:lnTo>
                    <a:pt x="982753" y="261888"/>
                  </a:lnTo>
                  <a:cubicBezTo>
                    <a:pt x="982753" y="296264"/>
                    <a:pt x="954885" y="324132"/>
                    <a:pt x="920509" y="324132"/>
                  </a:cubicBezTo>
                  <a:lnTo>
                    <a:pt x="62244" y="324132"/>
                  </a:lnTo>
                  <a:cubicBezTo>
                    <a:pt x="27868" y="324132"/>
                    <a:pt x="0" y="296264"/>
                    <a:pt x="0" y="261888"/>
                  </a:cubicBezTo>
                  <a:lnTo>
                    <a:pt x="0" y="62244"/>
                  </a:lnTo>
                  <a:cubicBezTo>
                    <a:pt x="0" y="27868"/>
                    <a:pt x="27868" y="0"/>
                    <a:pt x="62244" y="0"/>
                  </a:cubicBez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982753" cy="352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982761" y="7949081"/>
            <a:ext cx="3731390" cy="1230688"/>
            <a:chOff x="0" y="0"/>
            <a:chExt cx="982753" cy="32413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82753" cy="324132"/>
            </a:xfrm>
            <a:custGeom>
              <a:avLst/>
              <a:gdLst/>
              <a:ahLst/>
              <a:cxnLst/>
              <a:rect l="l" t="t" r="r" b="b"/>
              <a:pathLst>
                <a:path w="982753" h="324132">
                  <a:moveTo>
                    <a:pt x="62244" y="0"/>
                  </a:moveTo>
                  <a:lnTo>
                    <a:pt x="920509" y="0"/>
                  </a:lnTo>
                  <a:cubicBezTo>
                    <a:pt x="954885" y="0"/>
                    <a:pt x="982753" y="27868"/>
                    <a:pt x="982753" y="62244"/>
                  </a:cubicBezTo>
                  <a:lnTo>
                    <a:pt x="982753" y="261888"/>
                  </a:lnTo>
                  <a:cubicBezTo>
                    <a:pt x="982753" y="296264"/>
                    <a:pt x="954885" y="324132"/>
                    <a:pt x="920509" y="324132"/>
                  </a:cubicBezTo>
                  <a:lnTo>
                    <a:pt x="62244" y="324132"/>
                  </a:lnTo>
                  <a:cubicBezTo>
                    <a:pt x="27868" y="324132"/>
                    <a:pt x="0" y="296264"/>
                    <a:pt x="0" y="261888"/>
                  </a:cubicBezTo>
                  <a:lnTo>
                    <a:pt x="0" y="62244"/>
                  </a:lnTo>
                  <a:cubicBezTo>
                    <a:pt x="0" y="27868"/>
                    <a:pt x="27868" y="0"/>
                    <a:pt x="62244" y="0"/>
                  </a:cubicBez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982753" cy="352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703924" y="7949081"/>
            <a:ext cx="4008523" cy="1230688"/>
            <a:chOff x="0" y="0"/>
            <a:chExt cx="1055743" cy="32413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55743" cy="324132"/>
            </a:xfrm>
            <a:custGeom>
              <a:avLst/>
              <a:gdLst/>
              <a:ahLst/>
              <a:cxnLst/>
              <a:rect l="l" t="t" r="r" b="b"/>
              <a:pathLst>
                <a:path w="1055743" h="324132">
                  <a:moveTo>
                    <a:pt x="57941" y="0"/>
                  </a:moveTo>
                  <a:lnTo>
                    <a:pt x="997802" y="0"/>
                  </a:lnTo>
                  <a:cubicBezTo>
                    <a:pt x="1013168" y="0"/>
                    <a:pt x="1027906" y="6104"/>
                    <a:pt x="1038772" y="16971"/>
                  </a:cubicBezTo>
                  <a:cubicBezTo>
                    <a:pt x="1049638" y="27837"/>
                    <a:pt x="1055743" y="42574"/>
                    <a:pt x="1055743" y="57941"/>
                  </a:cubicBezTo>
                  <a:lnTo>
                    <a:pt x="1055743" y="266191"/>
                  </a:lnTo>
                  <a:cubicBezTo>
                    <a:pt x="1055743" y="281558"/>
                    <a:pt x="1049638" y="296295"/>
                    <a:pt x="1038772" y="307161"/>
                  </a:cubicBezTo>
                  <a:cubicBezTo>
                    <a:pt x="1027906" y="318027"/>
                    <a:pt x="1013168" y="324132"/>
                    <a:pt x="997802" y="324132"/>
                  </a:cubicBezTo>
                  <a:lnTo>
                    <a:pt x="57941" y="324132"/>
                  </a:lnTo>
                  <a:cubicBezTo>
                    <a:pt x="42574" y="324132"/>
                    <a:pt x="27837" y="318027"/>
                    <a:pt x="16971" y="307161"/>
                  </a:cubicBezTo>
                  <a:cubicBezTo>
                    <a:pt x="6104" y="296295"/>
                    <a:pt x="0" y="281558"/>
                    <a:pt x="0" y="266191"/>
                  </a:cubicBezTo>
                  <a:lnTo>
                    <a:pt x="0" y="57941"/>
                  </a:lnTo>
                  <a:cubicBezTo>
                    <a:pt x="0" y="42574"/>
                    <a:pt x="6104" y="27837"/>
                    <a:pt x="16971" y="16971"/>
                  </a:cubicBezTo>
                  <a:cubicBezTo>
                    <a:pt x="27837" y="6104"/>
                    <a:pt x="42574" y="0"/>
                    <a:pt x="57941" y="0"/>
                  </a:cubicBez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1055743" cy="352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092347" y="4563081"/>
            <a:ext cx="494700" cy="494700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5757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4805048" y="1233498"/>
            <a:ext cx="8677905" cy="2070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b="1" spc="416">
                <a:solidFill>
                  <a:srgbClr val="4263EB"/>
                </a:solidFill>
                <a:latin typeface="Inter Bold"/>
                <a:ea typeface="Inter Bold"/>
                <a:cs typeface="Inter Bold"/>
                <a:sym typeface="Inter Bold"/>
              </a:rPr>
              <a:t>Arquitecture</a:t>
            </a:r>
          </a:p>
          <a:p>
            <a:pPr algn="ctr">
              <a:lnSpc>
                <a:spcPts val="8000"/>
              </a:lnSpc>
            </a:pPr>
            <a:r>
              <a:rPr lang="en-US" sz="8000" b="1" spc="416">
                <a:solidFill>
                  <a:srgbClr val="4263EB"/>
                </a:solidFill>
                <a:latin typeface="Inter Bold"/>
                <a:ea typeface="Inter Bold"/>
                <a:cs typeface="Inter Bold"/>
                <a:sym typeface="Inter Bold"/>
              </a:rPr>
              <a:t>C-Overcharged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92960" y="4505931"/>
            <a:ext cx="233957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Source Code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430460" y="4505931"/>
            <a:ext cx="107954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Lexer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686200" y="4505931"/>
            <a:ext cx="266140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Parser LALR(1)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200703" y="4505931"/>
            <a:ext cx="415480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Semantic Analysis (AST)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112599" y="6390762"/>
            <a:ext cx="468106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Optimizer (Optimized AST)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617629" y="6390762"/>
            <a:ext cx="443448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Intermediate Code (TAC)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608776" y="8278675"/>
            <a:ext cx="303538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x86_64 Assembly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435661" y="8278675"/>
            <a:ext cx="282559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Linker (GCC/SO)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986267" y="8278675"/>
            <a:ext cx="316670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Executable (a.out)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7353527" y="4544331"/>
            <a:ext cx="494700" cy="494700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5757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000254" y="4544331"/>
            <a:ext cx="494700" cy="494700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5757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 rot="-10800000">
            <a:off x="8896650" y="6410412"/>
            <a:ext cx="494700" cy="494700"/>
            <a:chOff x="0" y="0"/>
            <a:chExt cx="812800" cy="812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5757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240111" y="8298325"/>
            <a:ext cx="494700" cy="494700"/>
            <a:chOff x="0" y="0"/>
            <a:chExt cx="812800" cy="8128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5757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0961801" y="8335825"/>
            <a:ext cx="494700" cy="494700"/>
            <a:chOff x="0" y="0"/>
            <a:chExt cx="812800" cy="8128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5757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 rot="7566517">
            <a:off x="15465097" y="5695047"/>
            <a:ext cx="494700" cy="494700"/>
            <a:chOff x="0" y="0"/>
            <a:chExt cx="812800" cy="8128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5757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 rot="6595662">
            <a:off x="2441769" y="7212567"/>
            <a:ext cx="494700" cy="494700"/>
            <a:chOff x="0" y="0"/>
            <a:chExt cx="812800" cy="8128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5757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18851"/>
            <a:ext cx="18288000" cy="863904"/>
            <a:chOff x="0" y="0"/>
            <a:chExt cx="6812038" cy="3217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12038" cy="321793"/>
            </a:xfrm>
            <a:custGeom>
              <a:avLst/>
              <a:gdLst/>
              <a:ahLst/>
              <a:cxnLst/>
              <a:rect l="l" t="t" r="r" b="b"/>
              <a:pathLst>
                <a:path w="6812038" h="321793">
                  <a:moveTo>
                    <a:pt x="0" y="0"/>
                  </a:moveTo>
                  <a:lnTo>
                    <a:pt x="6812038" y="0"/>
                  </a:lnTo>
                  <a:lnTo>
                    <a:pt x="6812038" y="321793"/>
                  </a:lnTo>
                  <a:lnTo>
                    <a:pt x="0" y="321793"/>
                  </a:ln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6812038" cy="350368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8594" y="3084753"/>
            <a:ext cx="4359203" cy="5266516"/>
            <a:chOff x="0" y="0"/>
            <a:chExt cx="469441" cy="5671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9441" cy="567150"/>
            </a:xfrm>
            <a:custGeom>
              <a:avLst/>
              <a:gdLst/>
              <a:ahLst/>
              <a:cxnLst/>
              <a:rect l="l" t="t" r="r" b="b"/>
              <a:pathLst>
                <a:path w="469441" h="567150">
                  <a:moveTo>
                    <a:pt x="53280" y="0"/>
                  </a:moveTo>
                  <a:lnTo>
                    <a:pt x="416161" y="0"/>
                  </a:lnTo>
                  <a:cubicBezTo>
                    <a:pt x="445587" y="0"/>
                    <a:pt x="469441" y="23854"/>
                    <a:pt x="469441" y="53280"/>
                  </a:cubicBezTo>
                  <a:lnTo>
                    <a:pt x="469441" y="513870"/>
                  </a:lnTo>
                  <a:cubicBezTo>
                    <a:pt x="469441" y="543295"/>
                    <a:pt x="445587" y="567150"/>
                    <a:pt x="416161" y="567150"/>
                  </a:cubicBezTo>
                  <a:lnTo>
                    <a:pt x="53280" y="567150"/>
                  </a:lnTo>
                  <a:cubicBezTo>
                    <a:pt x="23854" y="567150"/>
                    <a:pt x="0" y="543295"/>
                    <a:pt x="0" y="513870"/>
                  </a:cubicBezTo>
                  <a:lnTo>
                    <a:pt x="0" y="53280"/>
                  </a:lnTo>
                  <a:cubicBezTo>
                    <a:pt x="0" y="23854"/>
                    <a:pt x="23854" y="0"/>
                    <a:pt x="53280" y="0"/>
                  </a:cubicBezTo>
                  <a:close/>
                </a:path>
              </a:pathLst>
            </a:custGeom>
            <a:solidFill>
              <a:srgbClr val="DDF4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69441" cy="595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98594" y="3084753"/>
            <a:ext cx="4359203" cy="1193069"/>
            <a:chOff x="0" y="0"/>
            <a:chExt cx="1089298" cy="2981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9298" cy="298130"/>
            </a:xfrm>
            <a:custGeom>
              <a:avLst/>
              <a:gdLst/>
              <a:ahLst/>
              <a:cxnLst/>
              <a:rect l="l" t="t" r="r" b="b"/>
              <a:pathLst>
                <a:path w="1089298" h="298130">
                  <a:moveTo>
                    <a:pt x="53280" y="0"/>
                  </a:moveTo>
                  <a:lnTo>
                    <a:pt x="1036019" y="0"/>
                  </a:lnTo>
                  <a:cubicBezTo>
                    <a:pt x="1065444" y="0"/>
                    <a:pt x="1089298" y="23854"/>
                    <a:pt x="1089298" y="53280"/>
                  </a:cubicBezTo>
                  <a:lnTo>
                    <a:pt x="1089298" y="244850"/>
                  </a:lnTo>
                  <a:cubicBezTo>
                    <a:pt x="1089298" y="274276"/>
                    <a:pt x="1065444" y="298130"/>
                    <a:pt x="1036019" y="298130"/>
                  </a:cubicBezTo>
                  <a:lnTo>
                    <a:pt x="53280" y="298130"/>
                  </a:lnTo>
                  <a:cubicBezTo>
                    <a:pt x="23854" y="298130"/>
                    <a:pt x="0" y="274276"/>
                    <a:pt x="0" y="244850"/>
                  </a:cubicBezTo>
                  <a:lnTo>
                    <a:pt x="0" y="53280"/>
                  </a:lnTo>
                  <a:cubicBezTo>
                    <a:pt x="0" y="23854"/>
                    <a:pt x="23854" y="0"/>
                    <a:pt x="53280" y="0"/>
                  </a:cubicBezTo>
                  <a:close/>
                </a:path>
              </a:pathLst>
            </a:custGeom>
            <a:solidFill>
              <a:srgbClr val="00C2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089298" cy="3267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91836" y="3229167"/>
            <a:ext cx="4359203" cy="5266516"/>
            <a:chOff x="0" y="0"/>
            <a:chExt cx="469441" cy="5671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9441" cy="567150"/>
            </a:xfrm>
            <a:custGeom>
              <a:avLst/>
              <a:gdLst/>
              <a:ahLst/>
              <a:cxnLst/>
              <a:rect l="l" t="t" r="r" b="b"/>
              <a:pathLst>
                <a:path w="469441" h="567150">
                  <a:moveTo>
                    <a:pt x="53280" y="0"/>
                  </a:moveTo>
                  <a:lnTo>
                    <a:pt x="416161" y="0"/>
                  </a:lnTo>
                  <a:cubicBezTo>
                    <a:pt x="445587" y="0"/>
                    <a:pt x="469441" y="23854"/>
                    <a:pt x="469441" y="53280"/>
                  </a:cubicBezTo>
                  <a:lnTo>
                    <a:pt x="469441" y="513870"/>
                  </a:lnTo>
                  <a:cubicBezTo>
                    <a:pt x="469441" y="543295"/>
                    <a:pt x="445587" y="567150"/>
                    <a:pt x="416161" y="567150"/>
                  </a:cubicBezTo>
                  <a:lnTo>
                    <a:pt x="53280" y="567150"/>
                  </a:lnTo>
                  <a:cubicBezTo>
                    <a:pt x="23854" y="567150"/>
                    <a:pt x="0" y="543295"/>
                    <a:pt x="0" y="513870"/>
                  </a:cubicBezTo>
                  <a:lnTo>
                    <a:pt x="0" y="53280"/>
                  </a:lnTo>
                  <a:cubicBezTo>
                    <a:pt x="0" y="23854"/>
                    <a:pt x="23854" y="0"/>
                    <a:pt x="53280" y="0"/>
                  </a:cubicBezTo>
                  <a:close/>
                </a:path>
              </a:pathLst>
            </a:custGeom>
            <a:solidFill>
              <a:srgbClr val="DDF4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469441" cy="595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90890" y="3084753"/>
            <a:ext cx="4359203" cy="1193069"/>
            <a:chOff x="0" y="0"/>
            <a:chExt cx="1089298" cy="2981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89298" cy="298130"/>
            </a:xfrm>
            <a:custGeom>
              <a:avLst/>
              <a:gdLst/>
              <a:ahLst/>
              <a:cxnLst/>
              <a:rect l="l" t="t" r="r" b="b"/>
              <a:pathLst>
                <a:path w="1089298" h="298130">
                  <a:moveTo>
                    <a:pt x="53280" y="0"/>
                  </a:moveTo>
                  <a:lnTo>
                    <a:pt x="1036019" y="0"/>
                  </a:lnTo>
                  <a:cubicBezTo>
                    <a:pt x="1065444" y="0"/>
                    <a:pt x="1089298" y="23854"/>
                    <a:pt x="1089298" y="53280"/>
                  </a:cubicBezTo>
                  <a:lnTo>
                    <a:pt x="1089298" y="244850"/>
                  </a:lnTo>
                  <a:cubicBezTo>
                    <a:pt x="1089298" y="274276"/>
                    <a:pt x="1065444" y="298130"/>
                    <a:pt x="1036019" y="298130"/>
                  </a:cubicBezTo>
                  <a:lnTo>
                    <a:pt x="53280" y="298130"/>
                  </a:lnTo>
                  <a:cubicBezTo>
                    <a:pt x="23854" y="298130"/>
                    <a:pt x="0" y="274276"/>
                    <a:pt x="0" y="244850"/>
                  </a:cubicBezTo>
                  <a:lnTo>
                    <a:pt x="0" y="53280"/>
                  </a:lnTo>
                  <a:cubicBezTo>
                    <a:pt x="0" y="23854"/>
                    <a:pt x="23854" y="0"/>
                    <a:pt x="53280" y="0"/>
                  </a:cubicBezTo>
                  <a:close/>
                </a:path>
              </a:pathLst>
            </a:custGeom>
            <a:solidFill>
              <a:srgbClr val="00C2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089298" cy="3267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484133" y="3167647"/>
            <a:ext cx="5705273" cy="5266516"/>
            <a:chOff x="0" y="0"/>
            <a:chExt cx="614399" cy="5671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14399" cy="567150"/>
            </a:xfrm>
            <a:custGeom>
              <a:avLst/>
              <a:gdLst/>
              <a:ahLst/>
              <a:cxnLst/>
              <a:rect l="l" t="t" r="r" b="b"/>
              <a:pathLst>
                <a:path w="614399" h="567150">
                  <a:moveTo>
                    <a:pt x="40709" y="0"/>
                  </a:moveTo>
                  <a:lnTo>
                    <a:pt x="573690" y="0"/>
                  </a:lnTo>
                  <a:cubicBezTo>
                    <a:pt x="584487" y="0"/>
                    <a:pt x="594841" y="4289"/>
                    <a:pt x="602476" y="11923"/>
                  </a:cubicBezTo>
                  <a:cubicBezTo>
                    <a:pt x="610110" y="19558"/>
                    <a:pt x="614399" y="29913"/>
                    <a:pt x="614399" y="40709"/>
                  </a:cubicBezTo>
                  <a:lnTo>
                    <a:pt x="614399" y="526440"/>
                  </a:lnTo>
                  <a:cubicBezTo>
                    <a:pt x="614399" y="537237"/>
                    <a:pt x="610110" y="547592"/>
                    <a:pt x="602476" y="555226"/>
                  </a:cubicBezTo>
                  <a:cubicBezTo>
                    <a:pt x="594841" y="562861"/>
                    <a:pt x="584487" y="567150"/>
                    <a:pt x="573690" y="567150"/>
                  </a:cubicBezTo>
                  <a:lnTo>
                    <a:pt x="40709" y="567150"/>
                  </a:lnTo>
                  <a:cubicBezTo>
                    <a:pt x="29913" y="567150"/>
                    <a:pt x="19558" y="562861"/>
                    <a:pt x="11923" y="555226"/>
                  </a:cubicBezTo>
                  <a:cubicBezTo>
                    <a:pt x="4289" y="547592"/>
                    <a:pt x="0" y="537237"/>
                    <a:pt x="0" y="526440"/>
                  </a:cubicBezTo>
                  <a:lnTo>
                    <a:pt x="0" y="40709"/>
                  </a:lnTo>
                  <a:cubicBezTo>
                    <a:pt x="0" y="29913"/>
                    <a:pt x="4289" y="19558"/>
                    <a:pt x="11923" y="11923"/>
                  </a:cubicBezTo>
                  <a:cubicBezTo>
                    <a:pt x="19558" y="4289"/>
                    <a:pt x="29913" y="0"/>
                    <a:pt x="40709" y="0"/>
                  </a:cubicBezTo>
                  <a:close/>
                </a:path>
              </a:pathLst>
            </a:custGeom>
            <a:solidFill>
              <a:srgbClr val="DDF4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614399" cy="595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84133" y="3012546"/>
            <a:ext cx="5705273" cy="1011825"/>
            <a:chOff x="0" y="0"/>
            <a:chExt cx="1425661" cy="2528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25661" cy="252840"/>
            </a:xfrm>
            <a:custGeom>
              <a:avLst/>
              <a:gdLst/>
              <a:ahLst/>
              <a:cxnLst/>
              <a:rect l="l" t="t" r="r" b="b"/>
              <a:pathLst>
                <a:path w="1425661" h="252840">
                  <a:moveTo>
                    <a:pt x="40709" y="0"/>
                  </a:moveTo>
                  <a:lnTo>
                    <a:pt x="1384952" y="0"/>
                  </a:lnTo>
                  <a:cubicBezTo>
                    <a:pt x="1407435" y="0"/>
                    <a:pt x="1425661" y="18226"/>
                    <a:pt x="1425661" y="40709"/>
                  </a:cubicBezTo>
                  <a:lnTo>
                    <a:pt x="1425661" y="212130"/>
                  </a:lnTo>
                  <a:cubicBezTo>
                    <a:pt x="1425661" y="222927"/>
                    <a:pt x="1421372" y="233282"/>
                    <a:pt x="1413737" y="240916"/>
                  </a:cubicBezTo>
                  <a:cubicBezTo>
                    <a:pt x="1406103" y="248551"/>
                    <a:pt x="1395748" y="252840"/>
                    <a:pt x="1384952" y="252840"/>
                  </a:cubicBezTo>
                  <a:lnTo>
                    <a:pt x="40709" y="252840"/>
                  </a:lnTo>
                  <a:cubicBezTo>
                    <a:pt x="29913" y="252840"/>
                    <a:pt x="19558" y="248551"/>
                    <a:pt x="11923" y="240916"/>
                  </a:cubicBezTo>
                  <a:cubicBezTo>
                    <a:pt x="4289" y="233282"/>
                    <a:pt x="0" y="222927"/>
                    <a:pt x="0" y="212130"/>
                  </a:cubicBezTo>
                  <a:lnTo>
                    <a:pt x="0" y="40709"/>
                  </a:lnTo>
                  <a:cubicBezTo>
                    <a:pt x="0" y="29913"/>
                    <a:pt x="4289" y="19558"/>
                    <a:pt x="11923" y="11923"/>
                  </a:cubicBezTo>
                  <a:cubicBezTo>
                    <a:pt x="19558" y="4289"/>
                    <a:pt x="29913" y="0"/>
                    <a:pt x="40709" y="0"/>
                  </a:cubicBezTo>
                  <a:close/>
                </a:path>
              </a:pathLst>
            </a:custGeom>
            <a:solidFill>
              <a:srgbClr val="00C2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425661" cy="2814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3056472" y="6522052"/>
            <a:ext cx="443447" cy="44344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320411" y="870239"/>
            <a:ext cx="11647178" cy="112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499"/>
              </a:lnSpc>
              <a:spcBef>
                <a:spcPct val="0"/>
              </a:spcBef>
            </a:pPr>
            <a:r>
              <a:rPr lang="en-US" sz="8499" b="1" spc="441">
                <a:solidFill>
                  <a:srgbClr val="4263EB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sz="8499" b="1" u="none" strike="noStrike" spc="441">
                <a:solidFill>
                  <a:srgbClr val="4263EB"/>
                </a:solidFill>
                <a:latin typeface="Inter Bold"/>
                <a:ea typeface="Inter Bold"/>
                <a:cs typeface="Inter Bold"/>
                <a:sym typeface="Inter Bold"/>
              </a:rPr>
              <a:t>ptimized code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11168" y="3332673"/>
            <a:ext cx="3334055" cy="76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3000" b="1" spc="333">
                <a:solidFill>
                  <a:srgbClr val="262262"/>
                </a:solidFill>
                <a:latin typeface="Helios Bold"/>
                <a:ea typeface="Helios Bold"/>
                <a:cs typeface="Helios Bold"/>
                <a:sym typeface="Helios Bold"/>
              </a:rPr>
              <a:t>Constant Folding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34108" y="4639773"/>
            <a:ext cx="3869124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Mathematical precalculation at compile time.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03464" y="3332673"/>
            <a:ext cx="3334055" cy="76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3000" b="1" spc="333">
                <a:solidFill>
                  <a:srgbClr val="262262"/>
                </a:solidFill>
                <a:latin typeface="Helios Bold"/>
                <a:ea typeface="Helios Bold"/>
                <a:cs typeface="Helios Bold"/>
                <a:sym typeface="Helios Bold"/>
              </a:rPr>
              <a:t>Algebraic simplification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84393" y="4547415"/>
            <a:ext cx="3572197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Elimination of logical redundancies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667869" y="3354629"/>
            <a:ext cx="3334055" cy="39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3000" b="1" spc="333">
                <a:solidFill>
                  <a:srgbClr val="262262"/>
                </a:solidFill>
                <a:latin typeface="Helios Bold"/>
                <a:ea typeface="Helios Bold"/>
                <a:cs typeface="Helios Bold"/>
                <a:sym typeface="Helios Bold"/>
              </a:rPr>
              <a:t>Loop Unrolling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768405" y="4189275"/>
            <a:ext cx="5136728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Cycle acceleration with fixed limits.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92097" y="5829480"/>
            <a:ext cx="3572197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FF0000"/>
                </a:solidFill>
                <a:latin typeface="Helios"/>
                <a:ea typeface="Helios"/>
                <a:cs typeface="Helios"/>
                <a:sym typeface="Helios"/>
              </a:rPr>
              <a:t>x = 10 * 2 + 2 + 8 + x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92097" y="7128481"/>
            <a:ext cx="3572197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753D"/>
                </a:solidFill>
                <a:latin typeface="Helios"/>
                <a:ea typeface="Helios"/>
                <a:cs typeface="Helios"/>
                <a:sym typeface="Helios"/>
              </a:rPr>
              <a:t>x = 30 + x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8403820" y="5810430"/>
            <a:ext cx="443447" cy="443447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6686285" y="5753280"/>
            <a:ext cx="1564375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FF0000"/>
                </a:solidFill>
                <a:latin typeface="Helios"/>
                <a:ea typeface="Helios"/>
                <a:cs typeface="Helios"/>
                <a:sym typeface="Helios"/>
              </a:rPr>
              <a:t>x = y * 0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000426" y="5753280"/>
            <a:ext cx="1256164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753D"/>
                </a:solidFill>
                <a:latin typeface="Helios"/>
                <a:ea typeface="Helios"/>
                <a:cs typeface="Helios"/>
                <a:sym typeface="Helios"/>
              </a:rPr>
              <a:t>x = 0 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8401928" y="6592015"/>
            <a:ext cx="443447" cy="443447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6684393" y="6534865"/>
            <a:ext cx="1564375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FF0000"/>
                </a:solidFill>
                <a:latin typeface="Helios"/>
                <a:ea typeface="Helios"/>
                <a:cs typeface="Helios"/>
                <a:sym typeface="Helios"/>
              </a:rPr>
              <a:t>x = y + 0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998535" y="6534865"/>
            <a:ext cx="1256164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753D"/>
                </a:solidFill>
                <a:latin typeface="Helios"/>
                <a:ea typeface="Helios"/>
                <a:cs typeface="Helios"/>
                <a:sym typeface="Helios"/>
              </a:rPr>
              <a:t>x = y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8401928" y="7373599"/>
            <a:ext cx="443447" cy="443447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6684393" y="7316449"/>
            <a:ext cx="1564375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FF0000"/>
                </a:solidFill>
                <a:latin typeface="Helios"/>
                <a:ea typeface="Helios"/>
                <a:cs typeface="Helios"/>
                <a:sym typeface="Helios"/>
              </a:rPr>
              <a:t>x = y * 1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998535" y="7316449"/>
            <a:ext cx="1256164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753D"/>
                </a:solidFill>
                <a:latin typeface="Helios"/>
                <a:ea typeface="Helios"/>
                <a:cs typeface="Helios"/>
                <a:sym typeface="Helios"/>
              </a:rPr>
              <a:t>x = y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672720" y="4830613"/>
            <a:ext cx="3331077" cy="125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FF0000"/>
                </a:solidFill>
                <a:latin typeface="Helios"/>
                <a:ea typeface="Helios"/>
                <a:cs typeface="Helios"/>
                <a:sym typeface="Helios"/>
              </a:rPr>
              <a:t>for(int i = 0; i &lt; 3; i++) {</a:t>
            </a:r>
          </a:p>
          <a:p>
            <a:pPr marL="0" lvl="1" indent="0" algn="just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FF0000"/>
                </a:solidFill>
                <a:latin typeface="Helios"/>
                <a:ea typeface="Helios"/>
                <a:cs typeface="Helios"/>
                <a:sym typeface="Helios"/>
              </a:rPr>
              <a:t>     printf("i: %d\n", i);</a:t>
            </a:r>
          </a:p>
          <a:p>
            <a:pPr marL="0" lvl="1" indent="0" algn="just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FF0000"/>
                </a:solidFill>
                <a:latin typeface="Helios"/>
                <a:ea typeface="Helios"/>
                <a:cs typeface="Helios"/>
                <a:sym typeface="Helios"/>
              </a:rPr>
              <a:t>}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979544" y="6764364"/>
            <a:ext cx="2717427" cy="125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753D"/>
                </a:solidFill>
                <a:latin typeface="Helios"/>
                <a:ea typeface="Helios"/>
                <a:cs typeface="Helios"/>
                <a:sym typeface="Helios"/>
              </a:rPr>
              <a:t>printf("i: %d\n", 0); </a:t>
            </a:r>
          </a:p>
          <a:p>
            <a:pPr marL="0" lvl="1" indent="0" algn="just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753D"/>
                </a:solidFill>
                <a:latin typeface="Helios"/>
                <a:ea typeface="Helios"/>
                <a:cs typeface="Helios"/>
                <a:sym typeface="Helios"/>
              </a:rPr>
              <a:t>printf("i: %d\n", 1); </a:t>
            </a:r>
          </a:p>
          <a:p>
            <a:pPr marL="0" lvl="1" indent="0" algn="just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753D"/>
                </a:solidFill>
                <a:latin typeface="Helios"/>
                <a:ea typeface="Helios"/>
                <a:cs typeface="Helios"/>
                <a:sym typeface="Helios"/>
              </a:rPr>
              <a:t>printf("i: %d\n", 2);</a:t>
            </a:r>
          </a:p>
        </p:txBody>
      </p:sp>
      <p:grpSp>
        <p:nvGrpSpPr>
          <p:cNvPr id="52" name="Group 52"/>
          <p:cNvGrpSpPr/>
          <p:nvPr/>
        </p:nvGrpSpPr>
        <p:grpSpPr>
          <a:xfrm rot="5400000">
            <a:off x="14113173" y="6036478"/>
            <a:ext cx="443447" cy="443447"/>
            <a:chOff x="0" y="0"/>
            <a:chExt cx="812800" cy="812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 rot="-5400000">
            <a:off x="-206296" y="-840617"/>
            <a:ext cx="4202335" cy="3789742"/>
            <a:chOff x="0" y="0"/>
            <a:chExt cx="5603113" cy="5052990"/>
          </a:xfrm>
        </p:grpSpPr>
        <p:sp>
          <p:nvSpPr>
            <p:cNvPr id="56" name="Freeform 56"/>
            <p:cNvSpPr/>
            <p:nvPr/>
          </p:nvSpPr>
          <p:spPr>
            <a:xfrm rot="-10800000">
              <a:off x="0" y="0"/>
              <a:ext cx="5603113" cy="5052990"/>
            </a:xfrm>
            <a:custGeom>
              <a:avLst/>
              <a:gdLst/>
              <a:ahLst/>
              <a:cxnLst/>
              <a:rect l="l" t="t" r="r" b="b"/>
              <a:pathLst>
                <a:path w="5603113" h="5052990">
                  <a:moveTo>
                    <a:pt x="0" y="0"/>
                  </a:moveTo>
                  <a:lnTo>
                    <a:pt x="5603113" y="0"/>
                  </a:lnTo>
                  <a:lnTo>
                    <a:pt x="5603113" y="5052990"/>
                  </a:lnTo>
                  <a:lnTo>
                    <a:pt x="0" y="5052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57" name="AutoShape 57"/>
            <p:cNvSpPr/>
            <p:nvPr/>
          </p:nvSpPr>
          <p:spPr>
            <a:xfrm>
              <a:off x="2044058" y="105097"/>
              <a:ext cx="2683460" cy="2683460"/>
            </a:xfrm>
            <a:prstGeom prst="line">
              <a:avLst/>
            </a:prstGeom>
            <a:ln w="50729" cap="flat">
              <a:solidFill>
                <a:srgbClr val="F4F5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8" name="AutoShape 58"/>
            <p:cNvSpPr/>
            <p:nvPr/>
          </p:nvSpPr>
          <p:spPr>
            <a:xfrm>
              <a:off x="675896" y="105097"/>
              <a:ext cx="1374458" cy="1374458"/>
            </a:xfrm>
            <a:prstGeom prst="line">
              <a:avLst/>
            </a:prstGeom>
            <a:ln w="50729" cap="flat">
              <a:solidFill>
                <a:srgbClr val="F4F5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27364"/>
            <a:chOff x="0" y="0"/>
            <a:chExt cx="6812038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12038" cy="270933"/>
            </a:xfrm>
            <a:custGeom>
              <a:avLst/>
              <a:gdLst/>
              <a:ahLst/>
              <a:cxnLst/>
              <a:rect l="l" t="t" r="r" b="b"/>
              <a:pathLst>
                <a:path w="6812038" h="270933">
                  <a:moveTo>
                    <a:pt x="0" y="0"/>
                  </a:moveTo>
                  <a:lnTo>
                    <a:pt x="6812038" y="0"/>
                  </a:lnTo>
                  <a:lnTo>
                    <a:pt x="681203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6812038" cy="299508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07340" y="4146536"/>
            <a:ext cx="2557844" cy="2301598"/>
            <a:chOff x="0" y="0"/>
            <a:chExt cx="639166" cy="5751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9166" cy="575134"/>
            </a:xfrm>
            <a:custGeom>
              <a:avLst/>
              <a:gdLst/>
              <a:ahLst/>
              <a:cxnLst/>
              <a:rect l="l" t="t" r="r" b="b"/>
              <a:pathLst>
                <a:path w="639166" h="575134">
                  <a:moveTo>
                    <a:pt x="90802" y="0"/>
                  </a:moveTo>
                  <a:lnTo>
                    <a:pt x="548364" y="0"/>
                  </a:lnTo>
                  <a:cubicBezTo>
                    <a:pt x="572446" y="0"/>
                    <a:pt x="595542" y="9567"/>
                    <a:pt x="612571" y="26595"/>
                  </a:cubicBezTo>
                  <a:cubicBezTo>
                    <a:pt x="629600" y="43624"/>
                    <a:pt x="639166" y="66720"/>
                    <a:pt x="639166" y="90802"/>
                  </a:cubicBezTo>
                  <a:lnTo>
                    <a:pt x="639166" y="484332"/>
                  </a:lnTo>
                  <a:cubicBezTo>
                    <a:pt x="639166" y="534481"/>
                    <a:pt x="598513" y="575134"/>
                    <a:pt x="548364" y="575134"/>
                  </a:cubicBezTo>
                  <a:lnTo>
                    <a:pt x="90802" y="575134"/>
                  </a:lnTo>
                  <a:cubicBezTo>
                    <a:pt x="40653" y="575134"/>
                    <a:pt x="0" y="534481"/>
                    <a:pt x="0" y="484332"/>
                  </a:cubicBezTo>
                  <a:lnTo>
                    <a:pt x="0" y="90802"/>
                  </a:lnTo>
                  <a:cubicBezTo>
                    <a:pt x="0" y="40653"/>
                    <a:pt x="40653" y="0"/>
                    <a:pt x="90802" y="0"/>
                  </a:cubicBezTo>
                  <a:close/>
                </a:path>
              </a:pathLst>
            </a:custGeom>
            <a:solidFill>
              <a:srgbClr val="00C2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639166" cy="6037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494329" y="3908994"/>
            <a:ext cx="4048615" cy="2776682"/>
            <a:chOff x="0" y="0"/>
            <a:chExt cx="1011687" cy="6938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1687" cy="693850"/>
            </a:xfrm>
            <a:custGeom>
              <a:avLst/>
              <a:gdLst/>
              <a:ahLst/>
              <a:cxnLst/>
              <a:rect l="l" t="t" r="r" b="b"/>
              <a:pathLst>
                <a:path w="1011687" h="693850">
                  <a:moveTo>
                    <a:pt x="57367" y="0"/>
                  </a:moveTo>
                  <a:lnTo>
                    <a:pt x="954320" y="0"/>
                  </a:lnTo>
                  <a:cubicBezTo>
                    <a:pt x="986003" y="0"/>
                    <a:pt x="1011687" y="25684"/>
                    <a:pt x="1011687" y="57367"/>
                  </a:cubicBezTo>
                  <a:lnTo>
                    <a:pt x="1011687" y="636483"/>
                  </a:lnTo>
                  <a:cubicBezTo>
                    <a:pt x="1011687" y="651698"/>
                    <a:pt x="1005643" y="666290"/>
                    <a:pt x="994885" y="677048"/>
                  </a:cubicBezTo>
                  <a:cubicBezTo>
                    <a:pt x="984126" y="687806"/>
                    <a:pt x="969535" y="693850"/>
                    <a:pt x="954320" y="693850"/>
                  </a:cubicBezTo>
                  <a:lnTo>
                    <a:pt x="57367" y="693850"/>
                  </a:lnTo>
                  <a:cubicBezTo>
                    <a:pt x="25684" y="693850"/>
                    <a:pt x="0" y="668166"/>
                    <a:pt x="0" y="636483"/>
                  </a:cubicBezTo>
                  <a:lnTo>
                    <a:pt x="0" y="57367"/>
                  </a:lnTo>
                  <a:cubicBezTo>
                    <a:pt x="0" y="42152"/>
                    <a:pt x="6044" y="27561"/>
                    <a:pt x="16802" y="16802"/>
                  </a:cubicBezTo>
                  <a:cubicBezTo>
                    <a:pt x="27561" y="6044"/>
                    <a:pt x="42152" y="0"/>
                    <a:pt x="57367" y="0"/>
                  </a:cubicBezTo>
                  <a:close/>
                </a:path>
              </a:pathLst>
            </a:custGeom>
            <a:solidFill>
              <a:srgbClr val="00C2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011687" cy="722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757168" y="5142310"/>
            <a:ext cx="445178" cy="44517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7861112"/>
            <a:ext cx="18288000" cy="2425888"/>
            <a:chOff x="0" y="0"/>
            <a:chExt cx="4816593" cy="63891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16592" cy="638917"/>
            </a:xfrm>
            <a:custGeom>
              <a:avLst/>
              <a:gdLst/>
              <a:ahLst/>
              <a:cxnLst/>
              <a:rect l="l" t="t" r="r" b="b"/>
              <a:pathLst>
                <a:path w="4816592" h="638917">
                  <a:moveTo>
                    <a:pt x="0" y="0"/>
                  </a:moveTo>
                  <a:lnTo>
                    <a:pt x="4816592" y="0"/>
                  </a:lnTo>
                  <a:lnTo>
                    <a:pt x="4816592" y="638917"/>
                  </a:lnTo>
                  <a:lnTo>
                    <a:pt x="0" y="638917"/>
                  </a:lnTo>
                  <a:close/>
                </a:path>
              </a:pathLst>
            </a:custGeom>
            <a:solidFill>
              <a:srgbClr val="DDF4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4816593" cy="696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914955" y="1442417"/>
            <a:ext cx="14458090" cy="1060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000"/>
              </a:lnSpc>
              <a:spcBef>
                <a:spcPct val="0"/>
              </a:spcBef>
            </a:pPr>
            <a:r>
              <a:rPr lang="en-US" sz="8000" b="1" u="none" strike="noStrike" spc="416">
                <a:solidFill>
                  <a:srgbClr val="4263EB"/>
                </a:solidFill>
                <a:latin typeface="Inter Bold"/>
                <a:ea typeface="Inter Bold"/>
                <a:cs typeface="Inter Bold"/>
                <a:sym typeface="Inter Bold"/>
              </a:rPr>
              <a:t> Intermediate Code (TAC)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45056" y="2960746"/>
            <a:ext cx="6146997" cy="408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4074"/>
              </a:lnSpc>
              <a:buAutoNum type="arabicPeriod"/>
            </a:pPr>
            <a:r>
              <a:rPr lang="en-US" sz="24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Binary Operation:</a:t>
            </a:r>
            <a:r>
              <a:rPr lang="en-US" sz="2499" b="1">
                <a:solidFill>
                  <a:srgbClr val="00C2FF"/>
                </a:solidFill>
                <a:latin typeface="Helios Bold"/>
                <a:ea typeface="Helios Bold"/>
                <a:cs typeface="Helios Bold"/>
                <a:sym typeface="Helios Bold"/>
              </a:rPr>
              <a:t> </a:t>
            </a:r>
            <a:r>
              <a:rPr lang="en-US" sz="2499" b="1">
                <a:solidFill>
                  <a:srgbClr val="4263EB"/>
                </a:solidFill>
                <a:latin typeface="Helios Bold"/>
                <a:ea typeface="Helios Bold"/>
                <a:cs typeface="Helios Bold"/>
                <a:sym typeface="Helios Bold"/>
              </a:rPr>
              <a:t>t0 = x op b</a:t>
            </a:r>
          </a:p>
          <a:p>
            <a:pPr marL="539749" lvl="1" indent="-269875" algn="l">
              <a:lnSpc>
                <a:spcPts val="4074"/>
              </a:lnSpc>
              <a:buAutoNum type="arabicPeriod"/>
            </a:pPr>
            <a:r>
              <a:rPr lang="en-US" sz="24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Unary Operation: </a:t>
            </a:r>
            <a:r>
              <a:rPr lang="en-US" sz="2499" b="1">
                <a:solidFill>
                  <a:srgbClr val="4263EB"/>
                </a:solidFill>
                <a:latin typeface="Helios Bold"/>
                <a:ea typeface="Helios Bold"/>
                <a:cs typeface="Helios Bold"/>
                <a:sym typeface="Helios Bold"/>
              </a:rPr>
              <a:t>t0 = op x</a:t>
            </a:r>
          </a:p>
          <a:p>
            <a:pPr marL="539749" lvl="1" indent="-269875" algn="l">
              <a:lnSpc>
                <a:spcPts val="4074"/>
              </a:lnSpc>
              <a:buAutoNum type="arabicPeriod"/>
            </a:pPr>
            <a:r>
              <a:rPr lang="en-US" sz="24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Simple Assignment:</a:t>
            </a:r>
            <a:r>
              <a:rPr lang="en-US" sz="2499" b="1">
                <a:solidFill>
                  <a:srgbClr val="4263EB"/>
                </a:solidFill>
                <a:latin typeface="Helios Bold"/>
                <a:ea typeface="Helios Bold"/>
                <a:cs typeface="Helios Bold"/>
                <a:sym typeface="Helios Bold"/>
              </a:rPr>
              <a:t> x = y</a:t>
            </a:r>
          </a:p>
          <a:p>
            <a:pPr marL="539749" lvl="1" indent="-269875" algn="l">
              <a:lnSpc>
                <a:spcPts val="4074"/>
              </a:lnSpc>
              <a:buAutoNum type="arabicPeriod"/>
            </a:pPr>
            <a:r>
              <a:rPr lang="en-US" sz="24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Conditional Goto: </a:t>
            </a:r>
            <a:r>
              <a:rPr lang="en-US" sz="2499" b="1">
                <a:solidFill>
                  <a:srgbClr val="4263EB"/>
                </a:solidFill>
                <a:latin typeface="Helios Bold"/>
                <a:ea typeface="Helios Bold"/>
                <a:cs typeface="Helios Bold"/>
                <a:sym typeface="Helios Bold"/>
              </a:rPr>
              <a:t>IfFalse t0 Goto L</a:t>
            </a:r>
          </a:p>
          <a:p>
            <a:pPr marL="539749" lvl="1" indent="-269875" algn="l">
              <a:lnSpc>
                <a:spcPts val="4074"/>
              </a:lnSpc>
              <a:buAutoNum type="arabicPeriod"/>
            </a:pPr>
            <a:r>
              <a:rPr lang="en-US" sz="24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Function Declaration</a:t>
            </a:r>
          </a:p>
          <a:p>
            <a:pPr marL="539749" lvl="1" indent="-269875" algn="l">
              <a:lnSpc>
                <a:spcPts val="4074"/>
              </a:lnSpc>
              <a:buAutoNum type="arabicPeriod"/>
            </a:pPr>
            <a:r>
              <a:rPr lang="en-US" sz="24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Function Call</a:t>
            </a:r>
          </a:p>
          <a:p>
            <a:pPr marL="539749" lvl="1" indent="-269875" algn="l">
              <a:lnSpc>
                <a:spcPts val="4074"/>
              </a:lnSpc>
              <a:buAutoNum type="arabicPeriod"/>
            </a:pPr>
            <a:r>
              <a:rPr lang="en-US" sz="24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External Function: </a:t>
            </a:r>
            <a:r>
              <a:rPr lang="en-US" sz="2499" b="1">
                <a:solidFill>
                  <a:srgbClr val="4263EB"/>
                </a:solidFill>
                <a:latin typeface="Helios Bold"/>
                <a:ea typeface="Helios Bold"/>
                <a:cs typeface="Helios Bold"/>
                <a:sym typeface="Helios Bold"/>
              </a:rPr>
              <a:t>printf</a:t>
            </a:r>
          </a:p>
          <a:p>
            <a:pPr marL="539749" lvl="1" indent="-269875" algn="l">
              <a:lnSpc>
                <a:spcPts val="4074"/>
              </a:lnSpc>
              <a:buAutoNum type="arabicPeriod"/>
            </a:pPr>
            <a:r>
              <a:rPr lang="en-US" sz="24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External Function:: </a:t>
            </a:r>
            <a:r>
              <a:rPr lang="en-US" sz="2499" b="1">
                <a:solidFill>
                  <a:srgbClr val="4263EB"/>
                </a:solidFill>
                <a:latin typeface="Helios Bold"/>
                <a:ea typeface="Helios Bold"/>
                <a:cs typeface="Helios Bold"/>
                <a:sym typeface="Helios Bold"/>
              </a:rPr>
              <a:t>scanf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32325" y="4432465"/>
            <a:ext cx="1707874" cy="167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A2B66"/>
                </a:solidFill>
                <a:latin typeface="Helios"/>
                <a:ea typeface="Helios"/>
                <a:cs typeface="Helios"/>
                <a:sym typeface="Helios"/>
              </a:rPr>
              <a:t>i</a:t>
            </a:r>
            <a:r>
              <a:rPr lang="en-US" sz="2400" u="none" strike="noStrike">
                <a:solidFill>
                  <a:srgbClr val="0A2B66"/>
                </a:solidFill>
                <a:latin typeface="Helios"/>
                <a:ea typeface="Helios"/>
                <a:cs typeface="Helios"/>
                <a:sym typeface="Helios"/>
              </a:rPr>
              <a:t>f (x == 5) {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A2B66"/>
                </a:solidFill>
                <a:latin typeface="Helios"/>
                <a:ea typeface="Helios"/>
                <a:cs typeface="Helios"/>
                <a:sym typeface="Helios"/>
              </a:rPr>
              <a:t>    y = 10; 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A2B66"/>
                </a:solidFill>
                <a:latin typeface="Helios"/>
                <a:ea typeface="Helios"/>
                <a:cs typeface="Helios"/>
                <a:sym typeface="Helios"/>
              </a:rPr>
              <a:t>} </a:t>
            </a:r>
          </a:p>
          <a:p>
            <a:pPr marL="0" lvl="1" indent="0" algn="just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A2B66"/>
                </a:solidFill>
                <a:latin typeface="Helios"/>
                <a:ea typeface="Helios"/>
                <a:cs typeface="Helios"/>
                <a:sym typeface="Helios"/>
              </a:rPr>
              <a:t>y = 15;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917720" y="4222915"/>
            <a:ext cx="3201833" cy="2091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A2B66"/>
                </a:solidFill>
                <a:latin typeface="Helios"/>
                <a:ea typeface="Helios"/>
                <a:cs typeface="Helios"/>
                <a:sym typeface="Helios"/>
              </a:rPr>
              <a:t>t0 =</a:t>
            </a:r>
            <a:r>
              <a:rPr lang="en-US" sz="2400" u="none" strike="noStrike">
                <a:solidFill>
                  <a:srgbClr val="0A2B66"/>
                </a:solidFill>
                <a:latin typeface="Helios"/>
                <a:ea typeface="Helios"/>
                <a:cs typeface="Helios"/>
                <a:sym typeface="Helios"/>
              </a:rPr>
              <a:t> (x == 5) 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A2B66"/>
                </a:solidFill>
                <a:latin typeface="Helios"/>
                <a:ea typeface="Helios"/>
                <a:cs typeface="Helios"/>
                <a:sym typeface="Helios"/>
              </a:rPr>
              <a:t>   IfFalse t0 Goto L_FIN 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A2B66"/>
                </a:solidFill>
                <a:latin typeface="Helios"/>
                <a:ea typeface="Helios"/>
                <a:cs typeface="Helios"/>
                <a:sym typeface="Helios"/>
              </a:rPr>
              <a:t>  y = 10 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A2B66"/>
                </a:solidFill>
                <a:latin typeface="Helios"/>
                <a:ea typeface="Helios"/>
                <a:cs typeface="Helios"/>
                <a:sym typeface="Helios"/>
              </a:rPr>
              <a:t>L_FIN: </a:t>
            </a:r>
          </a:p>
          <a:p>
            <a:pPr marL="0" lvl="1" indent="0" algn="just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A2B66"/>
                </a:solidFill>
                <a:latin typeface="Helios"/>
                <a:ea typeface="Helios"/>
                <a:cs typeface="Helios"/>
                <a:sym typeface="Helios"/>
              </a:rPr>
              <a:t>      y = 15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53144" y="3611814"/>
            <a:ext cx="1866236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A2B66"/>
                </a:solidFill>
                <a:latin typeface="Helios Bold"/>
                <a:ea typeface="Helios Bold"/>
                <a:cs typeface="Helios Bold"/>
                <a:sym typeface="Helios Bold"/>
              </a:rPr>
              <a:t>Code C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039924" y="3366490"/>
            <a:ext cx="2957425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A2B66"/>
                </a:solidFill>
                <a:latin typeface="Helios Bold"/>
                <a:ea typeface="Helios Bold"/>
                <a:cs typeface="Helios Bold"/>
                <a:sym typeface="Helios Bold"/>
              </a:rPr>
              <a:t>Optimized TAC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9624" y="8232587"/>
            <a:ext cx="16508752" cy="148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9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Quadruplar Representation: The universal bridge in memory that connects C to the assembler.</a:t>
            </a:r>
          </a:p>
          <a:p>
            <a:pPr marL="518160" lvl="1" indent="-259080" algn="just">
              <a:lnSpc>
                <a:spcPts val="39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Jump Efficiency: The </a:t>
            </a:r>
            <a:r>
              <a:rPr lang="en-US" sz="2400" b="1">
                <a:solidFill>
                  <a:srgbClr val="0A2B66"/>
                </a:solidFill>
                <a:latin typeface="Helios Bold"/>
                <a:ea typeface="Helios Bold"/>
                <a:cs typeface="Helios Bold"/>
                <a:sym typeface="Helios Bold"/>
              </a:rPr>
              <a:t>IfFalse </a:t>
            </a:r>
            <a:r>
              <a:rPr lang="en-US" sz="24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logic saves us from unnecessary </a:t>
            </a:r>
            <a:r>
              <a:rPr lang="en-US" sz="2400" b="1">
                <a:solidFill>
                  <a:srgbClr val="0A2B66"/>
                </a:solidFill>
                <a:latin typeface="Helios Bold"/>
                <a:ea typeface="Helios Bold"/>
                <a:cs typeface="Helios Bold"/>
                <a:sym typeface="Helios Bold"/>
              </a:rPr>
              <a:t>GOTO </a:t>
            </a:r>
            <a:r>
              <a:rPr lang="en-US" sz="24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instructions, speeding up machine cycles.</a:t>
            </a:r>
          </a:p>
          <a:p>
            <a:pPr marL="518160" lvl="1" indent="-259080" algn="just">
              <a:lnSpc>
                <a:spcPts val="39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I/O Abstraction: Specialized handling from the TAC to prepare memory for the </a:t>
            </a:r>
            <a:r>
              <a:rPr lang="en-US" sz="2400" b="1">
                <a:solidFill>
                  <a:srgbClr val="0A2B66"/>
                </a:solidFill>
                <a:latin typeface="Helios Bold"/>
                <a:ea typeface="Helios Bold"/>
                <a:cs typeface="Helios Bold"/>
                <a:sym typeface="Helios Bold"/>
              </a:rPr>
              <a:t>printf</a:t>
            </a:r>
            <a:r>
              <a:rPr lang="en-US" sz="24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and </a:t>
            </a:r>
            <a:r>
              <a:rPr lang="en-US" sz="2400" b="1">
                <a:solidFill>
                  <a:srgbClr val="0A2B66"/>
                </a:solidFill>
                <a:latin typeface="Helios Bold"/>
                <a:ea typeface="Helios Bold"/>
                <a:cs typeface="Helios Bold"/>
                <a:sym typeface="Helios Bold"/>
              </a:rPr>
              <a:t>scanf </a:t>
            </a:r>
            <a:r>
              <a:rPr lang="en-US" sz="24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functions.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816111" y="-11455422"/>
            <a:ext cx="1278988" cy="23086583"/>
            <a:chOff x="0" y="0"/>
            <a:chExt cx="476406" cy="85994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6406" cy="8599446"/>
            </a:xfrm>
            <a:custGeom>
              <a:avLst/>
              <a:gdLst/>
              <a:ahLst/>
              <a:cxnLst/>
              <a:rect l="l" t="t" r="r" b="b"/>
              <a:pathLst>
                <a:path w="476406" h="8599446">
                  <a:moveTo>
                    <a:pt x="0" y="0"/>
                  </a:moveTo>
                  <a:lnTo>
                    <a:pt x="476406" y="0"/>
                  </a:lnTo>
                  <a:lnTo>
                    <a:pt x="476406" y="8599446"/>
                  </a:lnTo>
                  <a:lnTo>
                    <a:pt x="0" y="8599446"/>
                  </a:ln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76406" cy="8628022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14955" y="1555288"/>
            <a:ext cx="14458090" cy="1060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000"/>
              </a:lnSpc>
              <a:spcBef>
                <a:spcPct val="0"/>
              </a:spcBef>
            </a:pPr>
            <a:r>
              <a:rPr lang="en-US" sz="8000" b="1" u="none" strike="noStrike" spc="416">
                <a:solidFill>
                  <a:srgbClr val="4263EB"/>
                </a:solidFill>
                <a:latin typeface="Inter Bold"/>
                <a:ea typeface="Inter Bold"/>
                <a:cs typeface="Inter Bold"/>
                <a:sym typeface="Inter Bold"/>
              </a:rPr>
              <a:t>x86_64 Assembler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741705" y="4479664"/>
            <a:ext cx="3628732" cy="1193069"/>
            <a:chOff x="0" y="0"/>
            <a:chExt cx="906765" cy="2981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06765" cy="298130"/>
            </a:xfrm>
            <a:custGeom>
              <a:avLst/>
              <a:gdLst/>
              <a:ahLst/>
              <a:cxnLst/>
              <a:rect l="l" t="t" r="r" b="b"/>
              <a:pathLst>
                <a:path w="906765" h="298130">
                  <a:moveTo>
                    <a:pt x="64005" y="0"/>
                  </a:moveTo>
                  <a:lnTo>
                    <a:pt x="842760" y="0"/>
                  </a:lnTo>
                  <a:cubicBezTo>
                    <a:pt x="878109" y="0"/>
                    <a:pt x="906765" y="28656"/>
                    <a:pt x="906765" y="64005"/>
                  </a:cubicBezTo>
                  <a:lnTo>
                    <a:pt x="906765" y="234125"/>
                  </a:lnTo>
                  <a:cubicBezTo>
                    <a:pt x="906765" y="269474"/>
                    <a:pt x="878109" y="298130"/>
                    <a:pt x="842760" y="298130"/>
                  </a:cubicBezTo>
                  <a:lnTo>
                    <a:pt x="64005" y="298130"/>
                  </a:lnTo>
                  <a:cubicBezTo>
                    <a:pt x="28656" y="298130"/>
                    <a:pt x="0" y="269474"/>
                    <a:pt x="0" y="234125"/>
                  </a:cubicBezTo>
                  <a:lnTo>
                    <a:pt x="0" y="64005"/>
                  </a:lnTo>
                  <a:cubicBezTo>
                    <a:pt x="0" y="28656"/>
                    <a:pt x="28656" y="0"/>
                    <a:pt x="64005" y="0"/>
                  </a:cubicBezTo>
                  <a:close/>
                </a:path>
              </a:pathLst>
            </a:custGeom>
            <a:solidFill>
              <a:srgbClr val="00C2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906765" cy="3267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91394" y="3960264"/>
            <a:ext cx="4583084" cy="2281803"/>
            <a:chOff x="0" y="0"/>
            <a:chExt cx="1145243" cy="5701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43" cy="570188"/>
            </a:xfrm>
            <a:custGeom>
              <a:avLst/>
              <a:gdLst/>
              <a:ahLst/>
              <a:cxnLst/>
              <a:rect l="l" t="t" r="r" b="b"/>
              <a:pathLst>
                <a:path w="1145243" h="570188">
                  <a:moveTo>
                    <a:pt x="50677" y="0"/>
                  </a:moveTo>
                  <a:lnTo>
                    <a:pt x="1094566" y="0"/>
                  </a:lnTo>
                  <a:cubicBezTo>
                    <a:pt x="1108006" y="0"/>
                    <a:pt x="1120896" y="5339"/>
                    <a:pt x="1130400" y="14843"/>
                  </a:cubicBezTo>
                  <a:cubicBezTo>
                    <a:pt x="1139904" y="24347"/>
                    <a:pt x="1145243" y="37237"/>
                    <a:pt x="1145243" y="50677"/>
                  </a:cubicBezTo>
                  <a:lnTo>
                    <a:pt x="1145243" y="519511"/>
                  </a:lnTo>
                  <a:cubicBezTo>
                    <a:pt x="1145243" y="532951"/>
                    <a:pt x="1139904" y="545841"/>
                    <a:pt x="1130400" y="555345"/>
                  </a:cubicBezTo>
                  <a:cubicBezTo>
                    <a:pt x="1120896" y="564849"/>
                    <a:pt x="1108006" y="570188"/>
                    <a:pt x="1094566" y="570188"/>
                  </a:cubicBezTo>
                  <a:lnTo>
                    <a:pt x="50677" y="570188"/>
                  </a:lnTo>
                  <a:cubicBezTo>
                    <a:pt x="37237" y="570188"/>
                    <a:pt x="24347" y="564849"/>
                    <a:pt x="14843" y="555345"/>
                  </a:cubicBezTo>
                  <a:cubicBezTo>
                    <a:pt x="5339" y="545841"/>
                    <a:pt x="0" y="532951"/>
                    <a:pt x="0" y="519511"/>
                  </a:cubicBezTo>
                  <a:lnTo>
                    <a:pt x="0" y="50677"/>
                  </a:lnTo>
                  <a:cubicBezTo>
                    <a:pt x="0" y="37237"/>
                    <a:pt x="5339" y="24347"/>
                    <a:pt x="14843" y="14843"/>
                  </a:cubicBezTo>
                  <a:cubicBezTo>
                    <a:pt x="24347" y="5339"/>
                    <a:pt x="37237" y="0"/>
                    <a:pt x="50677" y="0"/>
                  </a:cubicBezTo>
                  <a:close/>
                </a:path>
              </a:pathLst>
            </a:custGeom>
            <a:solidFill>
              <a:srgbClr val="00C2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145243" cy="5987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08638" y="4878576"/>
            <a:ext cx="445178" cy="44517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048894" y="4839979"/>
            <a:ext cx="3014355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A2B66"/>
                </a:solidFill>
                <a:latin typeface="Helios"/>
                <a:ea typeface="Helios"/>
                <a:cs typeface="Helios"/>
                <a:sym typeface="Helios"/>
              </a:rPr>
              <a:t>( "+", "a", "b", "t0" 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19861" y="4211329"/>
            <a:ext cx="3726150" cy="167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A2B66"/>
                </a:solidFill>
                <a:latin typeface="Helios"/>
                <a:ea typeface="Helios"/>
                <a:cs typeface="Helios"/>
                <a:sym typeface="Helios"/>
              </a:rPr>
              <a:t>mov rax, qword [rbp - 8] ; 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A2B66"/>
                </a:solidFill>
                <a:latin typeface="Helios"/>
                <a:ea typeface="Helios"/>
                <a:cs typeface="Helios"/>
                <a:sym typeface="Helios"/>
              </a:rPr>
              <a:t>mov</a:t>
            </a:r>
            <a:r>
              <a:rPr lang="en-US" sz="2400" u="none" strike="noStrike">
                <a:solidFill>
                  <a:srgbClr val="0A2B66"/>
                </a:solidFill>
                <a:latin typeface="Helios"/>
                <a:ea typeface="Helios"/>
                <a:cs typeface="Helios"/>
                <a:sym typeface="Helios"/>
              </a:rPr>
              <a:t> rbx, qword [rbp - 16] ; 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A2B66"/>
                </a:solidFill>
                <a:latin typeface="Helios"/>
                <a:ea typeface="Helios"/>
                <a:cs typeface="Helios"/>
                <a:sym typeface="Helios"/>
              </a:rPr>
              <a:t>add rax, rbx ;</a:t>
            </a:r>
          </a:p>
          <a:p>
            <a:pPr marL="0" lvl="1" indent="0" algn="just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A2B66"/>
                </a:solidFill>
                <a:latin typeface="Helios"/>
                <a:ea typeface="Helios"/>
                <a:cs typeface="Helios"/>
                <a:sym typeface="Helios"/>
              </a:rPr>
              <a:t>mov qword [rbp - 24], rax ;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00076" y="3845569"/>
            <a:ext cx="3670361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A2B66"/>
                </a:solidFill>
                <a:latin typeface="Helios Bold"/>
                <a:ea typeface="Helios Bold"/>
                <a:cs typeface="Helios Bold"/>
                <a:sym typeface="Helios Bold"/>
              </a:rPr>
              <a:t>Quadruple TAC (Sum):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77948" y="3367462"/>
            <a:ext cx="5609976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A2B66"/>
                </a:solidFill>
                <a:latin typeface="Helios Bold"/>
                <a:ea typeface="Helios Bold"/>
                <a:cs typeface="Helios Bold"/>
                <a:sym typeface="Helios Bold"/>
              </a:rPr>
              <a:t>Assembly translation (x86_64):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0" y="7208401"/>
            <a:ext cx="18288000" cy="3078599"/>
            <a:chOff x="0" y="0"/>
            <a:chExt cx="4816593" cy="81082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816592" cy="810825"/>
            </a:xfrm>
            <a:custGeom>
              <a:avLst/>
              <a:gdLst/>
              <a:ahLst/>
              <a:cxnLst/>
              <a:rect l="l" t="t" r="r" b="b"/>
              <a:pathLst>
                <a:path w="4816592" h="810825">
                  <a:moveTo>
                    <a:pt x="0" y="0"/>
                  </a:moveTo>
                  <a:lnTo>
                    <a:pt x="4816592" y="0"/>
                  </a:lnTo>
                  <a:lnTo>
                    <a:pt x="4816592" y="810825"/>
                  </a:lnTo>
                  <a:lnTo>
                    <a:pt x="0" y="810825"/>
                  </a:lnTo>
                  <a:close/>
                </a:path>
              </a:pathLst>
            </a:custGeom>
            <a:solidFill>
              <a:srgbClr val="DDF4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4816593" cy="867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889624" y="7704522"/>
            <a:ext cx="16508752" cy="1972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9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Direct Translation: Exact mapping of intermediate operations to actual hardware instructions, using the processor's native registers (</a:t>
            </a:r>
            <a:r>
              <a:rPr lang="en-US" sz="2400" b="1">
                <a:solidFill>
                  <a:srgbClr val="0A2B66"/>
                </a:solidFill>
                <a:latin typeface="Helios Bold"/>
                <a:ea typeface="Helios Bold"/>
                <a:cs typeface="Helios Bold"/>
                <a:sym typeface="Helios Bold"/>
              </a:rPr>
              <a:t>mov</a:t>
            </a:r>
            <a:r>
              <a:rPr lang="en-US" sz="24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, </a:t>
            </a:r>
            <a:r>
              <a:rPr lang="en-US" sz="2400" b="1">
                <a:solidFill>
                  <a:srgbClr val="0A2B66"/>
                </a:solidFill>
                <a:latin typeface="Helios Bold"/>
                <a:ea typeface="Helios Bold"/>
                <a:cs typeface="Helios Bold"/>
                <a:sym typeface="Helios Bold"/>
              </a:rPr>
              <a:t>add</a:t>
            </a:r>
            <a:r>
              <a:rPr lang="en-US" sz="24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, </a:t>
            </a:r>
            <a:r>
              <a:rPr lang="en-US" sz="2400" b="1">
                <a:solidFill>
                  <a:srgbClr val="0A2B66"/>
                </a:solidFill>
                <a:latin typeface="Helios Bold"/>
                <a:ea typeface="Helios Bold"/>
                <a:cs typeface="Helios Bold"/>
                <a:sym typeface="Helios Bold"/>
              </a:rPr>
              <a:t>push</a:t>
            </a:r>
            <a:r>
              <a:rPr lang="en-US" sz="24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).</a:t>
            </a:r>
          </a:p>
          <a:p>
            <a:pPr marL="518160" lvl="1" indent="-259080" algn="just">
              <a:lnSpc>
                <a:spcPts val="39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Industry Adherence: Full compliance with the System V ABI standard for function calls and register usage in Linux systems.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494102" y="-736999"/>
            <a:ext cx="5020271" cy="4527372"/>
            <a:chOff x="0" y="0"/>
            <a:chExt cx="6693695" cy="6036495"/>
          </a:xfrm>
        </p:grpSpPr>
        <p:sp>
          <p:nvSpPr>
            <p:cNvPr id="24" name="Freeform 24"/>
            <p:cNvSpPr/>
            <p:nvPr/>
          </p:nvSpPr>
          <p:spPr>
            <a:xfrm rot="-10800000">
              <a:off x="0" y="0"/>
              <a:ext cx="6693695" cy="6036495"/>
            </a:xfrm>
            <a:custGeom>
              <a:avLst/>
              <a:gdLst/>
              <a:ahLst/>
              <a:cxnLst/>
              <a:rect l="l" t="t" r="r" b="b"/>
              <a:pathLst>
                <a:path w="6693695" h="6036495">
                  <a:moveTo>
                    <a:pt x="0" y="0"/>
                  </a:moveTo>
                  <a:lnTo>
                    <a:pt x="6693695" y="0"/>
                  </a:lnTo>
                  <a:lnTo>
                    <a:pt x="6693695" y="6036495"/>
                  </a:lnTo>
                  <a:lnTo>
                    <a:pt x="0" y="6036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2441910" y="125552"/>
              <a:ext cx="3205765" cy="3205765"/>
            </a:xfrm>
            <a:prstGeom prst="line">
              <a:avLst/>
            </a:prstGeom>
            <a:ln w="60602" cap="flat">
              <a:solidFill>
                <a:srgbClr val="F4F5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807452" y="125552"/>
              <a:ext cx="1641981" cy="1641981"/>
            </a:xfrm>
            <a:prstGeom prst="line">
              <a:avLst/>
            </a:prstGeom>
            <a:ln w="60602" cap="flat">
              <a:solidFill>
                <a:srgbClr val="F4F5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816111" y="-11455422"/>
            <a:ext cx="1278988" cy="23086583"/>
            <a:chOff x="0" y="0"/>
            <a:chExt cx="476406" cy="85994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6406" cy="8599446"/>
            </a:xfrm>
            <a:custGeom>
              <a:avLst/>
              <a:gdLst/>
              <a:ahLst/>
              <a:cxnLst/>
              <a:rect l="l" t="t" r="r" b="b"/>
              <a:pathLst>
                <a:path w="476406" h="8599446">
                  <a:moveTo>
                    <a:pt x="0" y="0"/>
                  </a:moveTo>
                  <a:lnTo>
                    <a:pt x="476406" y="0"/>
                  </a:lnTo>
                  <a:lnTo>
                    <a:pt x="476406" y="8599446"/>
                  </a:lnTo>
                  <a:lnTo>
                    <a:pt x="0" y="8599446"/>
                  </a:ln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76406" cy="8628022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5361448" y="2632060"/>
            <a:ext cx="7565103" cy="5220670"/>
            <a:chOff x="0" y="0"/>
            <a:chExt cx="12827000" cy="8851900"/>
          </a:xfrm>
        </p:grpSpPr>
        <p:sp>
          <p:nvSpPr>
            <p:cNvPr id="6" name="Freeform 6"/>
            <p:cNvSpPr/>
            <p:nvPr/>
          </p:nvSpPr>
          <p:spPr>
            <a:xfrm>
              <a:off x="359410" y="1016000"/>
              <a:ext cx="12146298" cy="7500620"/>
            </a:xfrm>
            <a:custGeom>
              <a:avLst/>
              <a:gdLst/>
              <a:ahLst/>
              <a:cxnLst/>
              <a:rect l="l" t="t" r="r" b="b"/>
              <a:pathLst>
                <a:path w="12146298" h="7500620">
                  <a:moveTo>
                    <a:pt x="12006580" y="7500620"/>
                  </a:moveTo>
                  <a:lnTo>
                    <a:pt x="170180" y="7500620"/>
                  </a:lnTo>
                  <a:cubicBezTo>
                    <a:pt x="77470" y="7500620"/>
                    <a:pt x="0" y="7425689"/>
                    <a:pt x="0" y="7330439"/>
                  </a:cubicBezTo>
                  <a:lnTo>
                    <a:pt x="0" y="0"/>
                  </a:lnTo>
                  <a:lnTo>
                    <a:pt x="12146280" y="0"/>
                  </a:lnTo>
                  <a:lnTo>
                    <a:pt x="12146280" y="7359650"/>
                  </a:lnTo>
                  <a:cubicBezTo>
                    <a:pt x="12147550" y="7438390"/>
                    <a:pt x="12082780" y="7500620"/>
                    <a:pt x="12006580" y="7500620"/>
                  </a:cubicBezTo>
                  <a:close/>
                </a:path>
              </a:pathLst>
            </a:custGeom>
            <a:blipFill>
              <a:blip r:embed="rId3"/>
              <a:stretch>
                <a:fillRect l="-18613" r="-18613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2827000" cy="8851900"/>
            </a:xfrm>
            <a:custGeom>
              <a:avLst/>
              <a:gdLst/>
              <a:ahLst/>
              <a:cxnLst/>
              <a:rect l="l" t="t" r="r" b="b"/>
              <a:pathLst>
                <a:path w="12827000" h="8851900">
                  <a:moveTo>
                    <a:pt x="0" y="0"/>
                  </a:moveTo>
                  <a:lnTo>
                    <a:pt x="12827000" y="0"/>
                  </a:lnTo>
                  <a:lnTo>
                    <a:pt x="12827000" y="8851900"/>
                  </a:lnTo>
                  <a:lnTo>
                    <a:pt x="0" y="885190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781536" y="1458690"/>
            <a:ext cx="8932296" cy="152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000"/>
              </a:lnSpc>
              <a:spcBef>
                <a:spcPct val="0"/>
              </a:spcBef>
            </a:pPr>
            <a:r>
              <a:rPr lang="en-US" sz="8000" b="1" u="none" strike="noStrike" spc="416" dirty="0">
                <a:solidFill>
                  <a:srgbClr val="4263EB"/>
                </a:solidFill>
                <a:latin typeface="Inter Bold"/>
                <a:ea typeface="Inter Bold"/>
                <a:cs typeface="Inter Bold"/>
                <a:sym typeface="Inter Bold"/>
              </a:rPr>
              <a:t>Cloud Execution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81536" y="8343611"/>
            <a:ext cx="8724928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AEE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Build server integrated directly into the web platform. </a:t>
            </a:r>
          </a:p>
        </p:txBody>
      </p:sp>
      <p:sp>
        <p:nvSpPr>
          <p:cNvPr id="10" name="TextBox 10"/>
          <p:cNvSpPr txBox="1"/>
          <p:nvPr/>
        </p:nvSpPr>
        <p:spPr>
          <a:xfrm rot="-584941">
            <a:off x="1170125" y="3796060"/>
            <a:ext cx="3235070" cy="207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u="none" strike="noStrike">
                <a:solidFill>
                  <a:srgbClr val="00AEE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Dynamic Linker (GCC)</a:t>
            </a:r>
          </a:p>
        </p:txBody>
      </p:sp>
      <p:sp>
        <p:nvSpPr>
          <p:cNvPr id="11" name="TextBox 11"/>
          <p:cNvSpPr txBox="1"/>
          <p:nvPr/>
        </p:nvSpPr>
        <p:spPr>
          <a:xfrm rot="977249">
            <a:off x="13619536" y="4149342"/>
            <a:ext cx="3845507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AEE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Full p</a:t>
            </a:r>
            <a:r>
              <a:rPr lang="en-US" sz="3999" b="1" u="none" strike="noStrike">
                <a:solidFill>
                  <a:srgbClr val="00AEE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ortability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745955" y="-11573203"/>
            <a:ext cx="1419301" cy="23086583"/>
            <a:chOff x="0" y="0"/>
            <a:chExt cx="528671" cy="85994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8671" cy="8599446"/>
            </a:xfrm>
            <a:custGeom>
              <a:avLst/>
              <a:gdLst/>
              <a:ahLst/>
              <a:cxnLst/>
              <a:rect l="l" t="t" r="r" b="b"/>
              <a:pathLst>
                <a:path w="528671" h="8599446">
                  <a:moveTo>
                    <a:pt x="0" y="0"/>
                  </a:moveTo>
                  <a:lnTo>
                    <a:pt x="528671" y="0"/>
                  </a:lnTo>
                  <a:lnTo>
                    <a:pt x="528671" y="8599446"/>
                  </a:lnTo>
                  <a:lnTo>
                    <a:pt x="0" y="8599446"/>
                  </a:ln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528671" cy="8628022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593815" y="2585693"/>
            <a:ext cx="5389667" cy="6871045"/>
            <a:chOff x="0" y="0"/>
            <a:chExt cx="1419501" cy="18096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9501" cy="1809658"/>
            </a:xfrm>
            <a:custGeom>
              <a:avLst/>
              <a:gdLst/>
              <a:ahLst/>
              <a:cxnLst/>
              <a:rect l="l" t="t" r="r" b="b"/>
              <a:pathLst>
                <a:path w="1419501" h="1809658">
                  <a:moveTo>
                    <a:pt x="0" y="0"/>
                  </a:moveTo>
                  <a:lnTo>
                    <a:pt x="1419501" y="0"/>
                  </a:lnTo>
                  <a:lnTo>
                    <a:pt x="1419501" y="1809658"/>
                  </a:lnTo>
                  <a:lnTo>
                    <a:pt x="0" y="18096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19501" cy="1838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368533" y="2426326"/>
            <a:ext cx="5459435" cy="6882349"/>
            <a:chOff x="0" y="0"/>
            <a:chExt cx="1386289" cy="17476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86289" cy="1747603"/>
            </a:xfrm>
            <a:custGeom>
              <a:avLst/>
              <a:gdLst/>
              <a:ahLst/>
              <a:cxnLst/>
              <a:rect l="l" t="t" r="r" b="b"/>
              <a:pathLst>
                <a:path w="1386289" h="1747603">
                  <a:moveTo>
                    <a:pt x="0" y="0"/>
                  </a:moveTo>
                  <a:lnTo>
                    <a:pt x="1386289" y="0"/>
                  </a:lnTo>
                  <a:lnTo>
                    <a:pt x="1386289" y="1747603"/>
                  </a:lnTo>
                  <a:lnTo>
                    <a:pt x="0" y="1747603"/>
                  </a:lnTo>
                  <a:close/>
                </a:path>
              </a:pathLst>
            </a:custGeom>
            <a:solidFill>
              <a:srgbClr val="00C2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386289" cy="17761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6748776" y="5074418"/>
            <a:ext cx="4698950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2" name="Group 12"/>
          <p:cNvGrpSpPr/>
          <p:nvPr/>
        </p:nvGrpSpPr>
        <p:grpSpPr>
          <a:xfrm>
            <a:off x="6762737" y="2762674"/>
            <a:ext cx="4671027" cy="513781"/>
            <a:chOff x="0" y="0"/>
            <a:chExt cx="1167218" cy="12838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67218" cy="128386"/>
            </a:xfrm>
            <a:custGeom>
              <a:avLst/>
              <a:gdLst/>
              <a:ahLst/>
              <a:cxnLst/>
              <a:rect l="l" t="t" r="r" b="b"/>
              <a:pathLst>
                <a:path w="1167218" h="128386">
                  <a:moveTo>
                    <a:pt x="0" y="0"/>
                  </a:moveTo>
                  <a:lnTo>
                    <a:pt x="1167218" y="0"/>
                  </a:lnTo>
                  <a:lnTo>
                    <a:pt x="1167218" y="128386"/>
                  </a:lnTo>
                  <a:lnTo>
                    <a:pt x="0" y="128386"/>
                  </a:lnTo>
                  <a:close/>
                </a:path>
              </a:pathLst>
            </a:custGeom>
            <a:solidFill>
              <a:srgbClr val="FF292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1167218" cy="156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29512" y="2958135"/>
            <a:ext cx="5389667" cy="6246269"/>
            <a:chOff x="0" y="0"/>
            <a:chExt cx="1419501" cy="164510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19501" cy="1645108"/>
            </a:xfrm>
            <a:custGeom>
              <a:avLst/>
              <a:gdLst/>
              <a:ahLst/>
              <a:cxnLst/>
              <a:rect l="l" t="t" r="r" b="b"/>
              <a:pathLst>
                <a:path w="1419501" h="1645108">
                  <a:moveTo>
                    <a:pt x="0" y="0"/>
                  </a:moveTo>
                  <a:lnTo>
                    <a:pt x="1419501" y="0"/>
                  </a:lnTo>
                  <a:lnTo>
                    <a:pt x="1419501" y="1645108"/>
                  </a:lnTo>
                  <a:lnTo>
                    <a:pt x="0" y="16451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419501" cy="1673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04231" y="2813259"/>
            <a:ext cx="5459435" cy="6256546"/>
            <a:chOff x="0" y="0"/>
            <a:chExt cx="1386289" cy="158869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86289" cy="1588696"/>
            </a:xfrm>
            <a:custGeom>
              <a:avLst/>
              <a:gdLst/>
              <a:ahLst/>
              <a:cxnLst/>
              <a:rect l="l" t="t" r="r" b="b"/>
              <a:pathLst>
                <a:path w="1386289" h="1588696">
                  <a:moveTo>
                    <a:pt x="0" y="0"/>
                  </a:moveTo>
                  <a:lnTo>
                    <a:pt x="1386289" y="0"/>
                  </a:lnTo>
                  <a:lnTo>
                    <a:pt x="1386289" y="1588696"/>
                  </a:lnTo>
                  <a:lnTo>
                    <a:pt x="0" y="158869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386289" cy="1617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784473" y="4740265"/>
            <a:ext cx="4698950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22" name="Group 22"/>
          <p:cNvGrpSpPr/>
          <p:nvPr/>
        </p:nvGrpSpPr>
        <p:grpSpPr>
          <a:xfrm>
            <a:off x="12561189" y="3030574"/>
            <a:ext cx="5389667" cy="6246269"/>
            <a:chOff x="0" y="0"/>
            <a:chExt cx="1419501" cy="16451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19501" cy="1645108"/>
            </a:xfrm>
            <a:custGeom>
              <a:avLst/>
              <a:gdLst/>
              <a:ahLst/>
              <a:cxnLst/>
              <a:rect l="l" t="t" r="r" b="b"/>
              <a:pathLst>
                <a:path w="1419501" h="1645108">
                  <a:moveTo>
                    <a:pt x="0" y="0"/>
                  </a:moveTo>
                  <a:lnTo>
                    <a:pt x="1419501" y="0"/>
                  </a:lnTo>
                  <a:lnTo>
                    <a:pt x="1419501" y="1645108"/>
                  </a:lnTo>
                  <a:lnTo>
                    <a:pt x="0" y="16451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1419501" cy="1673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335907" y="2885697"/>
            <a:ext cx="5459435" cy="6256546"/>
            <a:chOff x="0" y="0"/>
            <a:chExt cx="1386289" cy="158869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386289" cy="1588696"/>
            </a:xfrm>
            <a:custGeom>
              <a:avLst/>
              <a:gdLst/>
              <a:ahLst/>
              <a:cxnLst/>
              <a:rect l="l" t="t" r="r" b="b"/>
              <a:pathLst>
                <a:path w="1386289" h="1588696">
                  <a:moveTo>
                    <a:pt x="0" y="0"/>
                  </a:moveTo>
                  <a:lnTo>
                    <a:pt x="1386289" y="0"/>
                  </a:lnTo>
                  <a:lnTo>
                    <a:pt x="1386289" y="1588696"/>
                  </a:lnTo>
                  <a:lnTo>
                    <a:pt x="0" y="158869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1386289" cy="1617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sp>
        <p:nvSpPr>
          <p:cNvPr id="28" name="AutoShape 28"/>
          <p:cNvSpPr/>
          <p:nvPr/>
        </p:nvSpPr>
        <p:spPr>
          <a:xfrm>
            <a:off x="12716150" y="4812703"/>
            <a:ext cx="4698950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Box 29"/>
          <p:cNvSpPr txBox="1"/>
          <p:nvPr/>
        </p:nvSpPr>
        <p:spPr>
          <a:xfrm>
            <a:off x="3133948" y="1015098"/>
            <a:ext cx="12436066" cy="10666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8000"/>
              </a:lnSpc>
              <a:spcBef>
                <a:spcPct val="0"/>
              </a:spcBef>
            </a:pPr>
            <a:r>
              <a:rPr lang="en-US" sz="8000" b="1" u="none" strike="noStrike" spc="416" dirty="0">
                <a:solidFill>
                  <a:srgbClr val="4263EB"/>
                </a:solidFill>
                <a:latin typeface="Inter Bold"/>
                <a:ea typeface="Inter Bold"/>
                <a:cs typeface="Inter Bold"/>
                <a:sym typeface="Inter Bold"/>
              </a:rPr>
              <a:t>Subscription Plans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41440" y="5316167"/>
            <a:ext cx="4607135" cy="3569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442" lvl="1" indent="-268721" algn="just">
              <a:lnSpc>
                <a:spcPts val="4057"/>
              </a:lnSpc>
              <a:buFont typeface="Arial"/>
              <a:buChar char="•"/>
            </a:pPr>
            <a:r>
              <a:rPr lang="en-US" sz="248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Unlimited builds.</a:t>
            </a:r>
          </a:p>
          <a:p>
            <a:pPr marL="537442" lvl="1" indent="-268721" algn="just">
              <a:lnSpc>
                <a:spcPts val="4057"/>
              </a:lnSpc>
              <a:buFont typeface="Arial"/>
              <a:buChar char="•"/>
            </a:pPr>
            <a:r>
              <a:rPr lang="en-US" sz="248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Customizable web interface (image/video backgrounds).</a:t>
            </a:r>
          </a:p>
          <a:p>
            <a:pPr marL="537442" lvl="1" indent="-268721" algn="just">
              <a:lnSpc>
                <a:spcPts val="4057"/>
              </a:lnSpc>
              <a:buFont typeface="Arial"/>
              <a:buChar char="•"/>
            </a:pPr>
            <a:r>
              <a:rPr lang="en-US" sz="248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Full report downloads (.JSON, .ASM, and .out binaries).</a:t>
            </a:r>
          </a:p>
          <a:p>
            <a:pPr marL="537442" lvl="1" indent="-268721" algn="just">
              <a:lnSpc>
                <a:spcPts val="4057"/>
              </a:lnSpc>
              <a:buFont typeface="Arial"/>
              <a:buChar char="•"/>
            </a:pPr>
            <a:r>
              <a:rPr lang="en-US" sz="248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Priority technical support.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08115" y="3536131"/>
            <a:ext cx="3695941" cy="660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 spc="260" dirty="0">
                <a:solidFill>
                  <a:srgbClr val="262262"/>
                </a:solidFill>
                <a:latin typeface="Inter Bold"/>
                <a:ea typeface="Inter Bold"/>
                <a:cs typeface="Inter Bold"/>
                <a:sym typeface="Inter Bold"/>
              </a:rPr>
              <a:t>Pro-load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08114" y="4272731"/>
            <a:ext cx="4607135" cy="530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 b="1" spc="207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$15 USD/month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900302" y="2719337"/>
            <a:ext cx="4395898" cy="486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1"/>
              </a:lnSpc>
            </a:pPr>
            <a:r>
              <a:rPr lang="en-US" sz="2400" b="1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OFFER</a:t>
            </a:r>
            <a:r>
              <a:rPr lang="en-US" sz="2400" b="1" u="none" strike="noStrike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: $5/month (3 months)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8273" y="4986758"/>
            <a:ext cx="4547424" cy="3564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442" lvl="1" indent="-268721" algn="just">
              <a:lnSpc>
                <a:spcPts val="4057"/>
              </a:lnSpc>
              <a:buFont typeface="Arial"/>
              <a:buChar char="•"/>
            </a:pPr>
            <a:r>
              <a:rPr lang="en-US" sz="248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Full analysis (Lexical, Semantic, Visual SDT, Optimized Code, TAC, ASM).</a:t>
            </a:r>
          </a:p>
          <a:p>
            <a:pPr marL="537442" lvl="1" indent="-268721" algn="just">
              <a:lnSpc>
                <a:spcPts val="4057"/>
              </a:lnSpc>
              <a:buFont typeface="Arial"/>
              <a:buChar char="•"/>
            </a:pPr>
            <a:r>
              <a:rPr lang="en-US" sz="248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Standard interface (static).</a:t>
            </a:r>
          </a:p>
          <a:p>
            <a:pPr marL="537442" lvl="1" indent="-268721" algn="just">
              <a:lnSpc>
                <a:spcPts val="4057"/>
              </a:lnSpc>
              <a:buFont typeface="Arial"/>
              <a:buChar char="•"/>
            </a:pPr>
            <a:r>
              <a:rPr lang="en-US" sz="248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Limit of 5 to 10 compilations per day.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6060" y="3201977"/>
            <a:ext cx="3925729" cy="660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 spc="260" dirty="0">
                <a:solidFill>
                  <a:srgbClr val="262262"/>
                </a:solidFill>
                <a:latin typeface="Inter Bold"/>
                <a:ea typeface="Inter Bold"/>
                <a:cs typeface="Inter Bold"/>
                <a:sym typeface="Inter Bold"/>
              </a:rPr>
              <a:t>Free-load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6060" y="3938577"/>
            <a:ext cx="4542780" cy="530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 b="1" spc="207" dirty="0">
                <a:solidFill>
                  <a:srgbClr val="737373"/>
                </a:solidFill>
                <a:latin typeface="Inter Bold"/>
                <a:ea typeface="Inter Bold"/>
                <a:cs typeface="Inter Bold"/>
                <a:sym typeface="Inter Bold"/>
              </a:rPr>
              <a:t>$0 USD/month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639950" y="5059196"/>
            <a:ext cx="4547424" cy="356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442" lvl="1" indent="-268721" algn="just">
              <a:lnSpc>
                <a:spcPts val="4057"/>
              </a:lnSpc>
              <a:buFont typeface="Arial"/>
              <a:buChar char="•"/>
            </a:pPr>
            <a:r>
              <a:rPr lang="en-US" sz="248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All Pro benefits at half price.</a:t>
            </a:r>
          </a:p>
          <a:p>
            <a:pPr marL="537442" lvl="1" indent="-268721" algn="just">
              <a:lnSpc>
                <a:spcPts val="4057"/>
              </a:lnSpc>
              <a:buFont typeface="Arial"/>
              <a:buChar char="•"/>
            </a:pPr>
            <a:r>
              <a:rPr lang="en-US" sz="248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Rate guaranteed for 3 years.</a:t>
            </a:r>
          </a:p>
          <a:p>
            <a:pPr marL="537591" lvl="1" indent="-268796" algn="just">
              <a:lnSpc>
                <a:spcPts val="4058"/>
              </a:lnSpc>
              <a:buFont typeface="Arial"/>
              <a:buChar char="•"/>
            </a:pPr>
            <a:r>
              <a:rPr lang="en-US" sz="2490" i="1">
                <a:solidFill>
                  <a:srgbClr val="000000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Requires an application via institutional email, including proof of enrollment and academic transcript.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745482" y="3274416"/>
            <a:ext cx="3662244" cy="66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 spc="260" dirty="0">
                <a:solidFill>
                  <a:srgbClr val="262262"/>
                </a:solidFill>
                <a:latin typeface="Inter Bold"/>
                <a:ea typeface="Inter Bold"/>
                <a:cs typeface="Inter Bold"/>
                <a:sym typeface="Inter Bold"/>
              </a:rPr>
              <a:t>University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745482" y="4011016"/>
            <a:ext cx="2708434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 b="1" spc="207">
                <a:solidFill>
                  <a:srgbClr val="737373"/>
                </a:solidFill>
                <a:latin typeface="Inter Bold"/>
                <a:ea typeface="Inter Bold"/>
                <a:cs typeface="Inter Bold"/>
                <a:sym typeface="Inter Bold"/>
              </a:rPr>
              <a:t>-50% OFF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745955" y="-11573203"/>
            <a:ext cx="1419301" cy="23086583"/>
            <a:chOff x="0" y="0"/>
            <a:chExt cx="528671" cy="85994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8671" cy="8599446"/>
            </a:xfrm>
            <a:custGeom>
              <a:avLst/>
              <a:gdLst/>
              <a:ahLst/>
              <a:cxnLst/>
              <a:rect l="l" t="t" r="r" b="b"/>
              <a:pathLst>
                <a:path w="528671" h="8599446">
                  <a:moveTo>
                    <a:pt x="0" y="0"/>
                  </a:moveTo>
                  <a:lnTo>
                    <a:pt x="528671" y="0"/>
                  </a:lnTo>
                  <a:lnTo>
                    <a:pt x="528671" y="8599446"/>
                  </a:lnTo>
                  <a:lnTo>
                    <a:pt x="0" y="8599446"/>
                  </a:ln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528671" cy="8628022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805517" y="1307398"/>
            <a:ext cx="12676966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7500"/>
              </a:lnSpc>
              <a:spcBef>
                <a:spcPct val="0"/>
              </a:spcBef>
            </a:pPr>
            <a:r>
              <a:rPr lang="en-US" sz="6500" b="1" u="none" strike="noStrike" spc="390" dirty="0">
                <a:solidFill>
                  <a:srgbClr val="4263EB"/>
                </a:solidFill>
                <a:latin typeface="Inter Bold"/>
                <a:ea typeface="Inter Bold"/>
                <a:cs typeface="Inter Bold"/>
                <a:sym typeface="Inter Bold"/>
              </a:rPr>
              <a:t>The true cost of the code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14342" y="3097676"/>
            <a:ext cx="6833739" cy="6461960"/>
            <a:chOff x="0" y="0"/>
            <a:chExt cx="1799832" cy="17019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99832" cy="1701915"/>
            </a:xfrm>
            <a:custGeom>
              <a:avLst/>
              <a:gdLst/>
              <a:ahLst/>
              <a:cxnLst/>
              <a:rect l="l" t="t" r="r" b="b"/>
              <a:pathLst>
                <a:path w="1799832" h="1701915">
                  <a:moveTo>
                    <a:pt x="0" y="0"/>
                  </a:moveTo>
                  <a:lnTo>
                    <a:pt x="1799832" y="0"/>
                  </a:lnTo>
                  <a:lnTo>
                    <a:pt x="1799832" y="1701915"/>
                  </a:lnTo>
                  <a:lnTo>
                    <a:pt x="0" y="17019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799832" cy="1730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2947797"/>
            <a:ext cx="6922199" cy="6472591"/>
            <a:chOff x="0" y="0"/>
            <a:chExt cx="1757722" cy="16435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57722" cy="1643555"/>
            </a:xfrm>
            <a:custGeom>
              <a:avLst/>
              <a:gdLst/>
              <a:ahLst/>
              <a:cxnLst/>
              <a:rect l="l" t="t" r="r" b="b"/>
              <a:pathLst>
                <a:path w="1757722" h="1643555">
                  <a:moveTo>
                    <a:pt x="0" y="0"/>
                  </a:moveTo>
                  <a:lnTo>
                    <a:pt x="1757722" y="0"/>
                  </a:lnTo>
                  <a:lnTo>
                    <a:pt x="1757722" y="1643555"/>
                  </a:lnTo>
                  <a:lnTo>
                    <a:pt x="0" y="1643555"/>
                  </a:lnTo>
                  <a:close/>
                </a:path>
              </a:pathLst>
            </a:custGeom>
            <a:solidFill>
              <a:srgbClr val="DDF4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757722" cy="1672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1510822" y="4211369"/>
            <a:ext cx="5957955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3" name="Group 13"/>
          <p:cNvGrpSpPr/>
          <p:nvPr/>
        </p:nvGrpSpPr>
        <p:grpSpPr>
          <a:xfrm>
            <a:off x="8986453" y="3237327"/>
            <a:ext cx="8353814" cy="6020973"/>
            <a:chOff x="0" y="0"/>
            <a:chExt cx="2200181" cy="158577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00181" cy="1585771"/>
            </a:xfrm>
            <a:custGeom>
              <a:avLst/>
              <a:gdLst/>
              <a:ahLst/>
              <a:cxnLst/>
              <a:rect l="l" t="t" r="r" b="b"/>
              <a:pathLst>
                <a:path w="2200181" h="1585771">
                  <a:moveTo>
                    <a:pt x="0" y="0"/>
                  </a:moveTo>
                  <a:lnTo>
                    <a:pt x="2200181" y="0"/>
                  </a:lnTo>
                  <a:lnTo>
                    <a:pt x="2200181" y="1585771"/>
                  </a:lnTo>
                  <a:lnTo>
                    <a:pt x="0" y="15857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200181" cy="1614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637274" y="3097676"/>
            <a:ext cx="8461951" cy="6030878"/>
            <a:chOff x="0" y="0"/>
            <a:chExt cx="2148704" cy="15313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48704" cy="1531393"/>
            </a:xfrm>
            <a:custGeom>
              <a:avLst/>
              <a:gdLst/>
              <a:ahLst/>
              <a:cxnLst/>
              <a:rect l="l" t="t" r="r" b="b"/>
              <a:pathLst>
                <a:path w="2148704" h="1531393">
                  <a:moveTo>
                    <a:pt x="0" y="0"/>
                  </a:moveTo>
                  <a:lnTo>
                    <a:pt x="2148704" y="0"/>
                  </a:lnTo>
                  <a:lnTo>
                    <a:pt x="2148704" y="1531393"/>
                  </a:lnTo>
                  <a:lnTo>
                    <a:pt x="0" y="1531393"/>
                  </a:lnTo>
                  <a:close/>
                </a:path>
              </a:pathLst>
            </a:custGeom>
            <a:solidFill>
              <a:srgbClr val="DDF4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2148704" cy="1559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9226638" y="4422210"/>
            <a:ext cx="7283224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0" name="Freeform 20"/>
          <p:cNvSpPr/>
          <p:nvPr/>
        </p:nvSpPr>
        <p:spPr>
          <a:xfrm>
            <a:off x="1028700" y="1508498"/>
            <a:ext cx="1884796" cy="1439299"/>
          </a:xfrm>
          <a:custGeom>
            <a:avLst/>
            <a:gdLst/>
            <a:ahLst/>
            <a:cxnLst/>
            <a:rect l="l" t="t" r="r" b="b"/>
            <a:pathLst>
              <a:path w="1884796" h="1439299">
                <a:moveTo>
                  <a:pt x="0" y="0"/>
                </a:moveTo>
                <a:lnTo>
                  <a:pt x="1884796" y="0"/>
                </a:lnTo>
                <a:lnTo>
                  <a:pt x="1884796" y="1439299"/>
                </a:lnTo>
                <a:lnTo>
                  <a:pt x="0" y="14392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Freeform 21"/>
          <p:cNvSpPr/>
          <p:nvPr/>
        </p:nvSpPr>
        <p:spPr>
          <a:xfrm flipH="1">
            <a:off x="15453270" y="2097212"/>
            <a:ext cx="2308535" cy="1464870"/>
          </a:xfrm>
          <a:custGeom>
            <a:avLst/>
            <a:gdLst/>
            <a:ahLst/>
            <a:cxnLst/>
            <a:rect l="l" t="t" r="r" b="b"/>
            <a:pathLst>
              <a:path w="2308535" h="1464870">
                <a:moveTo>
                  <a:pt x="2308535" y="0"/>
                </a:moveTo>
                <a:lnTo>
                  <a:pt x="0" y="0"/>
                </a:lnTo>
                <a:lnTo>
                  <a:pt x="0" y="1464870"/>
                </a:lnTo>
                <a:lnTo>
                  <a:pt x="2308535" y="1464870"/>
                </a:lnTo>
                <a:lnTo>
                  <a:pt x="230853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Box 22"/>
          <p:cNvSpPr txBox="1"/>
          <p:nvPr/>
        </p:nvSpPr>
        <p:spPr>
          <a:xfrm>
            <a:off x="1375000" y="4492357"/>
            <a:ext cx="5998527" cy="2540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442" lvl="1" indent="-268721" algn="just">
              <a:lnSpc>
                <a:spcPts val="4057"/>
              </a:lnSpc>
              <a:buFont typeface="Arial"/>
              <a:buChar char="•"/>
            </a:pPr>
            <a:r>
              <a:rPr lang="en-US" sz="248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Stripe: 31.1% of development time is spent fixing bugs and addressing technical debt.</a:t>
            </a:r>
          </a:p>
          <a:p>
            <a:pPr marL="537442" lvl="1" indent="-268721" algn="just">
              <a:lnSpc>
                <a:spcPts val="4057"/>
              </a:lnSpc>
              <a:buFont typeface="Arial"/>
              <a:buChar char="•"/>
            </a:pPr>
            <a:r>
              <a:rPr lang="en-US" sz="248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CISQ: $2 billion in annual losses due to substandard software.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10822" y="3344594"/>
            <a:ext cx="5998527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 b="1" spc="207">
                <a:solidFill>
                  <a:srgbClr val="262262"/>
                </a:solidFill>
                <a:latin typeface="Inter Bold"/>
                <a:ea typeface="Inter Bold"/>
                <a:cs typeface="Inter Bold"/>
                <a:sym typeface="Inter Bold"/>
              </a:rPr>
              <a:t>Business level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59999" y="4617473"/>
            <a:ext cx="7365047" cy="408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442" lvl="1" indent="-268721" algn="just">
              <a:lnSpc>
                <a:spcPts val="4057"/>
              </a:lnSpc>
              <a:buFont typeface="Arial"/>
              <a:buChar char="•"/>
            </a:pPr>
            <a:r>
              <a:rPr lang="en-US" sz="248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The Limits of AI: It generates code quickly, but struggles with system architecture and memory management.</a:t>
            </a:r>
          </a:p>
          <a:p>
            <a:pPr marL="537442" lvl="1" indent="-268721" algn="just">
              <a:lnSpc>
                <a:spcPts val="4057"/>
              </a:lnSpc>
              <a:buFont typeface="Arial"/>
              <a:buChar char="•"/>
            </a:pPr>
            <a:r>
              <a:rPr lang="en-US" sz="248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Dropout Rates: Outdated compilers (gcc) lead to frustration. 30–40% dropout rate in the first semesters.</a:t>
            </a:r>
          </a:p>
          <a:p>
            <a:pPr marL="537442" lvl="1" indent="-268721" algn="just">
              <a:lnSpc>
                <a:spcPts val="4057"/>
              </a:lnSpc>
              <a:buFont typeface="Arial"/>
              <a:buChar char="•"/>
            </a:pPr>
            <a:r>
              <a:rPr lang="en-US" sz="248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The IoT Boom: C is the go-to language for microcontrollers. Real engineers are needed.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12894" y="3512573"/>
            <a:ext cx="8110710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 b="1" spc="207">
                <a:solidFill>
                  <a:srgbClr val="262262"/>
                </a:solidFill>
                <a:latin typeface="Inter Bold"/>
                <a:ea typeface="Inter Bold"/>
                <a:cs typeface="Inter Bold"/>
                <a:sym typeface="Inter Bold"/>
              </a:rPr>
              <a:t>Industry and Student Level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542327" y="7356791"/>
            <a:ext cx="5831201" cy="1723709"/>
            <a:chOff x="0" y="0"/>
            <a:chExt cx="1480690" cy="43769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80690" cy="437693"/>
            </a:xfrm>
            <a:custGeom>
              <a:avLst/>
              <a:gdLst/>
              <a:ahLst/>
              <a:cxnLst/>
              <a:rect l="l" t="t" r="r" b="b"/>
              <a:pathLst>
                <a:path w="1480690" h="437693">
                  <a:moveTo>
                    <a:pt x="0" y="0"/>
                  </a:moveTo>
                  <a:lnTo>
                    <a:pt x="1480690" y="0"/>
                  </a:lnTo>
                  <a:lnTo>
                    <a:pt x="1480690" y="437693"/>
                  </a:lnTo>
                  <a:lnTo>
                    <a:pt x="0" y="437693"/>
                  </a:lnTo>
                  <a:close/>
                </a:path>
              </a:pathLst>
            </a:custGeom>
            <a:solidFill>
              <a:srgbClr val="00C2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480690" cy="4662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824874" y="7491938"/>
            <a:ext cx="5266106" cy="144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3"/>
              </a:lnSpc>
            </a:pPr>
            <a:r>
              <a:rPr lang="en-US" sz="229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IBM Metric: Fixing a bug in production is 100 times more expensive than fixing it during the design phase.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745955" y="-11573203"/>
            <a:ext cx="1419301" cy="23086583"/>
            <a:chOff x="0" y="0"/>
            <a:chExt cx="528671" cy="85994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8671" cy="8599446"/>
            </a:xfrm>
            <a:custGeom>
              <a:avLst/>
              <a:gdLst/>
              <a:ahLst/>
              <a:cxnLst/>
              <a:rect l="l" t="t" r="r" b="b"/>
              <a:pathLst>
                <a:path w="528671" h="8599446">
                  <a:moveTo>
                    <a:pt x="0" y="0"/>
                  </a:moveTo>
                  <a:lnTo>
                    <a:pt x="528671" y="0"/>
                  </a:lnTo>
                  <a:lnTo>
                    <a:pt x="528671" y="8599446"/>
                  </a:lnTo>
                  <a:lnTo>
                    <a:pt x="0" y="8599446"/>
                  </a:ln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528671" cy="8628022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234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880906" y="7570850"/>
            <a:ext cx="3641169" cy="137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140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00AEEF"/>
                </a:solidFill>
                <a:latin typeface="Helios Bold"/>
                <a:ea typeface="Helios Bold"/>
                <a:cs typeface="Helios Bold"/>
                <a:sym typeface="Helios Bold"/>
              </a:rPr>
              <a:t>Contact: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777438" y="7590536"/>
            <a:ext cx="5972675" cy="1572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4238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  <a:hlinkClick r:id="rId2" tooltip="https://gemini.google.com/u/2/app/1da77ab928e1cacd?hl=es&amp;pageId=none"/>
              </a:rPr>
              <a:t>www.pepecorp.com</a:t>
            </a:r>
            <a:r>
              <a:rPr lang="en-US" sz="26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.mx</a:t>
            </a:r>
          </a:p>
          <a:p>
            <a:pPr marL="561341" lvl="1" indent="-280670" algn="l">
              <a:lnSpc>
                <a:spcPts val="4238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soporte@pepecorp.com.mx</a:t>
            </a:r>
          </a:p>
          <a:p>
            <a:pPr marL="561341" lvl="1" indent="-280670" algn="l">
              <a:lnSpc>
                <a:spcPts val="4238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+52 55 1234 5678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23467" y="3287268"/>
            <a:ext cx="7028262" cy="2639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just">
              <a:lnSpc>
                <a:spcPts val="4238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trike="noStrike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Espinoza Matamoros Percival Ulises</a:t>
            </a:r>
          </a:p>
          <a:p>
            <a:pPr marL="561341" lvl="1" indent="-280670" algn="just">
              <a:lnSpc>
                <a:spcPts val="4238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trike="noStrike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Flores Colín Víctor Jaziel</a:t>
            </a:r>
          </a:p>
          <a:p>
            <a:pPr marL="561341" lvl="1" indent="-280670" algn="just">
              <a:lnSpc>
                <a:spcPts val="4238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trike="noStrike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García Cortés Adolfo de Jesús</a:t>
            </a:r>
          </a:p>
          <a:p>
            <a:pPr marL="561341" lvl="1" indent="-280670" algn="just">
              <a:lnSpc>
                <a:spcPts val="4238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trike="noStrike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Lara Hernández Angel Husiel</a:t>
            </a:r>
          </a:p>
          <a:p>
            <a:pPr marL="561341" lvl="1" indent="-280670" algn="just">
              <a:lnSpc>
                <a:spcPts val="4238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trike="noStrike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Lugo Manzano Rodrigo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03273" y="1410752"/>
            <a:ext cx="14481453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7500"/>
              </a:lnSpc>
              <a:spcBef>
                <a:spcPct val="0"/>
              </a:spcBef>
            </a:pPr>
            <a:r>
              <a:rPr lang="en-US" sz="6500" b="1" u="none" strike="noStrike" spc="390" dirty="0">
                <a:solidFill>
                  <a:srgbClr val="4263EB"/>
                </a:solidFill>
                <a:latin typeface="Inter Bold"/>
                <a:ea typeface="Inter Bold"/>
                <a:cs typeface="Inter Bold"/>
                <a:sym typeface="Inter Bold"/>
              </a:rPr>
              <a:t>Thank you for your attention</a:t>
            </a:r>
          </a:p>
        </p:txBody>
      </p:sp>
      <p:sp>
        <p:nvSpPr>
          <p:cNvPr id="9" name="Freeform 9"/>
          <p:cNvSpPr/>
          <p:nvPr/>
        </p:nvSpPr>
        <p:spPr>
          <a:xfrm>
            <a:off x="2736271" y="3201054"/>
            <a:ext cx="5044899" cy="2926041"/>
          </a:xfrm>
          <a:custGeom>
            <a:avLst/>
            <a:gdLst/>
            <a:ahLst/>
            <a:cxnLst/>
            <a:rect l="l" t="t" r="r" b="b"/>
            <a:pathLst>
              <a:path w="5044899" h="2926041">
                <a:moveTo>
                  <a:pt x="0" y="0"/>
                </a:moveTo>
                <a:lnTo>
                  <a:pt x="5044899" y="0"/>
                </a:lnTo>
                <a:lnTo>
                  <a:pt x="5044899" y="2926042"/>
                </a:lnTo>
                <a:lnTo>
                  <a:pt x="0" y="29260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/>
          <p:cNvGrpSpPr/>
          <p:nvPr/>
        </p:nvGrpSpPr>
        <p:grpSpPr>
          <a:xfrm rot="5165176">
            <a:off x="13609315" y="5455642"/>
            <a:ext cx="6059941" cy="5464965"/>
            <a:chOff x="0" y="0"/>
            <a:chExt cx="8079921" cy="7286620"/>
          </a:xfrm>
        </p:grpSpPr>
        <p:sp>
          <p:nvSpPr>
            <p:cNvPr id="11" name="Freeform 11"/>
            <p:cNvSpPr/>
            <p:nvPr/>
          </p:nvSpPr>
          <p:spPr>
            <a:xfrm rot="-10800000">
              <a:off x="0" y="0"/>
              <a:ext cx="8079921" cy="7286620"/>
            </a:xfrm>
            <a:custGeom>
              <a:avLst/>
              <a:gdLst/>
              <a:ahLst/>
              <a:cxnLst/>
              <a:rect l="l" t="t" r="r" b="b"/>
              <a:pathLst>
                <a:path w="8079921" h="7286620">
                  <a:moveTo>
                    <a:pt x="0" y="0"/>
                  </a:moveTo>
                  <a:lnTo>
                    <a:pt x="8079921" y="0"/>
                  </a:lnTo>
                  <a:lnTo>
                    <a:pt x="8079921" y="7286620"/>
                  </a:lnTo>
                  <a:lnTo>
                    <a:pt x="0" y="7286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2947616" y="151554"/>
              <a:ext cx="3869661" cy="3869661"/>
            </a:xfrm>
            <a:prstGeom prst="line">
              <a:avLst/>
            </a:prstGeom>
            <a:ln w="73153" cap="flat">
              <a:solidFill>
                <a:srgbClr val="F4F5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974670" y="151554"/>
              <a:ext cx="1982026" cy="1982026"/>
            </a:xfrm>
            <a:prstGeom prst="line">
              <a:avLst/>
            </a:prstGeom>
            <a:ln w="73153" cap="flat">
              <a:solidFill>
                <a:srgbClr val="F4F5F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802</Words>
  <Application>Microsoft Office PowerPoint</Application>
  <PresentationFormat>Personalizado</PresentationFormat>
  <Paragraphs>130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3" baseType="lpstr">
      <vt:lpstr>Helios</vt:lpstr>
      <vt:lpstr>Helios Italics</vt:lpstr>
      <vt:lpstr>Arial</vt:lpstr>
      <vt:lpstr>Inter Bold</vt:lpstr>
      <vt:lpstr>JetBrains Mono Bold</vt:lpstr>
      <vt:lpstr>Calibri</vt:lpstr>
      <vt:lpstr>Open Sans</vt:lpstr>
      <vt:lpstr>Clear Sans Bold</vt:lpstr>
      <vt:lpstr>Wingdings</vt:lpstr>
      <vt:lpstr>Helios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ING_PresentacionCompilador</dc:title>
  <cp:lastModifiedBy>Angel Lara</cp:lastModifiedBy>
  <cp:revision>6</cp:revision>
  <dcterms:created xsi:type="dcterms:W3CDTF">2006-08-16T00:00:00Z</dcterms:created>
  <dcterms:modified xsi:type="dcterms:W3CDTF">2026-05-28T14:13:27Z</dcterms:modified>
  <dc:identifier>DAHK71XQjw4</dc:identifier>
</cp:coreProperties>
</file>